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KAZ Power Plant Upgrade Project | Zero Harm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20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30613"/>
                </a:solidFill>
                <a:latin typeface="Calibri"/>
              </a:defRPr>
            </a:pPr>
            <a:r>
              <a:t>CONFIDENTIAL</a:t>
            </a:r>
            <a:br/>
            <a:r>
              <a:t>سري - للإدارة العليا فقط</a:t>
            </a:r>
            <a:br/>
            <a:r>
              <a:t>Management Eyes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Calibri"/>
              </a:defRPr>
            </a:pPr>
            <a:r>
              <a:t>Subcontractor EHS Non-Compliance Report - Final Site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2F3E"/>
                </a:solidFill>
                <a:latin typeface="Calibri"/>
              </a:defRPr>
            </a:pPr>
            <a:r>
              <a:t>تقرير مخالفات السلامة النهائي للمقاول الفرعي - الملاحظات الميدانية الفعلية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Based on 9 Actual Site Observations Provided | Executive White Design with Dedicated Photo Placeholders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6858000" cy="2743200"/>
          </a:xfrm>
          <a:prstGeom prst="rect">
            <a:avLst/>
          </a:prstGeom>
          <a:solidFill>
            <a:srgbClr val="F9F9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685800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Final Observations Summary / ملخص الملاحظات النهائية الـ 9 - Each Violation Has Separate 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01. Painting, Storage Fence Installation, Cement Pouring WITHOUT PTW &amp; Induction + No knowledge in ENERGIZED zone</a:t>
            </a:r>
            <a:br/>
            <a:r>
              <a:t>    طلاء، تركيب حاجز مخزن، صب أسمنت بدون بيرمت وبدون اندكشن + عدم علم رغم منطقة انرجايز - CRITICAL</a:t>
            </a:r>
            <a:br/>
            <a:br/>
            <a:r>
              <a:t>02. Excavation Barricades - Soft Barricade Instead of Hard Barricade (Tape Only - Prohibited)</a:t>
            </a:r>
            <a:br/>
            <a:r>
              <a:t>    حواجز الحفر سوفت باركيد بدل هارد باركيد - شريط فقط ممنوع - CRITICAL</a:t>
            </a:r>
            <a:br/>
            <a:br/>
            <a:r>
              <a:t>03. Recurring PPE Violations Despite Repeated Warnings - Same Crew</a:t>
            </a:r>
            <a:br/>
            <a:r>
              <a:t>    مخالفات PPE متكررة رغم التبليغ - نفس العمالة - HIGH</a:t>
            </a:r>
            <a:br/>
            <a:br/>
            <a:r>
              <a:t>04. Historical Pattern - Bitumen, Workshop, Formwork Works Without PTW - Systemic Failure</a:t>
            </a:r>
            <a:br/>
            <a:r>
              <a:t>    أعمال سابقة نفس المخالفات - بيتومين، ورشة، فورم ورك بدون بيرمت - CRITICAL</a:t>
            </a:r>
            <a:br/>
            <a:br/>
            <a:r>
              <a:t>05. Non-Compliance with EHS Directives - Refusal to Stop Unsafe Equipment Despite Order</a:t>
            </a:r>
            <a:br/>
            <a:r>
              <a:t>    عدم اتباع أوامر السلامة - رفض إيقاف معدات غير مقبولة واستمرار العمل - CRITICAL</a:t>
            </a:r>
            <a:br/>
            <a:br/>
            <a:r>
              <a:t>06. Unsafe Condition of Workshop Equipment - Exposed Cables, Missing Guards, Damaged Slings</a:t>
            </a:r>
            <a:br/>
            <a:r>
              <a:t>    معدات الورشة غير آمنة - كوابل مكشوفة، بدون غطاء حماية، تالف - CRITICAL</a:t>
            </a:r>
            <a:br/>
            <a:br/>
            <a:r>
              <a:t>07. Poor Waste Management &amp; Lack of Segregation - No Clear System</a:t>
            </a:r>
            <a:br/>
            <a:r>
              <a:t>    عدم توضيح إدارة النفايات وفصل المواد - سوء نظافة - HIGH</a:t>
            </a:r>
            <a:br/>
            <a:br/>
            <a:r>
              <a:t>08. Deficiency in Safety Signage - Parking Garage &amp; Speed Limits Missing/Damaged</a:t>
            </a:r>
            <a:br/>
            <a:r>
              <a:t>    فقر في لوحات السلامة - باركنك كراج ولوحات سرعة محددة مفقودة/تالفة - HIGH</a:t>
            </a:r>
            <a:br/>
            <a:br/>
            <a:r>
              <a:t>09. Delayed Response from Al-Mial to Close Observations - Poor Close-Out System</a:t>
            </a:r>
            <a:br/>
            <a:r>
              <a:t>    تأخر استجابة قسم الميال لحل الملاحظات - نظام إغلاق ضعيف - 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743200"/>
            <a:ext cx="41148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2743200"/>
            <a:ext cx="4114800" cy="3200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743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Report Information &amp; Design / معلومات التقرير والتصميم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1089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12121"/>
                </a:solidFill>
                <a:latin typeface="Calibri"/>
              </a:defRPr>
            </a:pPr>
            <a:r>
              <a:t>Reference: SE-EHS-NC-2026-FINAL-9OBS-V7</a:t>
            </a:r>
            <a:br/>
            <a:r>
              <a:t>Ref: SE-EHS-NC-2026-FINAL-9OBS-V7</a:t>
            </a:r>
            <a:br/>
            <a:br/>
            <a:r>
              <a:t>Date: September 2026</a:t>
            </a:r>
            <a:br/>
            <a:r>
              <a:t>Prepared by: EHS Manager - Siemens Energy</a:t>
            </a:r>
            <a:br/>
            <a:r>
              <a:t>Project: KAZ Power Plant Upgrade</a:t>
            </a:r>
            <a:br/>
            <a:r>
              <a:t>Classification: Confidential - Top Management</a:t>
            </a:r>
            <a:br/>
            <a:br/>
            <a:r>
              <a:t>Standards:</a:t>
            </a:r>
            <a:br/>
            <a:r>
              <a:t>• ISO 45001:2018, ISO 14001:2015</a:t>
            </a:r>
            <a:br/>
            <a:r>
              <a:t>• OSHA 29 CFR 1926</a:t>
            </a:r>
            <a:br/>
            <a:r>
              <a:t>• Siemens Energy EHS Principles</a:t>
            </a:r>
            <a:br/>
            <a:r>
              <a:t>• Life Saving Rules</a:t>
            </a:r>
            <a:br/>
            <a:r>
              <a:t>• Project EHS Plan</a:t>
            </a:r>
            <a:br/>
            <a:br/>
            <a:r>
              <a:t>Design: Executive White Modern - FIXED</a:t>
            </a:r>
            <a:br/>
            <a:r>
              <a:t>• Background: Pure White #FFFFFF</a:t>
            </a:r>
            <a:br/>
            <a:r>
              <a:t>• Text: Dark #212121 / Grey #616161</a:t>
            </a:r>
            <a:br/>
            <a:r>
              <a:t>• Warning: Red #E30613 Critical / Amber #FFB900 High</a:t>
            </a:r>
            <a:br/>
            <a:r>
              <a:t>• Accent: Teal #009999 / Dark Petrol #0E2F3E</a:t>
            </a:r>
            <a:br/>
            <a:r>
              <a:t>• Siemens Energy Logo on every slide (top left)</a:t>
            </a:r>
            <a:br/>
            <a:br/>
            <a:r>
              <a:t>Each Slide Includes - FIXED as Requested:</a:t>
            </a:r>
            <a:br/>
            <a:r>
              <a:t>✓ Separate slide for each violation (9 slides)</a:t>
            </a:r>
            <a:br/>
            <a:r>
              <a:t>✓ Dedicated LARGE photo placeholder</a:t>
            </a:r>
            <a:br/>
            <a:r>
              <a:t>✓ [أدخل صورة المخالفة هنا] / [Insert Violation Photo Here] - Very Clear</a:t>
            </a:r>
            <a:br/>
            <a:r>
              <a:t>✓ 3 photo boxes per slide: Main + Additional + After Correction</a:t>
            </a:r>
            <a:br/>
            <a:r>
              <a:t>✓ Technical Description, Risk Assessment, Corrective Action</a:t>
            </a:r>
            <a:br/>
            <a:r>
              <a:t>✓ Siemens Energy Logo on every slide</a:t>
            </a:r>
            <a:br/>
            <a:br/>
            <a:r>
              <a:t>Based on YOUR 9 actual observations - Final Version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11274552" cy="914400"/>
          </a:xfrm>
          <a:prstGeom prst="rect">
            <a:avLst/>
          </a:prstGeom>
          <a:solidFill>
            <a:srgbClr val="FFEBEB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0613"/>
                </a:solidFill>
                <a:latin typeface="Calibri"/>
              </a:defRPr>
            </a:pPr>
            <a:r>
              <a:t>Executive Statement / ملاحظة تنفيذية - FIXED DESIGN: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12121"/>
                </a:solidFill>
                <a:latin typeface="Calibri"/>
              </a:defRPr>
            </a:pPr>
            <a:r>
              <a:t>This FINAL report documents 9 ACTUAL site observations provided by EHS team - each violation has SEPARATE slide with DEDICATED LARGE photo placeholder [Insert Violation Photo Here] / [أدخل صورة المخالفة هنا] - Siemens Energy logo on every slide - Executive white modern design with Red/Yellow warning highlights - Ready for top management review and decision - Each slide includes Technical Description, Risk Assessment, Corrective Action, and 3 photo boxes.</a:t>
            </a:r>
            <a:br/>
            <a:r>
              <a:t>هذا التقرير النهائي يوثق 9 ملاحظات فعلية - كل مخالفة لها شريحة منفصلة مع مكان صور كبير وواضح [أدخل صورة المخالفة هنا] - شعار سيمنز في كل شريحة - تصميم تنفيذي أبيض عصري - جاهز لمراجعة الإدارة العليا.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889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2F3E"/>
                </a:solidFill>
                <a:latin typeface="Arial"/>
              </a:defRPr>
            </a:pPr>
            <a:r>
              <a:t>SIEMENS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  <a:latin typeface="Calibri"/>
              </a:defRPr>
            </a:pPr>
            <a:r>
              <a:t>Final Recommendations &amp; Corrective Action Plan - Based on 9 Actual 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749039" cy="3657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🔴 IMMEDIATE (0-24h) / فوري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• STOP WORK: Painting, Storage Fence, Cement, Excavation without hard barricade, Unsafe workshop equipment</a:t>
            </a:r>
            <a:br/>
            <a:r>
              <a:t>• Secure ENERGIZED zone - hard barricade + LOTO + fire watch</a:t>
            </a:r>
            <a:br/>
            <a:r>
              <a:t>• Remove non-inducted personnel - 100% gate - manpower list vs induction in 6h</a:t>
            </a:r>
            <a:br/>
            <a:r>
              <a:t>• Ground leaking/unsafe equipment - Tag DO NOT USE</a:t>
            </a:r>
            <a:br/>
            <a:r>
              <a:t>• Issue NCR Level 2 + contractual warning - cumulative for pattern</a:t>
            </a:r>
            <a:br/>
            <a:r>
              <a:t>• Emergency meeting - Al-Mial MD + PM within 12h - written explanation for refusal</a:t>
            </a:r>
            <a:br/>
            <a:br/>
            <a:r>
              <a:t>[Photo Placeholder: Secured energized zone after stop work]</a:t>
            </a:r>
            <a:br/>
            <a:r>
              <a:t>[مكان صورة: منطقة مؤمنة بعد إيقاف العمل]</a:t>
            </a:r>
            <a:br/>
            <a:br/>
            <a:r>
              <a:t>DECISION: Approve Stop-Work Authority to EHS</a:t>
            </a:r>
            <a:br/>
            <a:r>
              <a:t>Root Cause: Why work started without knowledge of own supervision?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005840"/>
            <a:ext cx="3749039" cy="3657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Calibri"/>
              </a:defRPr>
            </a:pPr>
            <a:r>
              <a:t>🟡 SHORT-TERM (1-7 Days) / قصير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7160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3716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• PTW Audit: Review ALL historical - bitumen, workshop, formwork, painting, storage, cement - submit in 48h</a:t>
            </a:r>
            <a:br/>
            <a:r>
              <a:t>• Re-Training: PTW + Energized Zone + Excavation + PPE + Waste - all Al-Mial supervision - 80% pass</a:t>
            </a:r>
            <a:br/>
            <a:r>
              <a:t>• Hard Barricades: Replace ALL soft tape with hard barricades - within 12h - Before/After photos</a:t>
            </a:r>
            <a:br/>
            <a:r>
              <a:t>• Workshop Equipment: Inventory + maintenance history + 3rd party certs in 48h - replace damaged</a:t>
            </a:r>
            <a:br/>
            <a:r>
              <a:t>• Waste: Color-coded skips + labeling + focal point + training</a:t>
            </a:r>
            <a:br/>
            <a:r>
              <a:t>• Signage: Parking + speed limit 15 km/h - retro-reflective + flagmen + radar + speed humps</a:t>
            </a:r>
            <a:br/>
            <a:r>
              <a:t>• PPE Campaign + BBS + Daily management walks</a:t>
            </a:r>
            <a:br/>
            <a:br/>
            <a:r>
              <a:t>[Photo Placeholder: Compliant hard barricade + signage + waste segregation]</a:t>
            </a:r>
            <a:br/>
            <a:r>
              <a:t>[مكان صورة: حالة مطابقة بعد التصحيح]</a:t>
            </a:r>
            <a:br/>
            <a:br/>
            <a:r>
              <a:t>DECISION: Approve $20k cost - back-charge to Al-Mial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005840"/>
            <a:ext cx="3749039" cy="3657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🟢 STRATEGIC (7-30 Days) / استراتيجي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28016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• Penalty Matrix: Linked to KPIs - TRIR, NCR closure, PTW compliance, observation close-out - deduction from invoice</a:t>
            </a:r>
            <a:br/>
            <a:r>
              <a:t>• Leadership Accountability: Replace non-performing supervisors who refused EHS order - CV + competency interview by SE</a:t>
            </a:r>
            <a:br/>
            <a:r>
              <a:t>• System Upgrade: Digital PTW with QR + Biometric induction + equipment checklist app + observation tracker</a:t>
            </a:r>
            <a:br/>
            <a:r>
              <a:t>• KPI &amp; Scorecard: Weekly dashboard Red/Amber/Green to Top Management - include delayed response metric for Al-Mial</a:t>
            </a:r>
            <a:br/>
            <a:r>
              <a:t>• Independent Audit: 3rd party EHS audit of Al-Mial system - ISO 45001/14001 gap analysis</a:t>
            </a:r>
            <a:br/>
            <a:r>
              <a:t>• Zero Harm Commitment: Re-sign Life Saving Rules - Townhall with Top Management - visible commitment</a:t>
            </a:r>
            <a:br/>
            <a:r>
              <a:t>• Contingency: Prepare demobilization / replacement plan if no sustained improvement</a:t>
            </a:r>
            <a:br/>
            <a:br/>
            <a:r>
              <a:t>[Photo Placeholder: Dashboard / Training / Digital PTW]</a:t>
            </a:r>
            <a:br/>
            <a:r>
              <a:t>[مكان صورة: لوحة مؤشرات / تدريب]</a:t>
            </a:r>
            <a:br/>
            <a:br/>
            <a:r>
              <a:t>DECISION: Authorize partial termination if critical violations recur + observation delay continues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F9F9FA"/>
          </a:solidFill>
          <a:ln w="25400">
            <a:solidFill>
              <a:srgbClr val="0E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029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2F3E"/>
                </a:solidFill>
                <a:latin typeface="Calibri"/>
              </a:defRPr>
            </a:pPr>
            <a:r>
              <a:t>✅ MANAGEMENT DECISION MATRIX - REQUIRED TODAY / مصفوفة القرارات - مطلوب اليوم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492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Calibri"/>
              </a:defRPr>
            </a:pPr>
            <a:r>
              <a:t>1. Approve Stop-Work Authority for Energized Zone + Unsafe Equipment [ ] Yes [ ] No | إيقاف العمل في منطقة انرجايز والمعدات غير الآمنة</a:t>
            </a:r>
            <a:br/>
            <a:r>
              <a:t>2. Authorize Warning + Penalty for Refusal to Follow EHS Order [ ] Yes [ ] No | تحذير وغرامة لرفض أوامر السلامة</a:t>
            </a:r>
            <a:br/>
            <a:r>
              <a:t>3. Mandate Al-Mial Top Management On-Site within 12h with Written Explanation [ ] Yes [ ] No | حضور إدارة الميال خلال 12 ساعة مع توضيح كتابي</a:t>
            </a:r>
            <a:br/>
            <a:r>
              <a:t>4. Approve Budget $20k for Hard Barricades, Signage, Waste Skips - Back-charge [ ] Yes [ ] No | ميزانية حواجز ولوحات وحاويات - تحميل على المقاول</a:t>
            </a:r>
            <a:br/>
            <a:r>
              <a:t>5. Endorse Zero Tolerance 3 Strikes + Observation Close-Out KPI (Critical 24h) [ ] Yes [ ] No | عدم تسامح 3 مخالفات + مؤشر إغلاق الملاحظات</a:t>
            </a:r>
            <a:br/>
            <a:br/>
            <a:r>
              <a:t>Signature: _________________ Project Director Date: _______ | Signature: _________________ Construction Manager Date: _______ | Signature: _________________ EHS Manager Date: 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