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11274552" cy="73152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2743200" cy="274320"/>
          </a:xfrm>
          <a:prstGeom prst="rect">
            <a:avLst/>
          </a:prstGeom>
          <a:noFill/>
        </p:spPr>
        <p:txBody>
          <a:bodyPr wrap="square">
            <a:spAutoFit/>
          </a:bodyPr>
          <a:lstStyle/>
          <a:p>
            <a:pPr algn="l">
              <a:defRPr sz="1400" b="1">
                <a:solidFill>
                  <a:srgbClr val="0E2F3E"/>
                </a:solidFill>
                <a:latin typeface="Calibri"/>
              </a:defRPr>
            </a:pPr>
            <a:r>
              <a:t>SIEMENS ENERGY</a:t>
            </a:r>
          </a:p>
        </p:txBody>
      </p:sp>
      <p:sp>
        <p:nvSpPr>
          <p:cNvPr id="5" name="TextBox 4"/>
          <p:cNvSpPr txBox="1"/>
          <p:nvPr/>
        </p:nvSpPr>
        <p:spPr>
          <a:xfrm>
            <a:off x="548640" y="594360"/>
            <a:ext cx="4572000" cy="274320"/>
          </a:xfrm>
          <a:prstGeom prst="rect">
            <a:avLst/>
          </a:prstGeom>
          <a:noFill/>
        </p:spPr>
        <p:txBody>
          <a:bodyPr wrap="square">
            <a:spAutoFit/>
          </a:bodyPr>
          <a:lstStyle/>
          <a:p>
            <a:pPr algn="l">
              <a:defRPr sz="900" b="0">
                <a:solidFill>
                  <a:srgbClr val="616161"/>
                </a:solidFill>
                <a:latin typeface="Calibri"/>
              </a:defRPr>
            </a:pPr>
            <a:r>
              <a:t>KAZ Power Plant Upgrade Project | Zero Harm Culture</a:t>
            </a:r>
          </a:p>
        </p:txBody>
      </p:sp>
      <p:sp>
        <p:nvSpPr>
          <p:cNvPr id="6" name="TextBox 5"/>
          <p:cNvSpPr txBox="1"/>
          <p:nvPr/>
        </p:nvSpPr>
        <p:spPr>
          <a:xfrm>
            <a:off x="9144000" y="320040"/>
            <a:ext cx="2560320" cy="548640"/>
          </a:xfrm>
          <a:prstGeom prst="rect">
            <a:avLst/>
          </a:prstGeom>
          <a:noFill/>
        </p:spPr>
        <p:txBody>
          <a:bodyPr wrap="square">
            <a:spAutoFit/>
          </a:bodyPr>
          <a:lstStyle/>
          <a:p>
            <a:pPr algn="r">
              <a:defRPr sz="1000" b="1">
                <a:solidFill>
                  <a:srgbClr val="E30613"/>
                </a:solidFill>
                <a:latin typeface="Calibri"/>
              </a:defRPr>
            </a:pPr>
            <a:r>
              <a:t>CONFIDENTIAL</a:t>
            </a:r>
            <a:br/>
            <a:r>
              <a:t>Management Eyes Only</a:t>
            </a:r>
          </a:p>
        </p:txBody>
      </p:sp>
      <p:sp>
        <p:nvSpPr>
          <p:cNvPr id="7" name="Rectangle 6"/>
          <p:cNvSpPr/>
          <p:nvPr/>
        </p:nvSpPr>
        <p:spPr>
          <a:xfrm>
            <a:off x="457200" y="1280160"/>
            <a:ext cx="73152" cy="91440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515600" cy="548640"/>
          </a:xfrm>
          <a:prstGeom prst="rect">
            <a:avLst/>
          </a:prstGeom>
          <a:noFill/>
        </p:spPr>
        <p:txBody>
          <a:bodyPr wrap="square">
            <a:spAutoFit/>
          </a:bodyPr>
          <a:lstStyle/>
          <a:p>
            <a:pPr algn="l">
              <a:defRPr sz="2200" b="1">
                <a:solidFill>
                  <a:srgbClr val="212121"/>
                </a:solidFill>
                <a:latin typeface="Calibri"/>
              </a:defRPr>
            </a:pPr>
            <a:r>
              <a:t>Subcontractor EHS Non-Compliance Report - Final Observations</a:t>
            </a:r>
          </a:p>
        </p:txBody>
      </p:sp>
      <p:sp>
        <p:nvSpPr>
          <p:cNvPr id="9" name="TextBox 8"/>
          <p:cNvSpPr txBox="1"/>
          <p:nvPr/>
        </p:nvSpPr>
        <p:spPr>
          <a:xfrm>
            <a:off x="731520" y="1737360"/>
            <a:ext cx="10515600" cy="365760"/>
          </a:xfrm>
          <a:prstGeom prst="rect">
            <a:avLst/>
          </a:prstGeom>
          <a:noFill/>
        </p:spPr>
        <p:txBody>
          <a:bodyPr wrap="square">
            <a:spAutoFit/>
          </a:bodyPr>
          <a:lstStyle/>
          <a:p>
            <a:pPr algn="l">
              <a:defRPr sz="1400" b="1">
                <a:solidFill>
                  <a:srgbClr val="0E2F3E"/>
                </a:solidFill>
                <a:latin typeface="Calibri"/>
              </a:defRPr>
            </a:pPr>
            <a:r>
              <a:t>تقرير مخالفات السلامة النهائي للمقاول الفرعي - الملاحظات الميدانية الفعلية</a:t>
            </a:r>
          </a:p>
        </p:txBody>
      </p:sp>
      <p:sp>
        <p:nvSpPr>
          <p:cNvPr id="10" name="TextBox 9"/>
          <p:cNvSpPr txBox="1"/>
          <p:nvPr/>
        </p:nvSpPr>
        <p:spPr>
          <a:xfrm>
            <a:off x="731520" y="2194560"/>
            <a:ext cx="10515600" cy="274320"/>
          </a:xfrm>
          <a:prstGeom prst="rect">
            <a:avLst/>
          </a:prstGeom>
          <a:noFill/>
        </p:spPr>
        <p:txBody>
          <a:bodyPr wrap="square">
            <a:spAutoFit/>
          </a:bodyPr>
          <a:lstStyle/>
          <a:p>
            <a:pPr algn="l">
              <a:defRPr sz="1000" b="0">
                <a:solidFill>
                  <a:srgbClr val="616161"/>
                </a:solidFill>
                <a:latin typeface="Calibri"/>
              </a:defRPr>
            </a:pPr>
            <a:r>
              <a:t>Based on Actual Site Observations Provided | بناءً على الملاحظات الميدانية المقدمة من الموقع</a:t>
            </a:r>
          </a:p>
        </p:txBody>
      </p:sp>
      <p:sp>
        <p:nvSpPr>
          <p:cNvPr id="11" name="Rectangle 10"/>
          <p:cNvSpPr/>
          <p:nvPr/>
        </p:nvSpPr>
        <p:spPr>
          <a:xfrm>
            <a:off x="457200" y="2651760"/>
            <a:ext cx="6858000" cy="2377440"/>
          </a:xfrm>
          <a:prstGeom prst="rect">
            <a:avLst/>
          </a:prstGeom>
          <a:solidFill>
            <a:srgbClr val="F9F9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51760"/>
            <a:ext cx="6675120" cy="274320"/>
          </a:xfrm>
          <a:prstGeom prst="rect">
            <a:avLst/>
          </a:prstGeom>
          <a:noFill/>
        </p:spPr>
        <p:txBody>
          <a:bodyPr wrap="square">
            <a:spAutoFit/>
          </a:bodyPr>
          <a:lstStyle/>
          <a:p>
            <a:pPr algn="l">
              <a:defRPr sz="1100" b="1">
                <a:solidFill>
                  <a:srgbClr val="0E2F3E"/>
                </a:solidFill>
                <a:latin typeface="Calibri"/>
              </a:defRPr>
            </a:pPr>
            <a:r>
              <a:t>Final Observations Summary / ملخص الملاحظات النهائية</a:t>
            </a:r>
          </a:p>
        </p:txBody>
      </p:sp>
      <p:sp>
        <p:nvSpPr>
          <p:cNvPr id="13" name="TextBox 12"/>
          <p:cNvSpPr txBox="1"/>
          <p:nvPr/>
        </p:nvSpPr>
        <p:spPr>
          <a:xfrm>
            <a:off x="548640" y="2926080"/>
            <a:ext cx="6675120" cy="2011680"/>
          </a:xfrm>
          <a:prstGeom prst="rect">
            <a:avLst/>
          </a:prstGeom>
          <a:noFill/>
        </p:spPr>
        <p:txBody>
          <a:bodyPr wrap="square">
            <a:spAutoFit/>
          </a:bodyPr>
          <a:lstStyle/>
          <a:p>
            <a:pPr algn="l">
              <a:defRPr sz="850" b="0">
                <a:solidFill>
                  <a:srgbClr val="212121"/>
                </a:solidFill>
                <a:latin typeface="Calibri"/>
              </a:defRPr>
            </a:pPr>
            <a:r>
              <a:t>1. Painting, Storage Fence Installation, Cement Pouring WITHOUT PTW &amp; Induction + No knowledge of activities in ENERGIZED zone</a:t>
            </a:r>
            <a:br/>
            <a:r>
              <a:t>   طلاء، تركيب حاجز مخزن، صب أسمنت بدون بيرمت وبدون اندكشن + عدم علم بالقسم رغم منطقة انرجايز</a:t>
            </a:r>
            <a:br/>
            <a:br/>
            <a:r>
              <a:t>2. Excavation Barricades - Soft Barricade Instead of Hard Barricade</a:t>
            </a:r>
            <a:br/>
            <a:r>
              <a:t>   حواجز الحفر سوفت باركيد بدل هارد باركيد</a:t>
            </a:r>
            <a:br/>
            <a:br/>
            <a:r>
              <a:t>3. Recurring PPE Violations Despite Warnings</a:t>
            </a:r>
            <a:br/>
            <a:r>
              <a:t>   مخالفات PPE متكررة رغم التبليغ</a:t>
            </a:r>
            <a:br/>
            <a:br/>
            <a:r>
              <a:t>4. Historical Violations - Bitumen, Workshop, Formwork Without PTW</a:t>
            </a:r>
            <a:br/>
            <a:r>
              <a:t>   أعمال سابقة نفس المخالفات - بيتومين، ورشة، فورم ورك بدون بيرمت</a:t>
            </a:r>
            <a:br/>
            <a:br/>
            <a:r>
              <a:t>5. Non-Compliance with EHS Directives - Refusal to Stop Unsafe Equipment</a:t>
            </a:r>
            <a:br/>
            <a:r>
              <a:t>   عدم اتباع أوامر السلامة - رفض إيقاف معدات غير مقبولة واستمرار العمل</a:t>
            </a:r>
            <a:br/>
            <a:br/>
            <a:r>
              <a:t>6. Unsafe Condition of Workshop Equipment</a:t>
            </a:r>
            <a:br/>
            <a:r>
              <a:t>   معدات الورشة غير آمنة - Unsafe Condition</a:t>
            </a:r>
            <a:br/>
            <a:br/>
            <a:r>
              <a:t>7. Poor Waste Management &amp; Lack of Segregation</a:t>
            </a:r>
            <a:br/>
            <a:r>
              <a:t>   عدم توضيح إدارة النفايات وفصل المواد</a:t>
            </a:r>
            <a:br/>
            <a:br/>
            <a:r>
              <a:t>8. Deficiency in Safety Signage - Parking Garage &amp; Speed Limits</a:t>
            </a:r>
            <a:br/>
            <a:r>
              <a:t>   فقر في لوحات السلامة - باركنك وسرعة محددة</a:t>
            </a:r>
            <a:br/>
            <a:br/>
            <a:r>
              <a:t>9. Delayed Response from Al-Mial to Close Observations</a:t>
            </a:r>
            <a:br/>
            <a:r>
              <a:t>   تأخر استجابة قسم الميال لحل الملاحظات</a:t>
            </a:r>
          </a:p>
        </p:txBody>
      </p:sp>
      <p:sp>
        <p:nvSpPr>
          <p:cNvPr id="14" name="Rectangle 13"/>
          <p:cNvSpPr/>
          <p:nvPr/>
        </p:nvSpPr>
        <p:spPr>
          <a:xfrm>
            <a:off x="7589520" y="2651760"/>
            <a:ext cx="4114800" cy="2377440"/>
          </a:xfrm>
          <a:prstGeom prst="rect">
            <a:avLst/>
          </a:prstGeom>
          <a:solidFill>
            <a:srgbClr val="FFFFFF"/>
          </a:solidFill>
          <a:ln w="1905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2651760"/>
            <a:ext cx="3931920" cy="274320"/>
          </a:xfrm>
          <a:prstGeom prst="rect">
            <a:avLst/>
          </a:prstGeom>
          <a:noFill/>
        </p:spPr>
        <p:txBody>
          <a:bodyPr wrap="square">
            <a:spAutoFit/>
          </a:bodyPr>
          <a:lstStyle/>
          <a:p>
            <a:pPr algn="l">
              <a:defRPr sz="1100" b="1">
                <a:solidFill>
                  <a:srgbClr val="0E2F3E"/>
                </a:solidFill>
                <a:latin typeface="Calibri"/>
              </a:defRPr>
            </a:pPr>
            <a:r>
              <a:t>Report Info / معلومات التقرير</a:t>
            </a:r>
          </a:p>
        </p:txBody>
      </p:sp>
      <p:sp>
        <p:nvSpPr>
          <p:cNvPr id="16" name="TextBox 15"/>
          <p:cNvSpPr txBox="1"/>
          <p:nvPr/>
        </p:nvSpPr>
        <p:spPr>
          <a:xfrm>
            <a:off x="7680960" y="2926080"/>
            <a:ext cx="3931920" cy="2011680"/>
          </a:xfrm>
          <a:prstGeom prst="rect">
            <a:avLst/>
          </a:prstGeom>
          <a:noFill/>
        </p:spPr>
        <p:txBody>
          <a:bodyPr wrap="square">
            <a:spAutoFit/>
          </a:bodyPr>
          <a:lstStyle/>
          <a:p>
            <a:pPr algn="l">
              <a:defRPr sz="780" b="0">
                <a:solidFill>
                  <a:srgbClr val="212121"/>
                </a:solidFill>
                <a:latin typeface="Calibri"/>
              </a:defRPr>
            </a:pPr>
            <a:r>
              <a:t>Ref: SE-EHS-NC-2026-FINAL-OBS</a:t>
            </a:r>
            <a:br/>
            <a:r>
              <a:t>Date: September 2026</a:t>
            </a:r>
            <a:br/>
            <a:r>
              <a:t>Prepared by: EHS Manager - Siemens Energy</a:t>
            </a:r>
            <a:br/>
            <a:r>
              <a:t>Project: KAZ Power Plant Upgrade</a:t>
            </a:r>
            <a:br/>
            <a:br/>
            <a:r>
              <a:t>Classification: Confidential - Top Management</a:t>
            </a:r>
            <a:br/>
            <a:r>
              <a:t>التصنيف: سري - للإدارة العليا</a:t>
            </a:r>
            <a:br/>
            <a:br/>
            <a:r>
              <a:t>Standards:</a:t>
            </a:r>
            <a:br/>
            <a:r>
              <a:t>• ISO 45001:2018, ISO 14001:2015</a:t>
            </a:r>
            <a:br/>
            <a:r>
              <a:t>• OSHA 29 CFR 1926</a:t>
            </a:r>
            <a:br/>
            <a:r>
              <a:t>• Siemens Energy EHS Principles</a:t>
            </a:r>
            <a:br/>
            <a:r>
              <a:t>• Life Saving Rules</a:t>
            </a:r>
            <a:br/>
            <a:r>
              <a:t>• Project EHS Plan</a:t>
            </a:r>
            <a:br/>
            <a:br/>
            <a:r>
              <a:t>Design: Executive White Modern</a:t>
            </a:r>
            <a:br/>
            <a:r>
              <a:t>• White #FFFFFF background</a:t>
            </a:r>
            <a:br/>
            <a:r>
              <a:t>• Red #E30613 Critical</a:t>
            </a:r>
            <a:br/>
            <a:r>
              <a:t>• Amber #FFB900 High</a:t>
            </a:r>
            <a:br/>
            <a:r>
              <a:t>• Teal #009999 accent</a:t>
            </a:r>
            <a:br/>
            <a:br/>
            <a:r>
              <a:t>Each Slide Includes:</a:t>
            </a:r>
            <a:br/>
            <a:r>
              <a:t>• Technical Description (5 points)</a:t>
            </a:r>
            <a:br/>
            <a:r>
              <a:t>• Risk Assessment</a:t>
            </a:r>
            <a:br/>
            <a:r>
              <a:t>• Corrective Action (5 points)</a:t>
            </a:r>
            <a:br/>
            <a:r>
              <a:t>• Photo placeholders [Insert Photo Here]</a:t>
            </a:r>
            <a:br/>
            <a:br/>
            <a:r>
              <a:t>Based on YOUR 9 actual observations provided in Arabic.</a:t>
            </a:r>
          </a:p>
        </p:txBody>
      </p:sp>
      <p:sp>
        <p:nvSpPr>
          <p:cNvPr id="17" name="Rectangle 16"/>
          <p:cNvSpPr/>
          <p:nvPr/>
        </p:nvSpPr>
        <p:spPr>
          <a:xfrm>
            <a:off x="457200" y="5212080"/>
            <a:ext cx="11274552" cy="1097280"/>
          </a:xfrm>
          <a:prstGeom prst="rect">
            <a:avLst/>
          </a:prstGeom>
          <a:solidFill>
            <a:srgbClr val="FFEBEB"/>
          </a:solidFill>
          <a:ln w="190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212080"/>
            <a:ext cx="11064240" cy="182880"/>
          </a:xfrm>
          <a:prstGeom prst="rect">
            <a:avLst/>
          </a:prstGeom>
          <a:noFill/>
        </p:spPr>
        <p:txBody>
          <a:bodyPr wrap="square">
            <a:spAutoFit/>
          </a:bodyPr>
          <a:lstStyle/>
          <a:p>
            <a:pPr algn="l">
              <a:defRPr sz="1000" b="1">
                <a:solidFill>
                  <a:srgbClr val="E30613"/>
                </a:solidFill>
                <a:latin typeface="Calibri"/>
              </a:defRPr>
            </a:pPr>
            <a:r>
              <a:t>Executive Statement / ملاحظة تنفيذية:</a:t>
            </a:r>
          </a:p>
        </p:txBody>
      </p:sp>
      <p:sp>
        <p:nvSpPr>
          <p:cNvPr id="19" name="TextBox 18"/>
          <p:cNvSpPr txBox="1"/>
          <p:nvPr/>
        </p:nvSpPr>
        <p:spPr>
          <a:xfrm>
            <a:off x="548640" y="5440680"/>
            <a:ext cx="11064240" cy="822960"/>
          </a:xfrm>
          <a:prstGeom prst="rect">
            <a:avLst/>
          </a:prstGeom>
          <a:noFill/>
        </p:spPr>
        <p:txBody>
          <a:bodyPr wrap="square">
            <a:spAutoFit/>
          </a:bodyPr>
          <a:lstStyle/>
          <a:p>
            <a:pPr algn="l">
              <a:defRPr sz="850" b="0">
                <a:solidFill>
                  <a:srgbClr val="212121"/>
                </a:solidFill>
                <a:latin typeface="Calibri"/>
              </a:defRPr>
            </a:pPr>
            <a:r>
              <a:t>This report documents 9 ACTUAL site observations provided by EHS team - including painting, storage fence, cement pouring without PTW/induction in energized zone, soft barricades instead of hard, recurring PPE violations, historical bitumen/workshop/formwork without PTW, refusal to stop unsafe equipment, unsafe workshop equipment, poor waste management, missing parking/speed signage, and delayed close-out from Al-Mial. Findings indicate total breakdown of subcontractor work management and EHS system in energized zone - immediate management intervention required to prevent fatality.</a:t>
            </a:r>
            <a:br/>
            <a:r>
              <a:t>هذا التقرير يوثق 9 ملاحظات فعلية من الموقع تشمل طلاء وتركيب حاجز مخزن وصب أسمنت بدون بيرمت واندكشن في منطقة انرجايز، حواجز حفر سوفت بدل هارد، مخالفات PPE متكررة، أعمال بيتومين وورشة وفورم ورك بدون بيرمت، رفض إيقاف معدات غير آمنة، معدات ورشة غير آمنة، سوء إدارة نفايات، فقر لوحات باركنك وسرعة، وتأخر استجابة الميال - انهيار كامل لنظام إدارة العمل والسلامة.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12188952" cy="64008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972800" cy="548640"/>
          </a:xfrm>
          <a:prstGeom prst="rect">
            <a:avLst/>
          </a:prstGeom>
          <a:noFill/>
        </p:spPr>
        <p:txBody>
          <a:bodyPr wrap="square">
            <a:spAutoFit/>
          </a:bodyPr>
          <a:lstStyle/>
          <a:p>
            <a:pPr algn="l">
              <a:defRPr sz="1600" b="1">
                <a:solidFill>
                  <a:srgbClr val="212121"/>
                </a:solidFill>
                <a:latin typeface="Calibri"/>
              </a:defRPr>
            </a:pPr>
            <a:r>
              <a:t>Final Recommendations &amp; Corrective Action Plan - Based on 9 Actual Observations</a:t>
            </a:r>
          </a:p>
        </p:txBody>
      </p:sp>
      <p:sp>
        <p:nvSpPr>
          <p:cNvPr id="5" name="Rectangle 4"/>
          <p:cNvSpPr/>
          <p:nvPr/>
        </p:nvSpPr>
        <p:spPr>
          <a:xfrm>
            <a:off x="274320" y="914400"/>
            <a:ext cx="3749039" cy="36576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914400"/>
            <a:ext cx="3749039" cy="365760"/>
          </a:xfrm>
          <a:prstGeom prst="rect">
            <a:avLst/>
          </a:prstGeom>
          <a:noFill/>
        </p:spPr>
        <p:txBody>
          <a:bodyPr wrap="square">
            <a:spAutoFit/>
          </a:bodyPr>
          <a:lstStyle/>
          <a:p>
            <a:pPr algn="ctr">
              <a:defRPr sz="1100" b="1">
                <a:solidFill>
                  <a:srgbClr val="FFFFFF"/>
                </a:solidFill>
                <a:latin typeface="Calibri"/>
              </a:defRPr>
            </a:pPr>
            <a:r>
              <a:t>🔴 IMMEDIATE (0-24h) / فوري</a:t>
            </a:r>
          </a:p>
        </p:txBody>
      </p:sp>
      <p:sp>
        <p:nvSpPr>
          <p:cNvPr id="7" name="Rectangle 6"/>
          <p:cNvSpPr/>
          <p:nvPr/>
        </p:nvSpPr>
        <p:spPr>
          <a:xfrm>
            <a:off x="274320" y="1280160"/>
            <a:ext cx="3749039" cy="347472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80160"/>
            <a:ext cx="3566160" cy="3474720"/>
          </a:xfrm>
          <a:prstGeom prst="rect">
            <a:avLst/>
          </a:prstGeom>
          <a:noFill/>
        </p:spPr>
        <p:txBody>
          <a:bodyPr wrap="square">
            <a:spAutoFit/>
          </a:bodyPr>
          <a:lstStyle/>
          <a:p>
            <a:pPr algn="l">
              <a:defRPr sz="800" b="0">
                <a:solidFill>
                  <a:srgbClr val="212121"/>
                </a:solidFill>
                <a:latin typeface="Calibri"/>
              </a:defRPr>
            </a:pPr>
            <a:r>
              <a:t>• STOP WORK: Painting, Storage Fence, Cement Pouring, Excavation without hard barricade, Unsafe workshop equipment</a:t>
            </a:r>
            <a:br/>
            <a:r>
              <a:t>• Secure ENERGIZED zone - hard barricade + LOTO verification + fire watch</a:t>
            </a:r>
            <a:br/>
            <a:r>
              <a:t>• Remove non-inducted personnel - 100% gate check - manpower list vs induction in 6h</a:t>
            </a:r>
            <a:br/>
            <a:r>
              <a:t>• Ground leaking/unsafe equipment - Tag DO NOT USE</a:t>
            </a:r>
            <a:br/>
            <a:r>
              <a:t>• Issue NCR Level 2 + contractual warning - cumulative for pattern</a:t>
            </a:r>
            <a:br/>
            <a:r>
              <a:t>• Emergency meeting - Al-Mial MD + PM within 12h - written explanation for refusal</a:t>
            </a:r>
            <a:br/>
            <a:br/>
            <a:r>
              <a:t>[Photo: Secured energized zone after stop work]</a:t>
            </a:r>
            <a:br/>
            <a:br/>
            <a:r>
              <a:t>DECISION: Approve Stop-Work Authority to EHS</a:t>
            </a:r>
            <a:br/>
            <a:r>
              <a:t>Root Cause: Why work started without knowledge of own supervision?</a:t>
            </a:r>
          </a:p>
        </p:txBody>
      </p:sp>
      <p:sp>
        <p:nvSpPr>
          <p:cNvPr id="9" name="Rectangle 8"/>
          <p:cNvSpPr/>
          <p:nvPr/>
        </p:nvSpPr>
        <p:spPr>
          <a:xfrm>
            <a:off x="4206240" y="914400"/>
            <a:ext cx="3749039" cy="36576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914400"/>
            <a:ext cx="3749039" cy="365760"/>
          </a:xfrm>
          <a:prstGeom prst="rect">
            <a:avLst/>
          </a:prstGeom>
          <a:noFill/>
        </p:spPr>
        <p:txBody>
          <a:bodyPr wrap="square">
            <a:spAutoFit/>
          </a:bodyPr>
          <a:lstStyle/>
          <a:p>
            <a:pPr algn="ctr">
              <a:defRPr sz="1100" b="1">
                <a:solidFill>
                  <a:srgbClr val="000000"/>
                </a:solidFill>
                <a:latin typeface="Calibri"/>
              </a:defRPr>
            </a:pPr>
            <a:r>
              <a:t>🟡 SHORT-TERM (1-7 Days) / قصير</a:t>
            </a:r>
          </a:p>
        </p:txBody>
      </p:sp>
      <p:sp>
        <p:nvSpPr>
          <p:cNvPr id="11" name="Rectangle 10"/>
          <p:cNvSpPr/>
          <p:nvPr/>
        </p:nvSpPr>
        <p:spPr>
          <a:xfrm>
            <a:off x="4206240" y="1280160"/>
            <a:ext cx="3749039" cy="347472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280160"/>
            <a:ext cx="3566160" cy="3474720"/>
          </a:xfrm>
          <a:prstGeom prst="rect">
            <a:avLst/>
          </a:prstGeom>
          <a:noFill/>
        </p:spPr>
        <p:txBody>
          <a:bodyPr wrap="square">
            <a:spAutoFit/>
          </a:bodyPr>
          <a:lstStyle/>
          <a:p>
            <a:pPr algn="l">
              <a:defRPr sz="800" b="0">
                <a:solidFill>
                  <a:srgbClr val="212121"/>
                </a:solidFill>
                <a:latin typeface="Calibri"/>
              </a:defRPr>
            </a:pPr>
            <a:r>
              <a:t>• PTW Audit: Review ALL historical - bitumen, workshop, formwork, painting, storage, cement - submit in 48h</a:t>
            </a:r>
            <a:br/>
            <a:r>
              <a:t>• Re-Training: PTW + Energized Zone + Excavation + PPE + Waste - all Al-Mial supervision - 80% pass</a:t>
            </a:r>
            <a:br/>
            <a:r>
              <a:t>• Hard Barricades: Replace ALL soft tape with hard barricades - within 12h - Before/After photos</a:t>
            </a:r>
            <a:br/>
            <a:r>
              <a:t>• Workshop Equipment: Inventory + maintenance history + 3rd party certs in 48h - replace damaged</a:t>
            </a:r>
            <a:br/>
            <a:r>
              <a:t>• Waste: Color-coded skips + labeling + focal point + training</a:t>
            </a:r>
            <a:br/>
            <a:r>
              <a:t>• Signage: Parking + speed limit 15 km/h - retro-reflective + flagmen + radar + speed humps</a:t>
            </a:r>
            <a:br/>
            <a:r>
              <a:t>• PPE Campaign + BBS + Daily management walks</a:t>
            </a:r>
            <a:br/>
            <a:br/>
            <a:r>
              <a:t>[Photo: Compliant hard barricade + signage + waste segregation]</a:t>
            </a:r>
            <a:br/>
            <a:br/>
            <a:r>
              <a:t>DECISION: Approve $20k cost - back-charge to Al-Mial</a:t>
            </a:r>
          </a:p>
        </p:txBody>
      </p:sp>
      <p:sp>
        <p:nvSpPr>
          <p:cNvPr id="13" name="Rectangle 12"/>
          <p:cNvSpPr/>
          <p:nvPr/>
        </p:nvSpPr>
        <p:spPr>
          <a:xfrm>
            <a:off x="8138160" y="914400"/>
            <a:ext cx="3749039" cy="36576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914400"/>
            <a:ext cx="3749039" cy="365760"/>
          </a:xfrm>
          <a:prstGeom prst="rect">
            <a:avLst/>
          </a:prstGeom>
          <a:noFill/>
        </p:spPr>
        <p:txBody>
          <a:bodyPr wrap="square">
            <a:spAutoFit/>
          </a:bodyPr>
          <a:lstStyle/>
          <a:p>
            <a:pPr algn="ctr">
              <a:defRPr sz="1100" b="1">
                <a:solidFill>
                  <a:srgbClr val="FFFFFF"/>
                </a:solidFill>
                <a:latin typeface="Calibri"/>
              </a:defRPr>
            </a:pPr>
            <a:r>
              <a:t>🟢 STRATEGIC (7-30 Days) / استراتيجي</a:t>
            </a:r>
          </a:p>
        </p:txBody>
      </p:sp>
      <p:sp>
        <p:nvSpPr>
          <p:cNvPr id="15" name="Rectangle 14"/>
          <p:cNvSpPr/>
          <p:nvPr/>
        </p:nvSpPr>
        <p:spPr>
          <a:xfrm>
            <a:off x="8138160" y="1280160"/>
            <a:ext cx="3749039" cy="347472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280160"/>
            <a:ext cx="3566160" cy="3474720"/>
          </a:xfrm>
          <a:prstGeom prst="rect">
            <a:avLst/>
          </a:prstGeom>
          <a:noFill/>
        </p:spPr>
        <p:txBody>
          <a:bodyPr wrap="square">
            <a:spAutoFit/>
          </a:bodyPr>
          <a:lstStyle/>
          <a:p>
            <a:pPr algn="l">
              <a:defRPr sz="800" b="0">
                <a:solidFill>
                  <a:srgbClr val="212121"/>
                </a:solidFill>
                <a:latin typeface="Calibri"/>
              </a:defRPr>
            </a:pPr>
            <a:r>
              <a:t>• Penalty Matrix: Linked to KPIs - TRIR, NCR closure, PTW compliance, observation close-out - deduction from invoice</a:t>
            </a:r>
            <a:br/>
            <a:r>
              <a:t>• Leadership Accountability: Replace non-performing supervisors who refused EHS order - CV + competency interview by SE</a:t>
            </a:r>
            <a:br/>
            <a:r>
              <a:t>• System Upgrade: Digital PTW with QR + Biometric induction + equipment checklist app + observation tracker</a:t>
            </a:r>
            <a:br/>
            <a:r>
              <a:t>• KPI &amp; Scorecard: Weekly dashboard Red/Amber/Green to Top Management - include delayed response metric for Al-Mial</a:t>
            </a:r>
            <a:br/>
            <a:r>
              <a:t>• Independent Audit: 3rd party EHS audit of Al-Mial system - ISO 45001/14001 gap analysis</a:t>
            </a:r>
            <a:br/>
            <a:r>
              <a:t>• Zero Harm Commitment: Re-sign Life Saving Rules - Townhall with Top Management - visible commitment</a:t>
            </a:r>
            <a:br/>
            <a:r>
              <a:t>• Contingency: Prepare demobilization / replacement plan if no sustained improvement - procurement to identify alternative</a:t>
            </a:r>
            <a:br/>
            <a:br/>
            <a:r>
              <a:t>[Photo: Dashboard / Training / Digital PTW]</a:t>
            </a:r>
            <a:br/>
            <a:br/>
            <a:r>
              <a:t>DECISION: Authorize partial termination if critical violations recur + observation delay continues</a:t>
            </a:r>
          </a:p>
        </p:txBody>
      </p:sp>
      <p:sp>
        <p:nvSpPr>
          <p:cNvPr id="17" name="Rectangle 16"/>
          <p:cNvSpPr/>
          <p:nvPr/>
        </p:nvSpPr>
        <p:spPr>
          <a:xfrm>
            <a:off x="274320" y="5029200"/>
            <a:ext cx="11612880" cy="1554480"/>
          </a:xfrm>
          <a:prstGeom prst="rect">
            <a:avLst/>
          </a:prstGeom>
          <a:solidFill>
            <a:srgbClr val="F9F9FA"/>
          </a:solidFill>
          <a:ln w="25400">
            <a:solidFill>
              <a:srgbClr val="0E2F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5029200"/>
            <a:ext cx="11430000" cy="274320"/>
          </a:xfrm>
          <a:prstGeom prst="rect">
            <a:avLst/>
          </a:prstGeom>
          <a:noFill/>
        </p:spPr>
        <p:txBody>
          <a:bodyPr wrap="square">
            <a:spAutoFit/>
          </a:bodyPr>
          <a:lstStyle/>
          <a:p>
            <a:pPr algn="l">
              <a:defRPr sz="1200" b="1">
                <a:solidFill>
                  <a:srgbClr val="0E2F3E"/>
                </a:solidFill>
                <a:latin typeface="Calibri"/>
              </a:defRPr>
            </a:pPr>
            <a:r>
              <a:t>✅ MANAGEMENT DECISION MATRIX - REQUIRED TODAY / مصفوفة القرارات</a:t>
            </a:r>
          </a:p>
        </p:txBody>
      </p:sp>
      <p:sp>
        <p:nvSpPr>
          <p:cNvPr id="19" name="TextBox 18"/>
          <p:cNvSpPr txBox="1"/>
          <p:nvPr/>
        </p:nvSpPr>
        <p:spPr>
          <a:xfrm>
            <a:off x="365760" y="5349240"/>
            <a:ext cx="11430000" cy="1097280"/>
          </a:xfrm>
          <a:prstGeom prst="rect">
            <a:avLst/>
          </a:prstGeom>
          <a:noFill/>
        </p:spPr>
        <p:txBody>
          <a:bodyPr wrap="square">
            <a:spAutoFit/>
          </a:bodyPr>
          <a:lstStyle/>
          <a:p>
            <a:pPr algn="l">
              <a:defRPr sz="800" b="0">
                <a:solidFill>
                  <a:srgbClr val="212121"/>
                </a:solidFill>
                <a:latin typeface="Calibri"/>
              </a:defRPr>
            </a:pPr>
            <a:r>
              <a:t>1. Approve Stop-Work Authority for Energized Zone + Unsafe Equipment [ ] Yes [ ] No | إيقاف العمل في منطقة انرجايز والمعدات غير الآمنة</a:t>
            </a:r>
            <a:br/>
            <a:r>
              <a:t>2. Authorize Warning + Penalty for Refusal to Follow EHS Order [ ] Yes [ ] No | تحذير وغرامة لرفض أوامر السلامة</a:t>
            </a:r>
            <a:br/>
            <a:r>
              <a:t>3. Mandate Al-Mial Top Management On-Site within 12h with Written Explanation [ ] Yes [ ] No | حضور إدارة الميال خلال 12 ساعة مع توضيح كتابي</a:t>
            </a:r>
            <a:br/>
            <a:r>
              <a:t>4. Approve Budget $20k for Hard Barricades, Signage, Waste Skips - Back-charge [ ] Yes [ ] No | ميزانية حواجز ولوحات وحاويات</a:t>
            </a:r>
            <a:br/>
            <a:r>
              <a:t>5. Endorse Zero Tolerance 3 Strikes + Observation Close-Out KPI (Critical 24h) [ ] Yes [ ] No | عدم تسامح 3 مخالفات + مؤشر إغلاق الملاحظات</a:t>
            </a:r>
            <a:br/>
            <a:br/>
            <a:r>
              <a:t>Signature: _________________ Project Director Date: _______ | Signature: _________________ Construction Manager Date: _______ | Signature: _________________ EHS Manager Date: _______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