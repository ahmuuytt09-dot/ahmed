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KAZ Power Plant Upgrade Project | Zero Harm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20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CONFIDENTIAL</a:t>
            </a:r>
            <a:br/>
            <a:r>
              <a:t>سري - للإدارة العليا فقط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Calibri"/>
              </a:defRPr>
            </a:pPr>
            <a:r>
              <a:t>Subcontractor EHS Non-Compliance Report - Final Site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2F3E"/>
                </a:solidFill>
                <a:latin typeface="Calibri"/>
              </a:defRPr>
            </a:pPr>
            <a:r>
              <a:t>تقرير مخالفات السلامة النهائي للمقاول الفرعي - 9 ملاحظات فعلية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6858000" cy="274320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685800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Final Observations Summary - 9 Separate Slides Each With Photo Placeholders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01. Painting, Storage Fence, Cement Pouring WITHOUT PTW &amp; Induction in ENERGIZED zone - No knowledge - CRITICAL</a:t>
            </a:r>
            <a:br/>
            <a:r>
              <a:t>02. Excavation Soft Barricade Instead of Hard Barricade - Tape Only Prohibited - CRITICAL</a:t>
            </a:r>
            <a:br/>
            <a:r>
              <a:t>03. Recurring PPE Violations Despite Warnings - Same Crew - HIGH</a:t>
            </a:r>
            <a:br/>
            <a:r>
              <a:t>04. Historical Pattern - Bitumen, Workshop, Formwork Without PTW - Systemic - CRITICAL</a:t>
            </a:r>
            <a:br/>
            <a:r>
              <a:t>05. Refusal to Stop Unsafe Equipment Despite EHS Order - Willful - CRITICAL</a:t>
            </a:r>
            <a:br/>
            <a:r>
              <a:t>06. Unsafe Workshop Equipment - Exposed Cables, Missing Guards, Damaged Slings - CRITICAL</a:t>
            </a:r>
            <a:br/>
            <a:r>
              <a:t>07. Poor Waste Management &amp; Lack of Segregation - No System - HIGH</a:t>
            </a:r>
            <a:br/>
            <a:r>
              <a:t>08. Deficiency in Safety Signage - Parking Garage &amp; Speed Limits Missing - HIGH</a:t>
            </a:r>
            <a:br/>
            <a:r>
              <a:t>09. Delayed Response from Al-Mial to Close Observations - Poor Close-Out -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651760"/>
            <a:ext cx="4114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651760"/>
            <a:ext cx="4114800" cy="3200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651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Report Info &amp; Design - 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175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12121"/>
                </a:solidFill>
                <a:latin typeface="Calibri"/>
              </a:defRPr>
            </a:pPr>
            <a:r>
              <a:t>Ref: SE-EHS-NC-2026-FINAL-9OBS-V8-FIXED</a:t>
            </a:r>
            <a:br/>
            <a:r>
              <a:t>Date: September 2026</a:t>
            </a:r>
            <a:br/>
            <a:r>
              <a:t>Prepared by: EHS Manager - Siemens Energy</a:t>
            </a:r>
            <a:br/>
            <a:r>
              <a:t>Project: KAZ Power Plant Upgrade</a:t>
            </a:r>
            <a:br/>
            <a:r>
              <a:t>Classification: Confidential - Top Management</a:t>
            </a:r>
            <a:br/>
            <a:br/>
            <a:r>
              <a:t>Design: Executive White Modern - FIXED</a:t>
            </a:r>
            <a:br/>
            <a:r>
              <a:t>• Background: Pure White #FFFFFF</a:t>
            </a:r>
            <a:br/>
            <a:r>
              <a:t>• Siemens Energy Logo on EVERY slide</a:t>
            </a:r>
            <a:br/>
            <a:r>
              <a:t>• Each violation SEPARATE slide (9 slides)</a:t>
            </a:r>
            <a:br/>
            <a:r>
              <a:t>• LARGE photo placeholder [أدخل صورة المخالفة هنا]</a:t>
            </a:r>
            <a:br/>
            <a:r>
              <a:t>• Very Clear - Red Bold - Drag &amp; Drop</a:t>
            </a:r>
            <a:br/>
            <a:r>
              <a:t>• 3 photo boxes per slide: Main + Additional + After</a:t>
            </a:r>
            <a:br/>
            <a:br/>
            <a:r>
              <a:t>Each Slide Includes:</a:t>
            </a:r>
            <a:br/>
            <a:r>
              <a:t>✓ Technical Description (5 points)</a:t>
            </a:r>
            <a:br/>
            <a:r>
              <a:t>✓ Risk Assessment</a:t>
            </a:r>
            <a:br/>
            <a:r>
              <a:t>✓ Corrective Action (5 points)</a:t>
            </a:r>
            <a:br/>
            <a:r>
              <a:t>✓ Large Photo Placeholder</a:t>
            </a:r>
            <a:br/>
            <a:br/>
            <a:r>
              <a:t>11 Slides Total: Title + 9 Observations + Closing Action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Executive Statement - FIXED: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FINAL report with 9 ACTUAL observations - each violation SEPARATE slide with LARGE photo placeholder [Insert Violation Photo Here] / [أدخل صورة المخالفة هنا] - Siemens Energy logo on every slide - Executive white modern design - Ready for management.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01 - Unauthorized Works Without PTW &amp; Induction in Energized Zone - Painting, Storage Fence, 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أعمال بدون تصريح وتعريف في منطقة انرجايز - طلاء، حاجز مخزن، صب أسمنت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  <a:br/>
            <a:r>
              <a:t>مستوى الخطورة: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Painting, Storage Fence, Cement Pouring WITHOUT PTW &amp; Induction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Subcontractor supervision has NO knowledge despite ENERGIZED zone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LOTO, no TRA, no EHS coordination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Violation: SE Sec 5.3, KAZ Sec 6.1 &amp; 7.2, ISO 45001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RISK ASSESSMENT / تقييم المخاطر -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FATALITY RISK: Electrocution, arc flash in energized zone. No LOTO, no PTW, no induction. Subcontractor has NO knowledge of own workers.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STOP WORK - Evacuate energized zone - Hard barricade + LOTO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Remove non-inducted - 100% gate check - manpower list in 6h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Written explanation + RCA: How work started without knowledge?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Re-training PTW + Energized Zone within 24h - 80% pass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Daily work plan 24h in advance to SE EHS - No plan, no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Painting Without PTW / Storage Fence / Cement in Energized Zone</a:t>
            </a:r>
            <a:br/>
            <a:br/>
            <a:r>
              <a:t>Fig 01.1 -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01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02 - Excavation Barricades - Soft Barricade Instead of Hard Barricade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حواجز الحفر - سوفت باركيد بدل هارد باركيد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  <a:br/>
            <a:r>
              <a:t>مستوى الخطورة: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Majority excavations with SOFT tape only - PROHIBITED for &gt;1.2m depth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Depth 1.2-2.5m - hard barricade MANDATORY per SE-GEN-EHS-007, OSHA 1926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ladders, spoil within 1m, no reflective markers, no night lighting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RISK ASSESSMENT / تقييم المخاطر -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Fatal fall, cave-in. Soft tape ZERO protection. High-Risk MAH. Regulatory prohibition.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Replace ALL soft with HARD barricades - scaffold tubes / concrete - within 12h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Ladders every 7.5m, spoil 1.5m away, reflective + solar lights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Permit re-validation + geotech + competent person daily checklist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NCR Level 2 + penalty + back-charge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Before/After photos for closure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Excavation Soft Tape Only - No Hard Barricade</a:t>
            </a:r>
            <a:br/>
            <a:br/>
            <a:r>
              <a:t>Fig 02.1 -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02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03 - Recurring PPE Violations Despite Warnings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مخالفات PPE متكررة رغم التحذيرات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  <a:br/>
            <a:r>
              <a:t>مستوى الخطورة: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Persistent PPE failure: Helmet without chin strap, glasses, gloves, hi-vis, boots, harness at height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Same crew, same violations, NO improvement after multiple warnings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Supervision present but not enforcing - behavioral failure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RISK ASSESSMENT / تقييم المخاطر -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Head injury, eye injury, fall from height. Recurring indicates cultural failure. Increases LTIFR. Precursor to fatality.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On-site correction + TBT with photos - Observation Cards + violation notice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BBS - daily PPE checks + random - scorecard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3-Strikes Removal: 1st warning, 2nd suspension, 3rd removal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Link PPE to KPI and payment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Daily management safety walks + recognition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PPE Violation - No Helmet / No Harness at Height</a:t>
            </a:r>
            <a:br/>
            <a:br/>
            <a:r>
              <a:t>Fig 03.1 -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03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04 - Historical Pattern - Bitumen, Workshop, Formwork Without PTW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نمط تاريخي - بيتومين وورشة وفورم ورك بدون بيرمت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  <a:br/>
            <a:r>
              <a:t>مستوى الخطورة: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Same PTW violation repeated: Bitumen (hot work), Workshop (electrical, grinding), Formwork (height, collapse)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All without PTW, without TRA, without EHS coordination - documented in previous NCRs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corrective action - same root cause repeated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RISK ASSESSMENT / تقييم المخاطر -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Systemic PTW failure. Bitumen: fire/burn. Workshop: electric shock. Formwork: collapse, fall. If PTW optional, all controls fail.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PTW System Audit - review ALL historical PTWs - audit report in 48h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Mandatory PTW Re-Training for ALL - 80% pass - no pass, no work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Cumulative NCR Level 2 + penalty escalation - consider suspension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Digital PTW System - QR code - mandatory TRA, isolation, EHS approval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Weekly PTW Compliance Trend - target 100% - link to payment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Bitumen Without PTW / Workshop Without PTW / Formwork Without PTW</a:t>
            </a:r>
            <a:br/>
            <a:br/>
            <a:r>
              <a:t>Fig 04.1 -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04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05 - Non-Compliance with EHS Directives - Refusal to Stop Unsafe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عدم الالتزام بأوامر السلامة - رفض إيقاف معدات غير آمنة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  <a:br/>
            <a:r>
              <a:t>مستوى الخطورة: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EHS issued STOP order for unsafe equipment (leaking, damaged cables, no guard)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Subcontractor REFUSED and CONTINUED work - willful disregard - direct challenge to EHS authority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Equipment: Leaking oil/fuel, exposed cables, grinder without guard, no inspection cert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RISK ASSESSMENT / تقييم المخاطر -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Erosion of EHS authority. If Stop Work can be ignored, all controls at risk. Fire, electric shock, failure. Willful violation - highest disciplinary.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Escalation to Top Management - formal letter to MD - explanation within 12h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Enforce Stop Work - ground ALL unsafe equipment - Tag DO NOT USE - remove keys - fire watch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Invoke penalty clause - highest level - back-charge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Remove/replace non-compliant supervision who refused - CV + competency interview by SE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Emergency Leadership Meeting - re-communicate Stop Work Authority - signed commitment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Unsafe Equipment Ordered to Stop But Continued - Refusal</a:t>
            </a:r>
            <a:br/>
            <a:br/>
            <a:r>
              <a:t>Fig 05.1 -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05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06 - Unsafe Condition of Workshop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معدات الورشة غير آمنة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  <a:br/>
            <a:r>
              <a:t>مستوى الخطورة: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Damaged/uninspected: Exposed cables, grinders without guards, welding without earthing, damaged slings/shackles, leaking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maintenance records - checklists falsified - same signature 7 days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drip trays - soil contamination ~5 sqm - oil leaks active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third-party certs - no operator competency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RISK ASSESSMENT / تقييم المخاطر -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Electric shock, fire/explosion, hand/eye injury, lifting failure dropped load, soil pollution. Breakdown of maintenance system. Multiple fatalities potential.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Ground ALL unsafe workshop equipment - Tag DO NOT USE - inventory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Excavate contaminated soil as haz waste - absorbents - drip trays + spill kits 100%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Submit equipment register + maintenance history + 3rd party certs in 48h - No cert, no operation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Daily checklist verified by SE EHS/Mechanical with photo - guard, no leaks, cable intact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Replace damaged cables, guards, slings - training on inspection - competency assessment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Exposed Cable / Grinder Without Guard / Damaged Sling / Oil Leak</a:t>
            </a:r>
            <a:br/>
            <a:br/>
            <a:r>
              <a:t>Fig 06.1 -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06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07 - Poor Waste Management &amp; Lack of Segregation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سوء إدارة النفايات وعدم فصل المواد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  <a:br/>
            <a:r>
              <a:t>مستوى الخطورة: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segregation, no labeling, no color-coding, no defined waste area - poor housekeeping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Mixed: Hazardous (oil rags, filters, paint), recyclable (wood, plastic), general in same skip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MSDS, no HAZCHEM, no spill kit - containers overflowing, waste on ground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RISK ASSESSMENT / تقييم المخاطر -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Soil/groundwater pollution, fire from incompatible mixing, regulatory fine, reputational damage, sustainability KPI failure, slip/trip.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Color-coded skips: Black-General, Green-Recyclable, Red-Hazardous with HAZCHEM + MSDS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Clean-up and correct segregation under EHS supervision - define waste area with barricade + signage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Training on Waste Management - hazardous handling, spill prevention, manifest, housekeeping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Appoint Waste Focal Point - daily housekeeping, segregation, inspection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Weekly waste audit - volumes + manifests - monthly report - target Zero mixed waste - 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Mixed Waste in One Skip / Oil Rags in General Waste</a:t>
            </a:r>
            <a:br/>
            <a:br/>
            <a:r>
              <a:t>Fig 07.1 -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07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08 - Deficiency in Safety Signage - Parking Garage &amp; Speed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نقص لوحات السلامة - باركنك وسرعة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  <a:br/>
            <a:r>
              <a:t>مستوى الخطورة: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Parking garage: No parking signage, no pedestrian walkway, no speed limit inside garage, no arrows, no stop signs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Speed: 15 km/h signs missing/damaged - no humps, no radar - speeding 30 km/h observed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segregation vehicle-pedestrian in parking - workers walking through parking with moving vehicles - blind spots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RISK ASSESSMENT / تقييم المخاطر -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Vehicle-pedestrian collision, vehicle-vehicle collision, fatality in parking. Top 3 fatality causes. Liability increases. Emergency access impeded. Reversing incidents.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Reinstate all signage per TMP - retro-reflective - parking, speed 15 km/h, pedestrian walkway, stop, arrows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Dedicated pedestrian routes in garage with hard segregation - Jersey barriers + green paint + crossing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Speed humps + flagmen at garage entrance/exit + radar 2x daily - log violations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Traffic safety campaign + driver re-induction - parking hazards, reversing, pedestrian priority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EHS + Logistics joint daily inspection - checklist signed - photo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Missing Parking Signage / Missing Speed Limit / No Pedestrian Walkway</a:t>
            </a:r>
            <a:br/>
            <a:br/>
            <a:r>
              <a:t>Fig 08.1 -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08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Calibri"/>
              </a:defRPr>
            </a:pPr>
            <a:r>
              <a:t>09 - Delayed Response from Al-Mial to Close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1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16161"/>
                </a:solidFill>
                <a:latin typeface="Calibri"/>
              </a:defRPr>
            </a:pPr>
            <a:r>
              <a:t>تأخر استجابة الميال لإغلاق الملاحظات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  <a:br/>
            <a:r>
              <a:t>مستوى الخطورة: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658368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TECHNICAL DESCRIPTION / الوصف الفني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50800" cy="17373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Significant delay to close observations, NCRs, Observation Cards - days/weeks open - no corrective action, no evidence, no RCA - repeated follow-ups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Previous NCRs closed without evidence - falsification - same violations recurring</a:t>
            </a:r>
          </a:p>
          <a:p>
            <a:pPr>
              <a:spcAft>
                <a:spcPts val="200"/>
              </a:spcAft>
              <a:defRPr sz="800">
                <a:solidFill>
                  <a:srgbClr val="212121"/>
                </a:solidFill>
                <a:latin typeface="Calibri"/>
              </a:defRPr>
            </a:pPr>
            <a:r>
              <a:t>• No dedicated EHS focal point to track and close - no tracking system - observations lost/ignored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583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RISK ASSESSMENT / تقييم المخاطر -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080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Open observations = uncontrolled hazards on site - risk of incident from known hazard. Delay indicates no value for EHS - cultural failure. Erosion of EHS system. Liability increases.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65836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CORRECTIVE ACTION / الإجراء التصحيحي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83480"/>
            <a:ext cx="50800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1. Appoint dedicated EHS Focal Point - name, CV, contact within 12h - responsible for tracking and closing ALL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2. Submit close-out plan for ALL open observations within 24h - actions, owner, deadline, evidence - prioritized by risk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3. Implement Observation Tracking System - Excel tracker - ID, Date, Description, Risk, Owner, Deadline, Status, Evidence, Verified by - updated daily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4. Weekly Close-Out Meeting - Al-Mial PM + Focal Point + SE EHS - review open, evidence, trend - minutes</a:t>
            </a:r>
          </a:p>
          <a:p>
            <a:pPr>
              <a:spcAft>
                <a:spcPts val="150"/>
              </a:spcAft>
              <a:defRPr sz="750">
                <a:solidFill>
                  <a:srgbClr val="212121"/>
                </a:solidFill>
                <a:latin typeface="Calibri"/>
              </a:defRPr>
            </a:pPr>
            <a:r>
              <a:t>5. Link close-out to penalty and KPI - target: Critical 24h, High 72h, Medium 7 days - include in scorecard and payment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📷 PHOTO EVIDENCE / مساحة الصور الموقعية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4754880" cy="2926080"/>
          </a:xfrm>
          <a:prstGeom prst="rect">
            <a:avLst/>
          </a:prstGeom>
          <a:solidFill>
            <a:srgbClr val="F5F5F7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0613"/>
                </a:solidFill>
                <a:latin typeface="Calibri"/>
              </a:defRPr>
            </a:pPr>
            <a:r>
              <a:t>[Insert Violation Photo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Open Observations List - Overdue / Tracker Showing Delay</a:t>
            </a:r>
            <a:br/>
            <a:br/>
            <a:r>
              <a:t>Fig 09.1 - Main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2F3E"/>
                </a:solidFill>
                <a:latin typeface="Calibri"/>
              </a:defRPr>
            </a:pPr>
            <a:r>
              <a:t>⬆️ DRAG &amp; DROP YOUR SITE PHOTO HERE</a:t>
            </a:r>
            <a:br/>
            <a:r>
              <a:t>اسحب الصورة وألصقها هنا</a:t>
            </a:r>
            <a:br/>
            <a:br/>
            <a:r>
              <a:t>Add: Date, Time, Location, GPS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29768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  Taken by: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846320"/>
            <a:ext cx="2286000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[Additional Photo 2]</a:t>
            </a:r>
            <a:br/>
            <a:r>
              <a:t>[أدخل صورة إضافية]</a:t>
            </a:r>
            <a:br/>
            <a:r>
              <a:t>Fig X.2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846320"/>
            <a:ext cx="22860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[After Correction]</a:t>
            </a:r>
            <a:br/>
            <a:r>
              <a:t>[بعد التصحيح]</a:t>
            </a:r>
            <a:br/>
            <a:r>
              <a:t>Fig X.3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E2F3E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09 | SE-EHS-NC-2026-FINAL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381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Calibri"/>
              </a:defRPr>
            </a:pPr>
            <a:r>
              <a:t>Final Recommendations &amp; Action Plan - 9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365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🔴 IMMEDIATE (0-24h)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• STOP WORK: Painting, Storage, Cement, Excavation without hard barricade, Unsafe equipment</a:t>
            </a:r>
            <a:br/>
            <a:r>
              <a:t>• Secure ENERGIZED zone - hard barricade + LOTO + fire watch</a:t>
            </a:r>
            <a:br/>
            <a:r>
              <a:t>• Remove non-inducted - 100% gate - manpower list vs induction in 6h</a:t>
            </a:r>
            <a:br/>
            <a:r>
              <a:t>• Ground leaking/unsafe equipment - Tag DO NOT USE</a:t>
            </a:r>
            <a:br/>
            <a:r>
              <a:t>• Issue NCR Level 2 + warning - cumulative</a:t>
            </a:r>
            <a:br/>
            <a:r>
              <a:t>• Emergency meeting - Al-Mial MD + PM within 12h</a:t>
            </a:r>
            <a:br/>
            <a:br/>
            <a:r>
              <a:t>[Photo: Secured energized zone]</a:t>
            </a:r>
            <a:br/>
            <a:br/>
            <a:r>
              <a:t>DECISION: Approve Stop-Work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914400"/>
            <a:ext cx="3749039" cy="3657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914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🟡 SHORT-TERM (1-7 Days)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8016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• PTW Audit: bitumen, workshop, formwork, painting, storage, cement - 48h</a:t>
            </a:r>
            <a:br/>
            <a:r>
              <a:t>• Re-Training: PTW + Energized Zone + Excavation + PPE + Waste - 80% pass</a:t>
            </a:r>
            <a:br/>
            <a:r>
              <a:t>• Hard Barricades: Replace ALL soft tape with hard - 12h - Before/After</a:t>
            </a:r>
            <a:br/>
            <a:r>
              <a:t>• Workshop Equipment: Inventory + certs in 48h - replace damaged</a:t>
            </a:r>
            <a:br/>
            <a:r>
              <a:t>• Waste: Color-coded skips + focal point + training</a:t>
            </a:r>
            <a:br/>
            <a:r>
              <a:t>• Signage: Parking + speed 15 km/h - retro-reflective + flagmen + radar</a:t>
            </a:r>
            <a:br/>
            <a:r>
              <a:t>• PPE Campaign + BBS + Daily walks</a:t>
            </a:r>
            <a:br/>
            <a:br/>
            <a:r>
              <a:t>[Photo: Compliant state]</a:t>
            </a:r>
            <a:br/>
            <a:br/>
            <a:r>
              <a:t>DECISION: Approve $20k - back-charge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914400"/>
            <a:ext cx="3749039" cy="365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914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🟢 STRATEGIC (7-30 Days)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• Penalty Matrix: KPIs - TRIR, NCR closure, PTW compliance, close-out</a:t>
            </a:r>
            <a:br/>
            <a:r>
              <a:t>• Leadership: Replace non-performing supervisors who refused order</a:t>
            </a:r>
            <a:br/>
            <a:r>
              <a:t>• System Upgrade: Digital PTW QR + Biometric induction + checklist app + tracker</a:t>
            </a:r>
            <a:br/>
            <a:r>
              <a:t>• KPI &amp; Scorecard: Weekly dashboard Red/Amber/Green to Top Management</a:t>
            </a:r>
            <a:br/>
            <a:r>
              <a:t>• Independent Audit: 3rd party EHS audit ISO 45001/14001 gap</a:t>
            </a:r>
            <a:br/>
            <a:r>
              <a:t>• Zero Harm Commitment: Re-sign Life Saving Rules - Townhall</a:t>
            </a:r>
            <a:br/>
            <a:r>
              <a:t>• Contingency: Demobilization / replacement plan if no improvement</a:t>
            </a:r>
            <a:br/>
            <a:br/>
            <a:r>
              <a:t>[Photo: Dashboard / Training]</a:t>
            </a:r>
            <a:br/>
            <a:br/>
            <a:r>
              <a:t>DECISION: Authorize partial termination if recur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F9F9FA"/>
          </a:solidFill>
          <a:ln w="25400">
            <a:solidFill>
              <a:srgbClr val="0E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029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2F3E"/>
                </a:solidFill>
                <a:latin typeface="Calibri"/>
              </a:defRPr>
            </a:pPr>
            <a:r>
              <a:t>✅ MANAGEMENT DECISION MATRIX - REQUIRED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1. Approve Stop-Work Authority for Energized Zone + Unsafe Equipment [ ] Yes [ ] No</a:t>
            </a:r>
            <a:br/>
            <a:r>
              <a:t>2. Authorize Warning + Penalty for Refusal to Follow EHS Order [ ] Yes [ ] No</a:t>
            </a:r>
            <a:br/>
            <a:r>
              <a:t>3. Mandate Al-Mial Top Management On-Site within 12h with Written Explanation [ ] Yes [ ] No</a:t>
            </a:r>
            <a:br/>
            <a:r>
              <a:t>4. Approve Budget $20k for Hard Barricades, Signage, Waste Skips - Back-charge [ ] Yes [ ] No</a:t>
            </a:r>
            <a:br/>
            <a:r>
              <a:t>5. Endorse Zero Tolerance 3 Strikes + Observation Close-Out KPI (Critical 24h) [ ] Yes [ ] No</a:t>
            </a:r>
            <a:br/>
            <a:br/>
            <a:r>
              <a:t>Signature: _________________ Project Director Date: _______ | Signature: _________________ Construction Manager Date: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