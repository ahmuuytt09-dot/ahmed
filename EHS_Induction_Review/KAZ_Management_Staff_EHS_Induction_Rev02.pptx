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participants, confirm fire exits and assembly point for the training room, and state that attendance is recorded. Introduce yourself and the EHS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emergency arrangements of the training venue aloud. Confirm the assembly point location and the site emergency line before starting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agenda to set expectations; tell participants to ask questions at any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each objective to the participant's own role — managers and staff are expected to lead, verify and coach, not only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that supervisors will be checked for valid induction, PSI and task certificates. Underline that the card is not a work permit.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vision slide. Connect the EHS Plan target to the daily reality: every task planned, every control verified, every person home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group for one example of intervening on an unsafe act. Reinforce that interventions are expected and will never be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audience for this induction. Ask each manager to commit to one visible action within the next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duty to report. Remind the group that honest reporting is protected by the just-culture approach: no blame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subcontractor managers of the documentation they must keep current; the EHS team audits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live-plant context: the greatest single risk on this project is electrical. Every activity needs operational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actual plot plan from the project drawing set when presenting. Walk the group to their nearest assembly point after the session, if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real people behind each role and their contact numbers. Participants should know who to call for each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the two absolutes: no permit = no work; no EHS supervision = no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 site rule list available as a handout. Point out that hours and rest days are monitored.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empowerment message in the deck. Ask each participant to state one situation in which they would stop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 between RA (planned), SJA (task) and LMRA (moment). Use a real job from the site as the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typical day of a subcontractor crew, step by step, so the routine is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permit is a contract between the issuer and the holder. Removing or bypassing a permit condition is a dismissible offence.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participants where to obtain each permit and who signs it. Confirm the current validity rules with the project PTW procedure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isolation certificate and lockbox as physical props if available. Explain the personal lock principle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highest-risk topic of the project. Slow down here and check understanding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for the presenter: insert the values approved by the Siemens Energy EHSMIP and the client before delivering this slide. Generic or imperial values from other sites must not be used —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 between our responsibility and the client's operational responsibility, and how both are coordinated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who has a valid working-at-height certificate. Verify harness inspection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Lifting is a major hazard on this project because of the transformer and steel structure erection. Confirm the wind limit with the project lifting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excavations can also be confined spaces depending on risk assessment — but not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rescue rule: the instinct to help is the biggest killer. Call the rescue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fire-watch duration and extinguisher requirements from the project PTW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common source of hand injuries. Ask the group which tools are most frequently misused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this to the heat stress session: dehydration and fatigue make manual handling injuries far more likely.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PPE is the last line of defence. Remind everyone that PPE is provided free of charge and damaged PPE must be replaced, not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current WBGT thresholds, work-rest tables and Ramadan arrangements before presenting.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number of trained first aiders in each shift and area, and the current site clinic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where spill kits and SDS are kept, and how the electronic substance register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bin colours and locations on site. Ask each supervisor to confirm their crews know where the hazardous waste store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the previous deck's error: Class D requires special metal powder, not DCP. Never use water on energised electrical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assembly point locations and the identity of area marshals for the audience's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the previous deck's error: a fatality is never a Level 2 locally-managed event. Confirm the current notification matrix with the project notification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IMPORTANT: replace the placeholder entries with live numbers and verify them weekly. The previous deck quoted 911, which is not an official emergency number in Iraq.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practical example of a near miss report that prevented an accident. Encourage reporting rather than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one recent lesson learned from the project or from Siemens Energy safety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visitor process and the material gate pass. Security incidents follow the same reporting route as EHS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 the route and rest requirements to the actual Basrah–site conditions. Report all road incidents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current penalty matrix with the site security instruction before presenting; penalties must be applied consistently to employees and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check individually, mark it immediately, and retrain anyone below 80% before site access. Keep the answer sheets in the training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signatures before participants leave. File the register with the training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positively, thank the participants, and remind them of the induction card and the acknowledgement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01_cover_switchyard_960x280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540760"/>
            <a:ext cx="121920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483600" y="203200"/>
            <a:ext cx="3352800" cy="1092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iemens_energy_248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00" y="279400"/>
            <a:ext cx="3149600" cy="939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3810000"/>
            <a:ext cx="8890000" cy="50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064000"/>
            <a:ext cx="1016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Management &amp; Staff EHS Induction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24400"/>
            <a:ext cx="1016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FD8D8"/>
                </a:solidFill>
                <a:latin typeface="Calibri"/>
              </a:rPr>
              <a:t>KAZ Power Plant Upgrade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308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D4DE"/>
                </a:solidFill>
                <a:latin typeface="Calibri"/>
              </a:rPr>
              <a:t>Khor Al-Zubair Gas Turbine Power Plant · Basrah, Iraq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61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4DE"/>
                </a:solidFill>
                <a:latin typeface="Calibri"/>
              </a:rPr>
              <a:t>Client: Ministry of Electricity (MoE) &amp; Basrah Gas Company (BGC)   ·   Principal Contractor: Siemens Energy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867400"/>
            <a:ext cx="10363200" cy="4318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6800" y="5969000"/>
            <a:ext cx="10058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13500"/>
            <a:ext cx="635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FA3B5"/>
                </a:solidFill>
                <a:latin typeface="Calibri"/>
              </a:rPr>
              <a:t>KAZ-EHS-IND-001 · Rev. 02 · For review and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6413500"/>
            <a:ext cx="492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FA3B5"/>
                </a:solidFill>
                <a:latin typeface="Calibri"/>
              </a:rPr>
              <a:t>Restricted · © Siemens Energy · Siemens Energy is a trademark licensed by Siemens AG</a:t>
            </a:r>
          </a:p>
        </p:txBody>
      </p:sp>
      <p:pic>
        <p:nvPicPr>
          <p:cNvPr id="16" name="Picture 15" descr="almial_168x38_rg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2641600"/>
            <a:ext cx="2133600" cy="482600"/>
          </a:xfrm>
          <a:prstGeom prst="rect">
            <a:avLst/>
          </a:prstGeom>
        </p:spPr>
      </p:pic>
      <p:pic>
        <p:nvPicPr>
          <p:cNvPr id="17" name="Picture 16" descr="bgc_66x62_rg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600" y="2489200"/>
            <a:ext cx="8382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How This Session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Emergency instructions for the training room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an emergency occurs during this induction: stop, follow the exit signs and go to the nearest assembly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778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Mobile phones on silent — keep your phone available for emergencies.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Smoking is prohibited except in the designated smoking area, and never in red / restricted zones.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33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approx. 75 minutes, including the knowledge check and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8140"/>
            <a:ext cx="103632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Emergency numbers are on slide 39 — know them before you leave this room.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 of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What we will cover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Siemens EHS target, Zero Harm policy and who is responsible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Project description, site layout and the EHS organisation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General site rules, Stop Work Authority and daily safety routine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Risk management — risk assessment, SJA, LMRA and toolbox talks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Permit to Work and Lock-Out / Tag-Out (LOTO)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04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Electrical safety, arc flash and safe approach distances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522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High-risk activities — height, lifting, excavation, confined space, hot work,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0034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PPE, health, heat stress and first 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3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Environment, waste, chemicals and fire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79644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Emergency response, incident reporting, security and driving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444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11. Violations and penalties, knowledge check and induction card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 of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At the end of this induction you will be able to: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State the Siemens EHS target and the Zero Harm policy, and explain what it means for your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Describe your personal responsibilities and the authority you hold to stop unsafe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Apply the general site rules and select the correct PPE for your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 risk assessment, complete an LMRA and know when an SJA is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Explain how the Permit to Work and LOTO systems operate on this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04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Recognise the electrical, height, lifting, excavation, confined-space and hot-work hazards of KAZ.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011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Respond correctly to a fire, an emergency, an injury, a spill or a security event.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59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incidents, near misses and unsafe conditions within the required timeframes.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 of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Validity, Assessment and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This induction is part of your site authorisation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Validity: 12 months from the date of attendance; renewal is required on expiry.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Re-induction is required after a serious incident or when the hazards of your work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Knowledge check: 10 questions — pass mark 80%. Below 80% you are retrained before site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attendance and signature are recorded in the site training register.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must also complete Personal Safety Instruction (PSI) and, for high-risk activities, the Siemens Energy Safe Start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633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induction card must be carried and shown on request — it does not replace the Permit to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70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Minimum age for site access: 18 years.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 of 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Siemens EHS Target — Our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Derived from the KAZ Project EHS Plan (Section 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Our standard for EHS is excellence — it must exceed customer expectations.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409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project will promote a Zero-Harm culture that prevents damage to people, the environment and equipment.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177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target: zero harm — measured as Zero H1 = ZERO (no lost-time injuries).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946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Where EHS, progress and finances appear to conflict, EHS always prevails.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4715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are conditions of every activity — never a trade-off against schedule.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14849"/>
            <a:ext cx="6731000" cy="47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Zero Harm is not a slogan: it is the way we plan, verify and behave on this site.</a:t>
            </a:r>
          </a:p>
        </p:txBody>
      </p:sp>
      <p:pic>
        <p:nvPicPr>
          <p:cNvPr id="12" name="Picture 11" descr="02_zero_harm_team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Zero Harm — we take care of each other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 of 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Zero Harm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Principles · Behaviours · Essentials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Principles: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202120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Zero incidents is achievable.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31140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— no compromises.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260159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take care of each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179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Behaviours: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23659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Take the time to assess risk — plan and organise every job before you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352679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Talk about safety before the work and again during the shift.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381698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If a task cannot be done safely, or conditions change — stop and re-assess.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410718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Follow the rules and procedures, including site-specific rules and PPE.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600" y="439737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Intervene when you see risk — never walk by.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757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Essentials: Stop principle · safe systems of work · competency · risk assessment · permit to work · PPE · emergency preparedness.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7 of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Leadership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For managers, engineers and supervisors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Own EHS in your area — you are accountable for the people and the tasks you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Provide the resources: competent people, correct tools, valid PPE, adequate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Verify compliance — check permits, certificates, controls and housekeeping every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Lead visibly: safety walks, toolbox talks, safety stand-downs and recognition of good practice.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Make EHS the first agenda item in every formal meeting and record it in the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04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any work you consider unsafe, and support anyone who stops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522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Ensure incidents and near misses are reported and investigated — and lessons are applied.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8 of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Everyone's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Take care of your own health and safety and that of everyone around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Comply with site rules, permits, method statements and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hazards, incidents, near misses, unsafe acts and unsafe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and maintain PPE correctly; never work with defective equipment.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Attend inductions, PSI, toolbox talks and task-specific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04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work under the influence of alcohol or drugs — random testing is enforced.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522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the environment: prevent spills, segregate waste, conserve energy and water.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0034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Participate in risk assessments for your own tasks — you know the job best.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9 of 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Contractor &amp; Subcontractor Obligations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How we work together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contractor works to its own EHS system, enriched with Siemens Energy, Client and project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contractor appoints a competent Contractor EHS Representative.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Contractors provide: risk assessments, method statements, permits, competency certificates and equipment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Monthly man-hours and incident data are submitted to the EHS Department.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743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stop work, suspend, exclude or ban individuals for EHS violations — at the contractor's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814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Where local legal requirements differ from Siemens Energy requirements, the stricter requirement applies.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10 of 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KAZ Power Plant Upgrade Project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Modernisation and expansion of the existing 400/132/11 kV Air Insulated Switchgear (AIS) facilities.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New 400 kV and 132 kV bays: circuit breakers, disconnectors, earthing switches, current and voltage transformers, surge arresters and busbar extensions.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778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Civil works: foundations, earthing grid enhancement, steel structures, cable trenches and 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Electrical works: control, protection, metering, telecom and SCADA/DAS interfacing.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743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Activities: installation, testing, commissioning and trial operation.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22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13.5 months. Client: MoE &amp; BGC. Principal Contractor: Siemens Energy.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7040"/>
            <a:ext cx="103632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Critical context: the works are executed inside a LIVE power plant — coordination with MoE Operations is mandatory for every activity.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11 of 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Site Layout and Emergency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location before you start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work area, mobilisation and laydown area, warehouses, camp and offices — shown on the site plot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layer you must know: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62191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Assembly points (Muster points) for your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291211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First-aid points, site clinic and the route to the nearest hospital.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20230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points, extinguishers and eyewash stations.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49250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Emergency exits and the route for fire, ambulance and emergency vehicles.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8269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Red zones: high-voltage areas where access is restricted and controlled.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275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plot plan is posted at the site entrance, offices and assembly points — check it on your first day.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12 of 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Project EHS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Who is responsible for what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Director / Site Manager — overall responsibility for EHS performance of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EHS Manager in Projects (EHSMIP) — governance, audits, verification and stop-work authority.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 EHS Manager and EHS Officers — daily supervision, permits, inspections and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67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 Authority / MoE Operations — authorises work in live operational areas.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15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Authorized Electrical Person (AEP) / Isolation Authority — energy isolation, LOTO and energisation.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22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First aiders, fire wardens and gas testers — appointed and posted in every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7040"/>
            <a:ext cx="103632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Rule: No EHS supervision = No work.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13 of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from the moment you enter the gate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site induction and PSI before starting any work — and carry your induction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without a valid Permit to Work; no work without EHS supervision.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an LMRA before every task and attend the daily toolbox talk.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and understand the risk assessment and method statement for your task — ask if anything is unclear.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15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the mandatory minimum PPE at all times (slide 31).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632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Stay within your authorised area — never enter red or restricted zones without authorisation.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01134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your workplace clean and tidy — 'Clean everything, always.'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593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near miss, unsafe act, unsafe condition and incident.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14 of 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Working hours, competency and behaviour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Working hours: 06:00–15:00, six days per week; subcontractor hours must be approved by Siemens Energy.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Maximum 11 hours daytime / 7.5 hours night work, excluding breaks; one rest day in every seven. No fatigue working or driving.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778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competent, certified persons operate plant, equipment and electrical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horseplay, no sleeping on site, no unauthorised removal of materials (Material Gate Pass required).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33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Zero tolerance: alcohol, drugs, weapons, fighting, harassment and theft.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814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Photography and video recording on site are prohibited without written authorisation from the Site EHS/Security Manager.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6885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the site medic any illness, injury or medication that could affect your work.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15 of 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Stop Work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You are empowered — and expected — to use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Anyone — employee, contractor or visitor — may stop any task where there is imminent danger, a rule violation, a missing control or a change in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How to apply it: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62191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1. Stop the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291211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2. Intervene with the people involved — calmly and respectfully.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20230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3. Escalate to the supervisor or area authority.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49250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4. Verify and implement the required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378269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5. Restart only when authorised.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407289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6. Record the event and give positive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6308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will not be punished, prosecuted or harassed for stopping work — this is a Siemens Energy commitment.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16 of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Risk Assessment · SJA · LMRA · Management of Change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Risk assessment (RA): prepared before work starts and communicated to the team. Read it, follow the controls, never work outside its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Safe Job Analysis (SJA): required for high-risk or non-routine tasks; prepared with the crew before work starts.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7782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Last Minute Risk Assessment (LMRA): a short check before every task — What can hurt me? What has changed? Are the controls in place?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853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Hierarchy of controls: eliminate · substitute · engineering controls · administrative controls · PPE (PPE is the last line of defence).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7924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of Change: if the method, equipment, people or conditions change, stop work and revise the assessment.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7995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After any incident or high-potential near miss, the risk assessment is reviewed and updated.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17 of 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Daily Safety 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Start of shift · during work · end of shift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of shift: toolbox talk → LMRA → permit verification → PPE and equipment pre-use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During work: supervision present, barriers and signage in place, housekeeping maintained, no lone working on high-risk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End of shift: close and endorse permits, restore isolations per the LOTO register, secure the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Shift handover for isolated work: joint re-verification of permit conditions, isolation status and zero-energy state, signed by all parties.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33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 change of plan during the shift is briefed to the crew and, where required, re-approved.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18 of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System, roles and principles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permit = no work. The PTW system is administered and controlled by Siemens Energy.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4090"/>
            <a:ext cx="6731000" cy="743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work on live or operational plant and client-controlled areas, the MoE/BGC permit system and its Area/Isolation Authority take precedence.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51175"/>
            <a:ext cx="6731000" cy="743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Roles: Permit Issuer (SE) · Permit Holder (contractor supervisor) · Area Authority (operations) · Isolation Authority / AEP · EHS Reviewer · Authorized Gas Tester.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8260"/>
            <a:ext cx="6731000" cy="743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Every permit requires: approved JSA / method statement, controls verified on site, briefed working party, valid certificates and inspections.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534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EHS reviews and audits permits; technical approval belongs to the Area Authority; isolation authority belongs to the AEP.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3303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outside the scope, time or conditions stated on the permit.</a:t>
            </a:r>
          </a:p>
        </p:txBody>
      </p:sp>
      <p:pic>
        <p:nvPicPr>
          <p:cNvPr id="12" name="Picture 11" descr="03_ptw_loto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No permit — no 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19 of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types and validity on this project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96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1981200"/>
            <a:ext cx="617118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584" y="1981200"/>
            <a:ext cx="3684016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validity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23749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General Cold Work Permit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584" y="23749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616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2616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1400" y="26797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Cold Work Permit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584" y="26797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921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1400" y="29845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Hot Work &amp; Commissioning 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584" y="29845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225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3225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1400" y="32893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Energy Isolation (LOTO) Permit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6584" y="32893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3530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1400" y="35941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Hot Work Permit (welding, cutting, grinding)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584" y="35941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835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3835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41400" y="38989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Excavation &amp; Trenching Permit (over 30 cm)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6584" y="38989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4140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1400" y="42037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Lifting Permit (all lifts; engineered plan for critical lifts)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4" y="42037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445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14400" y="4445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41400" y="45085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 at Height Permit (1.8 m and above)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6584" y="45085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4749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41400" y="4813300"/>
            <a:ext cx="617118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Confined Space Entry Permit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584" y="4813300"/>
            <a:ext cx="368401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5054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14400" y="18796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20 of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Lock-Out / Tag-Out and Energy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Control every energy source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Cover all energy sources: electrical, mechanical, pneumatic, hydraulic, thermal and stored energy.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Sequence: notify → isolate → lock and tag → release stored energy → verify zero energy →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worker applies their own personal lock; keys are controlled in the lockbox by the AEP.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672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PTW validity and LOTO validity are managed separately — permit expiry never releases an isolation.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743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the AEP de-isolates, through the controlled de-isolation process and the key register.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22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remove another person's lock or tag — this is a dismissible offence.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70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Test before touch: prove the tester, prove dead, and prove the tester again.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21 of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Electrical Safety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golden rule of this project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Treat every electrical circuit as live until proven dead.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04695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Isolate the source and apply LOTO before starting any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299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an Authorized Electrical Person may isolate, de-isolate or energise.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067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Verify absence of voltage with an approved, calibrated tester — prove the tester before and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6836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insulated tools rated for the voltage; inspect them before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3605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Maintain safe approach distances at all times; respect barriers, interlocks and signage.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0374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on live equipment unless formally authorised and only under an Electrical Hot Work / Commissioning Permit.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71439"/>
            <a:ext cx="6731000" cy="248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GOLDEN RULE: ISOLATE — LOCK OUT — TAG OUT — TEST BEFORE TOUCH.</a:t>
            </a:r>
          </a:p>
        </p:txBody>
      </p:sp>
      <p:pic>
        <p:nvPicPr>
          <p:cNvPr id="14" name="Picture 13" descr="04_arc_flash_ppe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Arc-rated PPE and a marked approach boundary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22 of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Arc Flash and Safe Approach Distances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Boundaries must be approved for this site — do not use generic values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96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1981200"/>
            <a:ext cx="202590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Nominal voltage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304" y="1981200"/>
            <a:ext cx="2647696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approach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000" y="1981200"/>
            <a:ext cx="1611376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 flash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8376" y="1981200"/>
            <a:ext cx="306222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374900"/>
            <a:ext cx="202590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11 kV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1304" y="2374900"/>
            <a:ext cx="2647696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2374900"/>
            <a:ext cx="1611376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8376" y="2374900"/>
            <a:ext cx="306222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Limited / restricted approach per NFPA 70E and client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806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" y="28067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41400" y="2870200"/>
            <a:ext cx="202590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132 kV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1304" y="2870200"/>
            <a:ext cx="26476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870200"/>
            <a:ext cx="161137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8376" y="2870200"/>
            <a:ext cx="306222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Client operational rules apply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111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175000"/>
            <a:ext cx="202590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400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1304" y="3175000"/>
            <a:ext cx="2647696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000" y="3175000"/>
            <a:ext cx="1611376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8376" y="3175000"/>
            <a:ext cx="306222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Highest risk on this site — client operational rules apply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14400" y="36068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41400" y="3670300"/>
            <a:ext cx="202590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within 30 m of HV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1304" y="3670300"/>
            <a:ext cx="2647696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Agreement with plant owner + physical demarcation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000" y="3670300"/>
            <a:ext cx="1611376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8376" y="3670300"/>
            <a:ext cx="306222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Mandatory before any activity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102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14400" y="1879600"/>
            <a:ext cx="10363200" cy="22225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23 of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Working in a Live Power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Coordination with MoE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 near or on live systems is governed by the client's operational rules in addition to 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nominated Operations Manager is responsible for the installation; a Switching Supervisor controls switching.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starts without: agreed method, permit, isolation and the operational authority's confirmation that the plant condition is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Maintain physical demarcation between live and work areas; never breach a barrier or open a panel without authorisation.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333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all work during thunderstorms — cranes, lifts, scaffolding and installation work are suspended (lightning and induced voltage).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2404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contact with a conductor, any flash and any damaged insulation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6885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touch an electric-shock casualty before the supply is isolated.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24 of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 at Height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Fall protection from 1.8 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Fall protection is required from 1.8 m, or wherever a fall hazard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409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approved scaffolding, work platforms or MEWPs — with guardrails and toe boards.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177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Harness with double lanyard and shock absorber, 100% tie-off to a certified anchor point (above 22 kN).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9469"/>
            <a:ext cx="6731000" cy="743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Scaffolding: erected and altered only by certified scaffolders; green tag valid; inspected before each shift and after any alteration. Never work on a red-tagged scaffold.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6554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Ladders: short-duration work only, secured, three points of contact, no loads carried.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24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 the area below, tether tools, protect openings and edges, and never work at several levels without protection.</a:t>
            </a:r>
          </a:p>
        </p:txBody>
      </p:sp>
      <p:pic>
        <p:nvPicPr>
          <p:cNvPr id="12" name="Picture 11" descr="05_work_at_height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100% tie-off to a certified anchor point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25 of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Lifting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lift is planned and permitted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All lifts require a permit; critical lifts require a detailed engineered lifting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409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Critical lifts include: loads above 75% of rated capacity, multi-crane lifts, lifts over live plant, and non-routine rigging.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177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certified cranes and lifting tackle (third-party certificates), competent operators, riggers and banksmen.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9469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Outriggers fully extended on timber pads on firm, verified ground.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776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Exclusion zone barricaded — nobody under the load, no side pulls, no shock loading.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75455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lifting when wind exceeds 32 km/h or in poor visibility.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0375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Taglines for load control; the banksman is the only person who signals the operator.</a:t>
            </a:r>
          </a:p>
        </p:txBody>
      </p:sp>
      <p:pic>
        <p:nvPicPr>
          <p:cNvPr id="13" name="Picture 12" descr="06_lifting_operation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Barricaded exclusion zone · taglines · banksman control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26 of 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Excavation and Trenching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required beyond 30 cm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permit is required for any ground penetration deeper than 30 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0469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Obtain the signed underground utility clearance before digging; hand-dig trial pits near services and the earthing grid.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238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Protective systems — shoring, benching or sloping — are mandatory for excavations deeper than 1.2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4007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Spoil heaps set back at least 1.0 m from the edge; materials and plant kept away from the crest.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776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Barricade, sign and light all excavations; access ladders every 7.5 m for emergency egress.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7545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Inspect after rain or any ground movement; never enter an unprotected trench.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314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competent banksman controls plant movement around the excavation.</a:t>
            </a:r>
          </a:p>
        </p:txBody>
      </p:sp>
      <p:pic>
        <p:nvPicPr>
          <p:cNvPr id="13" name="Picture 12" descr="07_excavation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Shoring · spoil setback · barriers · access ladder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27 of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Confined Space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· gas test · attendant · rescue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Entry only with a Confined Space Entry Permit, trained entrants and attendants, and a rescue plan in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409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Atmospheric testing before entry and continuously during the work: oxygen, LEL, H2S and CO, by an Authorized Gas Tester.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1779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Ventilation and isolation (LOTO) in place before entry.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40074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attendant remains at the entry at all times and maintains communication with the entrant.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776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enter to rescue without breathing apparatus and the rescue team — most confined-space fatalities are would-be rescuers.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7545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Classification as a confined space is based on risk assessment of the actual conditions.</a:t>
            </a:r>
          </a:p>
        </p:txBody>
      </p:sp>
      <p:pic>
        <p:nvPicPr>
          <p:cNvPr id="12" name="Picture 11" descr="08_confined_space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Gas monitoring · attendant · retrieval equipment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28 of 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Hot Work and Fire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Sparks and flames are controlled, permitted activities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743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Hot Work Permit required for welding, cutting, grinding, soldering, thermal spraying or any activity producing sparks, flames or heat above 100 °C.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3485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Certified welder or cutter; PPE and screens to protect others.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178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blanket containment and at least 10 m clearance of combustible materials.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947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dedicated Fire Watch is present during the work and for 30 minutes after it 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47160"/>
            <a:ext cx="6731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Minimum two extinguishers and a fire blanket at the work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7545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cylinders secured upright, caps fitted, oxygen and fuel gas stored separately.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3145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test required near fuel, chemical or potentially flammable areas — never hot work in a flammable atmosphere.</a:t>
            </a:r>
          </a:p>
        </p:txBody>
      </p:sp>
      <p:pic>
        <p:nvPicPr>
          <p:cNvPr id="13" name="Picture 12" descr="09_hot_work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Fire watch · containment · 10 m clearance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29 of 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Hand and Power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right tool, inspected, used correctly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the right tool for the job; inspect before use; remove defective tools from service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Portable electrical tools: 30 mA RCD protection, undamaged armoured cables, earthing verified, no taped joints.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778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Angle grinders: guard in place, correct disc for the material, never over-speed a disc.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a full face shield (EN 166) plus safety glasses and gloves for grinding and cutting.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743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Secure the workpiece; never cut towards your body; keep hands clear of the cutting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22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loose clothing, no jewellery, no rings; tie back long hair.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70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use compressed air to clean clothing or skin.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30 of 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Manual Handling and Ergonomics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Plan the lift, not just the job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Assess the load: weight, size, grip, centre of gravity, distance and destination.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mechanical aids or ask for help — team lifts need a leader and clear commands.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Lift technique: bend the knees, keep the load close, no twisting while lifting.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Plan breaks and vary tasks to reduce repetition and strain.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pain early — discomfort today becomes an injury tomorrow.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04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Consider the environment: heat, uneven ground and confined spaces all increase the risk.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31 of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Personal Protective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Mandatory minimum on site — additional PPE per task risk assessment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96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1981200"/>
            <a:ext cx="326948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PPE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4888" y="1981200"/>
            <a:ext cx="6585712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 on this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23749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helmet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4888" y="23749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with chin strap; replaced after impact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616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2616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1400" y="26797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Flame-retardant coverall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888" y="26797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visibility class 1 (high-visibility)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921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1400" y="29845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footwear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888" y="29845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S3 / S1P, toe protection and puncture resistance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225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3225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1400" y="32893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glasses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4888" y="32893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ANSI/EN certified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3530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1400" y="35941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Protective gloves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888" y="35941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task-specific (electrical, chemical, cut-resistant)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835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3835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41400" y="38989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Hearing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4888" y="38989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above 85 dB(A) or where indicated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4140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1400" y="42037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Arc-rated PPE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888" y="42037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For electrical work — Category 2/4, face shield, insulated gloves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445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14400" y="4445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41400" y="45085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Full-body harness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4888" y="45085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Working at height — double lanyard with shock absorber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4749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41400" y="48133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Respiratory 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888" y="48133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Where dust or vapour is identified — face-fit tested (e.g. FFP3)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5054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14400" y="5054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41400" y="5118100"/>
            <a:ext cx="326948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High-visibility vest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4888" y="5118100"/>
            <a:ext cx="658571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in areas with mobile plant and vehicle movement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400" y="5359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14400" y="1879600"/>
            <a:ext cx="10363200" cy="34798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32 of 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Heat Stress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Our most predictable environmental hazard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Heat stress is managed by WBGT monitoring — monitoring starts when ambient temperature exceeds 40 °C.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4090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Published work / rest cycles apply for light, moderate and heavy work; follow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177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Acclimatisation: new arrivals and anyone returning from leave start with reduced workload and increased 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946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Drink water regularly — about 1.0 to 1.2 litres per hour for light work in high heat. Use oral rehydration salts.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4715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Shaded, ventilated rest areas and chilled drinking water are provided — use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14849"/>
            <a:ext cx="67310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Lone working is prohibited on high-risk tasks — use the buddy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82539"/>
            <a:ext cx="6731000" cy="743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Warning signs: headache, dizziness, cramps, nausea, confusion, hot dry skin, fainting. Heat stroke is a medical emergency — cool the casualty and call the medic immediately.</a:t>
            </a:r>
          </a:p>
        </p:txBody>
      </p:sp>
      <p:pic>
        <p:nvPicPr>
          <p:cNvPr id="13" name="Picture 12" descr="10_heat_stress_256x268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0" y="1676400"/>
            <a:ext cx="3251200" cy="3403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26400" y="16764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6400" y="5080000"/>
            <a:ext cx="3251200" cy="431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28000" y="51816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Shade · hydration · work-rest cycles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33 of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First Aid and Medical Emergency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nearest help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Know: your nearest first-aid point, the site medic, the emergency number and the route to the nearest hospital.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move a casualty unless there is immediate danger to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 shock: do not touch the casualty before the supply is isolated.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67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the airway open; start CPR / AED if the casualty is not breathing and you are trained.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15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Preserve the incident scene; do not disturb equipment involved in the incident.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632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Meet the ambulance at the main gate and escort it to the casualty.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01134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injury — including first-aid cases — to the EHS Department and the site medic.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5939"/>
            <a:ext cx="10363200" cy="504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Fitness for work: a valid medical certificate is required; report any condition or medication that affects your ability to work safely.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34 of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Environmental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Prevent pollution — it is part of every task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spill of oil, fuel, chemical or concrete washwater to soil, drains or watercourses.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drip trays, secondary containment, funnels and spill kits; keep spill kits stocked and accessible.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Dust suppression on unpaved roads and during cutting, grinding or excavation.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67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Control noise and vibration through plant selection and work methods; respect site noise limits.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15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Chemicals: no substance on site without a Safety Data Sheet (SDS) and registration in the electronic substance register.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22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Asbestos and PCBs are prohibited on site — report any suspected material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70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flora, fauna and heritage: no uncontrolled clearing, no hunting, no littering.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0184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environmental incidents (spills, leaks, uncontrolled emissions) immediately — they are EHS incidents.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35 of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Segregate at source — every 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Segregate waste: general · recyclable (metal, cable, paper, plastic) · hazardous · construction and demolition waste.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Hazardous waste (oils, filters, batteries, chemicals, e-waste) is stored in labelled, covered, bunded areas.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778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Hazardous waste leaves site only with MOTAT records and a licensed transporter.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burn waste, never mix hazardous with general waste, never dump into trenches or open ground.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33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Material and waste removal requires a Material Gate Pass.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81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waste areas tidy, marked and away from drains; report overflowing or damaged bins.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36 of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Fire Safety and Firefighting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Classes, extinguishers and the PASS method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Class A — wood, paper, cloth, rubber, plastics → water or foam (DCP is acceptable but less effective).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Class B — gasoline, kerosene, paint, propane → foam, DCP, CO2.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Class C — energised electrical equipment → CO2 or clean agent, plus de-energise the supply. Never use water.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Class D — metals such as magnesium, titanium and sodium → special metal powder (graphite or sodium chloride). Never water or standard DCP.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33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Class K / F — cooking oils and fats → wet chemical (camp kitchen).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814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PASS method: Pull the pin · Aim at the base of the fire · Squeeze the handle · Sweep side to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6885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For CO2 extinguishers hold the insulated horn, never the metal parts.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1365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fight a small fire if you are trained and have a clear escape route. Otherwise raise the alarm and evacuate. Always alarm first.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37 of 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Response and Evacuation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Alarm · assembly · head count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 evacuation: stop the job, isolate your equipment, proceed to the nearest assembly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your area marshal for the head count; report any missing person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67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use vehicles; do not block emergency routes; keep the gate clear for emergency services.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15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leave or return to the area until instructed by the emergency controller.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6329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For security incidents (threat, intrusion, civil disturbance) follow the same assembly principle and the security team's instructions.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70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Fire wardens sweep their areas, including visitors and subcontractor crews.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38 of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Classification and Notification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the level — and who to tell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96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1981200"/>
            <a:ext cx="1404112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9512" y="1981200"/>
            <a:ext cx="461670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0215" y="1981200"/>
            <a:ext cx="358038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2374900"/>
            <a:ext cx="1404112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512" y="2374900"/>
            <a:ext cx="461670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Minor injury or health effect, minor damage or minor environmental impact, manageable on site with site resources.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0215" y="2374900"/>
            <a:ext cx="3580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Supervisor → EHS → Site Manager (verbal immediately, written within 24 hours)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2806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280670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41400" y="2870200"/>
            <a:ext cx="1404112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9512" y="2870200"/>
            <a:ext cx="4616704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Significant event manageable locally with support from the Company or local authorities — major injury, local damage, local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0215" y="2870200"/>
            <a:ext cx="3580384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EHS → SE EHSMIP → Project Director + Client (immediately)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4988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562350"/>
            <a:ext cx="1404112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9512" y="3562350"/>
            <a:ext cx="461670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Major event or crisis beyond the contractor's control, with broader implications, requiring Company / corporate resources.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0215" y="3562350"/>
            <a:ext cx="3580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Project Director → SE Corporate / Regional Hub + Client (immediately)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39941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4400" y="399415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1400" y="4057650"/>
            <a:ext cx="1404112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Escalate immediately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9512" y="4057650"/>
            <a:ext cx="4616704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Life-threatening injury, fatality, high-potential incident, major environmental release, security crisis — never treated as a locally managed event.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0215" y="4057650"/>
            <a:ext cx="3580384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Verbal immediately · written within 24 hours · investigation report within 7 days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4686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14400" y="1879600"/>
            <a:ext cx="10363200" cy="28067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39 of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Posted at every assembly point, office and camp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96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1981200"/>
            <a:ext cx="544576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1159" y="1981200"/>
            <a:ext cx="440944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Number /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23749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EHS control room / emergency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1159" y="23749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 (24/7)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616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2616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1400" y="26797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UHF radio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1159" y="26797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Channel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921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1400" y="29845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medic / first aiders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1159" y="29845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225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3225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1400" y="32893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Contractor emergency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1159" y="32893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0785-285-7404 · 0786-162-9706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3530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1400" y="35941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Siemens Energy emergency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159" y="35941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+90 533 625 9494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835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3835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41400" y="38989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Ambulance (Iraq)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159" y="38989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122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4140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1400" y="42037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Civil Defence / Fire (Iraq)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159" y="42037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115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445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14400" y="4445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41400" y="45085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Police (Iraq)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1159" y="45085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104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4749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41400" y="4813300"/>
            <a:ext cx="544576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Nearest hospital / medevac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1159" y="4813300"/>
            <a:ext cx="440944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5054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14400" y="18796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40 of 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Incident, Near Miss and Unsafe Condition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Report immediately — reporting is protected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all injuries (including first aid), near misses, unsafe acts, unsafe conditions, property damage, environmental releases and security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through your supervisor and the EHS Department; incidents are recorded in the Siemens Energy EHS reporting tool (Enablon).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778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Timelines: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22262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Verbal notification —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51282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Written notification — within 24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803015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Investigation report — within 7 days (unless an extension is agreed).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4093210"/>
            <a:ext cx="1016000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Corrective action status — reported weekly until closed.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340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formal investigation team is formed by the Contractor, the Company and subcontractors; root causes and actions are documented.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411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withhold information, alter the scene or delay reporting. Honest reporting carries no blame.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41 of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from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event makes the site safer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Lessons Learned and safety alerts are issued after incidents and high-potential near misses.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lesson triggers a risk assessment review, a toolbox talk and verification that controls are effective.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conduct Eye on Safety reviews and its own investigations.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672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you are involved in or witness a serious incident: preserve the scene, cooperate fully and provide a written statement.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743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Share your experience — it prevents the next accident.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42 of 48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Security and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Everyone is searched — everyone is protected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Site and camps are protected by the Iraqi Police and site security; persons, belongings, vehicles and deliveries may be searched on entry and exit.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71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your Site ID / Gate Pass visibly at all times; access without it is refused.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191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Visitors: pre-approval 24 hours in advance, photo ID deposited at the gate, escorted by a host at all times; no work, no plant operation, no photography.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2625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unauthorised access, theft, suspicious persons or vehicles, security breaches or threats.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333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Lost or damaged ID card must be reported; a replacement fee applies.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814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Security personnel are authorised to carry weapons — cooperate calmly and follow their instructions.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6885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resist or interfere with security checks; the minimum age for site access is 18 years.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43 of 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Driving Safety and Journey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road is our highest-risk journey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Seat belts for all occupants, in every vehicle, at all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 Iraqi driving licence for the vehicle class; only authorised drivers and vehicles.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Site speed limit: 5 km/h. Obey traffic signs, signals and marshals.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mobile phone use while driving — including hands-free. No other distractions.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Reverse parking only in designated areas; reversing requires a trained banksman.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04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Daily pre-use checks and valid third-party inspection certificates for all vehicles.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5229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Journey management: plan the route, rest at least every two hours, no night driving without approval, no driving when tired.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594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Driving is restricted in adverse weather — fog, heavy rain and dust storms.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44 of 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Violations and Penalties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Consequences are applied consistently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96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1981200"/>
            <a:ext cx="2647696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096" y="1981200"/>
            <a:ext cx="2440432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1st offence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7528" y="1981200"/>
            <a:ext cx="2233168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2nd offence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4696" y="1981200"/>
            <a:ext cx="2025904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3rd offence /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374900"/>
            <a:ext cx="26476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Speeding (over 5 km/h)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3096" y="2374900"/>
            <a:ext cx="244043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Warning + 2-day vehicle 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7528" y="2374900"/>
            <a:ext cx="22331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1-week vehicle and driver 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4696" y="2374900"/>
            <a:ext cx="202590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616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" y="26162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41400" y="2679700"/>
            <a:ext cx="2647696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PPE non-compliance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096" y="2679700"/>
            <a:ext cx="2440432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written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7528" y="2679700"/>
            <a:ext cx="2233168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Contractor 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4696" y="2679700"/>
            <a:ext cx="202590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ID cancellation and site removal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111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175000"/>
            <a:ext cx="26476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Red zone / LOTO breach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3096" y="3175000"/>
            <a:ext cx="244043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+ 1-week suspension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7528" y="3175000"/>
            <a:ext cx="22331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4696" y="3175000"/>
            <a:ext cx="202590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expulsion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3416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14400" y="34163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41400" y="3479800"/>
            <a:ext cx="26476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Lost or damaged ID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3096" y="3479800"/>
            <a:ext cx="244043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Replacement fee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7528" y="3479800"/>
            <a:ext cx="22331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4696" y="3479800"/>
            <a:ext cx="202590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3721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3784600"/>
            <a:ext cx="26476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Positive alcohol / drugs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43096" y="3784600"/>
            <a:ext cx="244043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Immediate permanent site ban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7528" y="3784600"/>
            <a:ext cx="22331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4696" y="3784600"/>
            <a:ext cx="202590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4025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14400" y="40259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1400" y="4089400"/>
            <a:ext cx="26476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material removal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43096" y="4089400"/>
            <a:ext cx="244043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Confiscation and investigation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7528" y="4089400"/>
            <a:ext cx="22331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4696" y="4089400"/>
            <a:ext cx="202590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400" y="4330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41400" y="4394200"/>
            <a:ext cx="26476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photography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43096" y="4394200"/>
            <a:ext cx="244043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Media deletion and warning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37528" y="4394200"/>
            <a:ext cx="22331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4696" y="4394200"/>
            <a:ext cx="202590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4635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14400" y="1879600"/>
            <a:ext cx="10363200" cy="27559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0" name="Connector 49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45 of 48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10 questions — pass mark 80%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What is the site speed limit, and when is a banksman required?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At what height does fall protection become mandatory?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When is a protective system required for an excavation?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Which gases are tested before confined space entry?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562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What is the maximum wind speed for lifting operations?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042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Which extinguisher would you use on an energised electrical panel fire?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522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What are the reporting deadlines for an incident?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0034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What must you do before touching any electrical conductor?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39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What are the official emergency numbers in Iraq?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79644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What happens if you stop work because you believe it is unsafe?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46 of 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Induction Card and Acknowledgement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52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Before you leave this room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371600"/>
            <a:ext cx="1219200" cy="0"/>
          </a:xfrm>
          <a:prstGeom prst="line">
            <a:avLst/>
          </a:prstGeom>
          <a:ln w="2794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7640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Collect your numbered induction card — valid 12 months, must be carried and shown on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1205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Sign the attendance and acknowledgement register.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6010"/>
            <a:ext cx="10363200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card does not replace the Permit to Work, PSI, Safe Start or task-specific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0815"/>
            <a:ext cx="10363200" cy="793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Acknowledgement: 'I attended the KAZ Management &amp; Staff EHS Induction, I understood its content, and I accept that compliance with safety rules, permits and Stop Work Authority is a condition of my access to this site.'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7430"/>
            <a:ext cx="10363200" cy="537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  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content gaps or unclear points to the EHS Department — this induction is reviewed regularly.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6350000"/>
            <a:ext cx="103632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64516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02 · Management &amp; Staff EHS Induction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47 of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686800" y="304800"/>
            <a:ext cx="32004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iemens_energy_236x68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00" y="381000"/>
            <a:ext cx="2997200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13000"/>
            <a:ext cx="1041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Everyone Goes Home Safely —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8800"/>
            <a:ext cx="1041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FD8D8"/>
                </a:solidFill>
                <a:latin typeface="Calibri"/>
              </a:rPr>
              <a:t>Zero Harm · We take care of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100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Questions? Contact the EHS Department — UHF Channel 1 / Site EHS control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418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Thank you for your attention and for the work you do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80000"/>
            <a:ext cx="10363200" cy="5080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6800" y="5207000"/>
            <a:ext cx="10058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6900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D8D8"/>
                </a:solidFill>
                <a:latin typeface="Calibri"/>
              </a:rPr>
              <a:t>Zero Harm — every person, every task, every day.</a:t>
            </a:r>
          </a:p>
        </p:txBody>
      </p:sp>
      <p:pic>
        <p:nvPicPr>
          <p:cNvPr id="13" name="Picture 12" descr="almial_120x27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451600"/>
            <a:ext cx="15240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