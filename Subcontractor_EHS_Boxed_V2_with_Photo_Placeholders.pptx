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BF"/>
                </a:solidFill>
                <a:latin typeface="Calibri"/>
              </a:defRPr>
            </a:pPr>
            <a:r>
              <a:t>SIEMENS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B900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SUBCONTRACTOR EHS NON-COMPLIANCE &amp; SAFETY VIOLATION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BF"/>
                </a:solidFill>
                <a:latin typeface="Calibri"/>
              </a:defRPr>
            </a:pPr>
            <a:r>
              <a:t>BOXED FORMAT WITH PHOTO PLACEHOLDERS / نسخة مقسمة بخانات وأماكن صور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6E6"/>
                </a:solidFill>
                <a:latin typeface="Calibri"/>
              </a:defRPr>
            </a:pPr>
            <a:r>
              <a:t>Project: KAZ Power Plant Upgrade</a:t>
            </a:r>
            <a:br/>
            <a:r>
              <a:t>Ref: SE-EHS-NC-2026-001 BOXED V2</a:t>
            </a:r>
            <a:br/>
            <a:r>
              <a:t>Date: September 2026</a:t>
            </a:r>
            <a:br/>
            <a:r>
              <a:t>Prepared by: EHS Manager - Siemens Energy</a:t>
            </a:r>
            <a:br/>
            <a:br/>
            <a:r>
              <a:t>FORMAT:</a:t>
            </a:r>
            <a:br/>
            <a:r>
              <a:t>• Each slide = 5 Boxes</a:t>
            </a:r>
            <a:br/>
            <a:r>
              <a:t>• Box 1: Non-Compliance Details</a:t>
            </a:r>
            <a:br/>
            <a:r>
              <a:t>• Box 2 &amp; 3: Photo Evidence Placeholders (2 photos per violation)</a:t>
            </a:r>
            <a:br/>
            <a:r>
              <a:t>• Box 4: Risk Level</a:t>
            </a:r>
            <a:br/>
            <a:r>
              <a:t>• Box 5: Corrective Action + Standard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017520"/>
            <a:ext cx="4846320" cy="2926080"/>
          </a:xfrm>
          <a:prstGeom prst="rect">
            <a:avLst/>
          </a:prstGeom>
          <a:solidFill>
            <a:srgbClr val="143D4E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900"/>
                </a:solidFill>
                <a:latin typeface="Calibri"/>
              </a:defRPr>
            </a:pPr>
            <a:r>
              <a:t>HOW TO USE THIS TEMPLATE / كيفية الاستخدام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918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1. لكل مخالفة، يوجد 5 خانات واضحة</a:t>
            </a:r>
            <a:br/>
            <a:r>
              <a:t>2. خانة 1: اكتب تفاصيل المخالفة + الموقع + التاريخ</a:t>
            </a:r>
            <a:br/>
            <a:r>
              <a:t>3. خانة 2 و 3: اسحب صورتين من الموقع وألصقهما هنا</a:t>
            </a:r>
            <a:br/>
            <a:r>
              <a:t>   - صورة 1: نظرة عامة</a:t>
            </a:r>
            <a:br/>
            <a:r>
              <a:t>   - صورة 2: تفاصيل قريبة / زاوية أخرى</a:t>
            </a:r>
            <a:br/>
            <a:r>
              <a:t>4. خانة 4: مستوى الخطورة تلقائياً ملون</a:t>
            </a:r>
            <a:br/>
            <a:r>
              <a:t>5. خانة 5: الإجراءات التصحيحية + المرجع القانوني</a:t>
            </a:r>
            <a:br/>
            <a:br/>
            <a:r>
              <a:t>DESIGN:</a:t>
            </a:r>
            <a:br/>
            <a:r>
              <a:t>• Deep Teal #0E2F3E background</a:t>
            </a:r>
            <a:br/>
            <a:r>
              <a:t>• White boxes for actions</a:t>
            </a:r>
            <a:br/>
            <a:r>
              <a:t>• Red for CRITICAL, Amber for HIGH</a:t>
            </a:r>
            <a:br/>
            <a:r>
              <a:t>• Photo boxes have [INSERT PHOTO HERE] placeholder</a:t>
            </a:r>
            <a:br/>
            <a:r>
              <a:t>• Just drag &amp; drop your site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Zero Harm is Non-Negotiable | 5 Boxes Per Slide | 2 Photos Per Violation | Ready for Management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01 - UNAUTHORIZED WORK - WITHOUT PERMIT TO WORK (PTW)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أعمال بدون تصريح عمل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Location: [Add Area] - Date: [Add Date]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Activity: Excavation / Mechanical / Hot Work without approved PTW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No TRA review, no isolation, no SIMOPS check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PTW logbook not maintained, permit not displayed at work front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Reference: SE EHS General Requirements Sec 5.3, KAZ EHS Plan Sec 7.2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Work activity without PTW display</a:t>
            </a:r>
            <a:br/>
            <a:br/>
            <a:r>
              <a:t>[ INSERT PHOTO HERE ]</a:t>
            </a:r>
            <a:br/>
            <a:br/>
            <a:r>
              <a:t>Fig 01.1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PTW Logbook / Missing permit at site</a:t>
            </a:r>
            <a:br/>
            <a:br/>
            <a:r>
              <a:t>[ INSERT PHOTO HERE ]</a:t>
            </a:r>
            <a:br/>
            <a:br/>
            <a:r>
              <a:t>Fig 01.2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Fatality, fire/explosion, loss of control. Breach of ISO 45001 Cl 8.1.2. Authority may issue prohibition notice.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STOP WORK immediately - secure area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Re-training PTW for all supervisors in 24h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Issue NCR Level 1 + warning letter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Daily PTW audit for 14 days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3-strikes removal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01 | SE-EHS-NC-2026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02 - SITE ACCESS &amp; INDUCTION - WITHOUT EHS INDUCTION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دخول موقع بدون تدريب السلامة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No. of persons: [8-12] found working without induction card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Gate register vs actual headcount mismatch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induction sticker / QR verification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KAZ EHS Plan Sec 6.1, Local labor law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System failure: Security-EHS interface weak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Workers without induction cards</a:t>
            </a:r>
            <a:br/>
            <a:br/>
            <a:r>
              <a:t>[ INSERT PHOTO HERE ]</a:t>
            </a:r>
            <a:br/>
            <a:br/>
            <a:r>
              <a:t>Fig 02.1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Gate register / Induction cards check</a:t>
            </a:r>
            <a:br/>
            <a:br/>
            <a:r>
              <a:t>[ INSERT PHOTO HERE ]</a:t>
            </a:r>
            <a:br/>
            <a:br/>
            <a:r>
              <a:t>Fig 02.2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Workers unaware of hazards, emergency assembly, life-saving rules. Risk of unsafe acts + regulatory stoppage. ISO 45001 Cl 7.2/7.3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Remove all non-inducted personnel now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100% gate check - Security + EHS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Submit manpower list vs induction in 12h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QR/Biometric tracking system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Back-charge re-induction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02 | SE-EHS-NC-2026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03 - PPE NON-COMPLIANCE - FAILURE TO WEAR MANDATORY PPE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عدم ارتداء معدات الحماية الشخصية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 | خطر: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PPE missing: Helmet chin strap, safety glasses, gloves, hi-vis vest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Location: [Add location] - Work: [Add task]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Supervision present but not enforcing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PPE available in store - behavioral failure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SE Life Saving Rule #3, EN 397/166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PPE violation - wide shot</a:t>
            </a:r>
            <a:br/>
            <a:br/>
            <a:r>
              <a:t>[ INSERT PHOTO HERE ]</a:t>
            </a:r>
            <a:br/>
            <a:br/>
            <a:r>
              <a:t>Fig 03.1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PPE violation - close-up + supervisor present</a:t>
            </a:r>
            <a:br/>
            <a:br/>
            <a:r>
              <a:t>[ INSERT PHOTO HERE ]</a:t>
            </a:r>
            <a:br/>
            <a:br/>
            <a:r>
              <a:t>Fig 03.2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900"/>
                </a:solidFill>
                <a:latin typeface="Calibri"/>
              </a:defRPr>
            </a:pPr>
            <a:r>
              <a:t>⚠️ BOX 4: RISK LEVEL - HIGH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Head injury, eye injury, hand cuts, struck-by. Weak safety culture. Increases LTIFR/TRIR.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On-spot correction + TBT with photos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Issue Observation Card + violation notice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Daily PPE checks - start of shift + random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Link PPE to KPI &amp; payment milestone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Supervisor accountability - 3 strikes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03 | SE-EHS-NC-2026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04 - EXCAVATION SAFETY - INADEQUATE HARD BARRICADES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أعمال حفر بدون حواجز صلبة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Depth: [1.2m - 2.5m] - No hard barricade, only loose tape (prohibited)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edge protection, no ladder for access/egress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Spoil pile within 1m of edge - surcharge risk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reflective markers / lighting at night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OSHA 1926 Subpart P, SE-GEN-EHS-007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Excavation without hard barricade - full view</a:t>
            </a:r>
            <a:br/>
            <a:br/>
            <a:r>
              <a:t>[ INSERT PHOTO HERE ]</a:t>
            </a:r>
            <a:br/>
            <a:br/>
            <a:r>
              <a:t>Fig 04.1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Spoil pile too close + no ladder - close view</a:t>
            </a:r>
            <a:br/>
            <a:br/>
            <a:r>
              <a:t>[ INSERT PHOTO HERE ]</a:t>
            </a:r>
            <a:br/>
            <a:br/>
            <a:r>
              <a:t>Fig 04.2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Fatal fall, cave-in engulfment, vehicle fall. High-risk activity - MAH. Authority prohibition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IMMEDIATE hard barricade - scaffold tubes / concrete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Ladders every 7.5m + spoil 1.5m away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Excavation permit re-validation + geotech check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Reflective delineators + solar lights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Competent person checklist daily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04 | SE-EHS-NC-2026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05 - DIRECTIVES NON-COMPLIANCE - FAILURE TO FOLLOW EHS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عدم الالتزام بتعليمات السلامة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 | خطر: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Date of instruction: [Add date] - Instruction: [Add details]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TBT not conducted / no attendance sheet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Previous NCRs closed without evidence - falsification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Verbal + written instructions ignored - documented in daily report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ISO 45001 Cl 7.3 &amp; 8.1 - Willful disregard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Evidence of ignored instruction (e.g., open excavation)</a:t>
            </a:r>
            <a:br/>
            <a:br/>
            <a:r>
              <a:t>[ INSERT PHOTO HERE ]</a:t>
            </a:r>
            <a:br/>
            <a:br/>
            <a:r>
              <a:t>Fig 05.1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TBT register missing / NCR closure without evidence</a:t>
            </a:r>
            <a:br/>
            <a:br/>
            <a:r>
              <a:t>[ INSERT PHOTO HERE ]</a:t>
            </a:r>
            <a:br/>
            <a:br/>
            <a:r>
              <a:t>Fig 05.2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900"/>
                </a:solidFill>
                <a:latin typeface="Calibri"/>
              </a:defRPr>
            </a:pPr>
            <a:r>
              <a:t>⚠️ BOX 4: RISK LEVEL - HIGH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Erosion of EHS authority, culture failure. If directives optional, all critical controls (LOTO, WAH) will fail.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Formal letter to Subcontractor MD - written commitment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Daily EHS Directives Log - sign-off PM + EHS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Leadership stand-down with all foremen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Link to contractual penalty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Weekly scorecard in PM meeting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05 | SE-EHS-NC-2026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06 - TRAFFIC &amp; SIGNAGE - MISSING / DAMAGED SAFETY 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إشارات مرورية وتحذيرية مفقودة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 | خطر: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Missing: Speed limit (15 km/h), parking, pedestrian walkway signs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flagmen at intersections / blind spots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Speeding observed: 30 km/h in 15 km/h zone - radar check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Pedestrian routes not marked / segregated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Project TMP, ISO 39001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Missing / damaged speed limit sign</a:t>
            </a:r>
            <a:br/>
            <a:br/>
            <a:r>
              <a:t>[ INSERT PHOTO HERE ]</a:t>
            </a:r>
            <a:br/>
            <a:br/>
            <a:r>
              <a:t>Fig 06.1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No pedestrian segregation + speeding area</a:t>
            </a:r>
            <a:br/>
            <a:br/>
            <a:r>
              <a:t>[ INSERT PHOTO HERE ]</a:t>
            </a:r>
            <a:br/>
            <a:br/>
            <a:r>
              <a:t>Fig 06.2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900"/>
                </a:solidFill>
                <a:latin typeface="Calibri"/>
              </a:defRPr>
            </a:pPr>
            <a:r>
              <a:t>⚠️ BOX 4: RISK LEVEL - HIGH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Vehicle-pedestrian collision, equipment damage, fatality - Top 3 fatality cause. Emergency access 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Reinstate all signs - retro-reflective grade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Pedestrian routes with Jersey barriers + green paint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Deploy flagmen + radar checks 2x daily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Traffic safety campaign + driver re-induction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EHS + Logistics joint daily inspection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06 | SE-EHS-NC-2026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07 - WASTE MANAGEMENT - NO SEGREGATION &amp; LABELING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عدم فرز النفايات ووضع ملصقات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 | خطر: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Waste mixed: Hazardous + recyclable + general in same skip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color-coding, no labeling, no MSDS for haz waste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Oil rags / filters in general waste - fire + env violation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Location: [Add waste area location]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ISO 14001 Cl 8.1, Project Waste Plan, EPA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Mixed waste in one container - overview</a:t>
            </a:r>
            <a:br/>
            <a:br/>
            <a:r>
              <a:t>[ INSERT PHOTO HERE ]</a:t>
            </a:r>
            <a:br/>
            <a:br/>
            <a:r>
              <a:t>Fig 07.1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Oil-contaminated rags in general waste - close-up</a:t>
            </a:r>
            <a:br/>
            <a:br/>
            <a:r>
              <a:t>[ INSERT PHOTO HERE ]</a:t>
            </a:r>
            <a:br/>
            <a:br/>
            <a:r>
              <a:t>Fig 07.2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900"/>
                </a:solidFill>
                <a:latin typeface="Calibri"/>
              </a:defRPr>
            </a:pPr>
            <a:r>
              <a:t>⚠️ BOX 4: RISK LEVEL - HIGH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Soil/groundwater pollution, fire from incompatible mixing, regulatory fine, reputational damage, sustainability KPI failure.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Provide color-coded skips: Black-General, Green-Recyclable, Red-Haz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Clean-up &amp; correct segregation under EHS supervision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Training on hazardous waste + manifest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Appoint Waste Focal Point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Weekly waste audit + disposal manifests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07 | SE-EHS-NC-2026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08 - EQUIPMENT INTEGRITY - OIL &amp; FUEL LEAKS FROM MACHINERY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تسريب زيوت ووقود من المعدات الثقيلة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Equipment: Excavator CAT 320 / Loader [Add ID] - active leak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Leak type: Hydraulic oil / fuel - dripping observed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drip trays, soil contamination ~5 sqm under parking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maintenance records, checklist falsified - same signature 7 days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Violation: PUWER, SE Equipment Standard, ISO 14001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Active oil leak under equipment - with drip</a:t>
            </a:r>
            <a:br/>
            <a:br/>
            <a:r>
              <a:t>[ INSERT PHOTO HERE ]</a:t>
            </a:r>
            <a:br/>
            <a:br/>
            <a:r>
              <a:t>Fig 08.1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Soil contamination + missing drip tray - parking area</a:t>
            </a:r>
            <a:br/>
            <a:br/>
            <a:r>
              <a:t>[ INSERT PHOTO HERE ]</a:t>
            </a:r>
            <a:br/>
            <a:br/>
            <a:r>
              <a:t>Fig 08.2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Fire/explosion (fuel on hot surface), slip, soil pollution, equipment failure loss of control. Maintenance system breakdown.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Ground equipment - Tag DO NOT USE, remove keys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Excavate contaminated soil as haz waste + absorbents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Submit maintenance history + 3rd party cert in 48h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Daily checklist verified by SE + photo of no leak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Drip trays + spill kits at all parking zones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08 | SE-EHS-NC-2026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09 - HAZARDOUS MATERIAL - DIESEL STORAGE WITHOUT BUNDING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خزن الديزل بدون حوض احتواء ثانوي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Diesel storage: 2000L (2x IBC) - no secondary containment / bunding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110% capacity bund, no impervious base, bare ground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fire extinguisher, no HAZCHEM sign, no spill kit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No earthing/bonding for fuel transfer - static risk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Ignition source 10m away (welding) - Violation HSG 176, SE-ENV-003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Diesel tanks without bunding - overview</a:t>
            </a:r>
            <a:br/>
            <a:br/>
            <a:r>
              <a:t>[ INSERT PHOTO HERE ]</a:t>
            </a:r>
            <a:br/>
            <a:br/>
            <a:r>
              <a:t>Fig 09.1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Bare ground + no fire extinguisher / signage - close-up</a:t>
            </a:r>
            <a:br/>
            <a:br/>
            <a:r>
              <a:t>[ INSERT PHOTO HERE ]</a:t>
            </a:r>
            <a:br/>
            <a:br/>
            <a:r>
              <a:t>Fig 09.2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Major fire/explosion, catastrophic env release, soil pollution, prosecution, MAH pool fire. Immediate danger to life.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STOP fueling - 15m exclusion + fire watch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Compliant bund: 110%, concrete floor, roofed, ventilated, 15m from drains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Install 2x 9kg DCP + foam, HAZCHEM, 150L spill kit, earthing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Fuel Handling SOP + emergency drill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Location approved by SE EHS + risk assessment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09 | SE-EHS-NC-2026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10 - RECURRING VIOLATIONS - PERSISTENT PPE VIOLATIONS AFTER WARNINGS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FBF"/>
                </a:solidFill>
                <a:latin typeface="Calibri"/>
              </a:defRPr>
            </a:pPr>
            <a:r>
              <a:t>مخالفات متكررة رغم التحذيرات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 | خطر: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BF"/>
                </a:solidFill>
                <a:latin typeface="Calibri"/>
              </a:defRPr>
            </a:pPr>
            <a:r>
              <a:t>📋 BOX 1: NON-COMPLIANCE DETAILS / خانة تفاصيل المخالفة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Same workgroup - 3 warnings + 5 Obs cards + 2 NCRs in 14 days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Trend: 60% increase (5 to 12 per week) - Daily EHS Reports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Intentional non-compliance, not lack of awareness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Subcontractor not enforcing disciplinary procedure per contract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• Indicates normalization of deviance - cultural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2: PHOTO EVIDENCE 1 / صورة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1: Repeat PPE violation - same crew</a:t>
            </a:r>
            <a:br/>
            <a:br/>
            <a:r>
              <a:t>[ INSERT PHOTO HERE ]</a:t>
            </a:r>
            <a:br/>
            <a:br/>
            <a:r>
              <a:t>Fig 10.1</a:t>
            </a:r>
            <a:br/>
            <a:br/>
            <a:r>
              <a:t>Add: Date, Time, Location, GPS if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B900"/>
                </a:solidFill>
                <a:latin typeface="Calibri"/>
              </a:defRPr>
            </a:pPr>
            <a:r>
              <a:t>📷 BOX 3: PHOTO EVIDENCE 2 / صورة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PHOTO 2: Trend chart / NCR log showing increase</a:t>
            </a:r>
            <a:br/>
            <a:br/>
            <a:r>
              <a:t>[ INSERT PHOTO HERE ]</a:t>
            </a:r>
            <a:br/>
            <a:br/>
            <a:r>
              <a:t>Fig 10.2</a:t>
            </a:r>
            <a:br/>
            <a:br/>
            <a:r>
              <a:t>Add: Close-up / Different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⚠️ BOX 4: RISK LEVEL - CRITICAL / خانة مستوى الخطورة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6E6E6"/>
                </a:solidFill>
                <a:latin typeface="Calibri"/>
              </a:defRPr>
            </a:pPr>
            <a:r>
              <a:t>Precursor to fatality (Heinrich triangle). Total failure of safety leadership. If PPE (last defense) ignored, higher controls will fail. Client confidence at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2430"/>
                </a:solidFill>
                <a:latin typeface="Calibri"/>
              </a:defRPr>
            </a:pPr>
            <a:r>
              <a:t>✅ BOX 5: REQUIRED CORRECTIVE ACTION / خانة الإجراءات التصحيحية + STANDARD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1. Contractual penalty + stop work repeat crew + PM presents plan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2. Remove/replace supervision - CVs + competency interview by SE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3. BBS program - daily observations + feedback + recognition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4. Daily management safety walks - SE PM + Sub PM</a:t>
            </a:r>
          </a:p>
          <a:p>
            <a:pPr>
              <a:spcAft>
                <a:spcPts val="300"/>
              </a:spcAft>
              <a:defRPr sz="950">
                <a:solidFill>
                  <a:srgbClr val="082430"/>
                </a:solidFill>
                <a:latin typeface="Calibri"/>
              </a:defRPr>
            </a:pPr>
            <a:r>
              <a:t>5. Prepare partial termination / back-charge if no improvement in 7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📚 STANDARD REF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with Photo Placeholders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10 | SE-EHS-NC-2026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 PLAN &amp; MANAGEMENT DECISION MATRIX - BOXED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3840480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🔴 BOX A: IMMEDIATE (0-24h) / فوري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3840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2430"/>
                </a:solidFill>
                <a:latin typeface="Calibri"/>
              </a:defRPr>
            </a:pPr>
            <a:r>
              <a:t>• STOP WORK all critical violations</a:t>
            </a:r>
            <a:br/>
            <a:r>
              <a:t>• Secure areas - hard barricade + fire watch</a:t>
            </a:r>
            <a:br/>
            <a:r>
              <a:t>• Remove non-inducted personnel</a:t>
            </a:r>
            <a:br/>
            <a:r>
              <a:t>• Ground leaking equipment - Tag Out</a:t>
            </a:r>
            <a:br/>
            <a:r>
              <a:t>• Issue NCR Level 1 &amp; 2 + warning letter</a:t>
            </a:r>
            <a:br/>
            <a:r>
              <a:t>• Emergency meeting - Subcontractor MD in 24h</a:t>
            </a:r>
            <a:br/>
            <a:br/>
            <a:r>
              <a:t>PHOTO BOX: [Insert photo of stop work / secured area]</a:t>
            </a:r>
            <a:br/>
            <a:br/>
            <a:r>
              <a:t>DECISION NEEDED: Approve Stop-Work Authority to EHS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840480" cy="3657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005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2430"/>
                </a:solidFill>
                <a:latin typeface="Calibri"/>
              </a:defRPr>
            </a:pPr>
            <a:r>
              <a:t>🟡 BOX B: SHORT-TERM (1-7 Days) / قصير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840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2430"/>
                </a:solidFill>
                <a:latin typeface="Calibri"/>
              </a:defRPr>
            </a:pPr>
            <a:r>
              <a:t>• PTW Audit + Re-Training all supervisors</a:t>
            </a:r>
            <a:br/>
            <a:r>
              <a:t>• Diesel storage - 110% bund + fire extinguishers</a:t>
            </a:r>
            <a:br/>
            <a:r>
              <a:t>• Traffic signs - retro-reflective + flagmen</a:t>
            </a:r>
            <a:br/>
            <a:r>
              <a:t>• Waste - color-coded skips + training</a:t>
            </a:r>
            <a:br/>
            <a:r>
              <a:t>• Excavation - hard barricades + ladders</a:t>
            </a:r>
            <a:br/>
            <a:r>
              <a:t>• PPE Campaign + BBS Launch</a:t>
            </a:r>
            <a:br/>
            <a:r>
              <a:t>• EHS Directives Log - daily sign-off</a:t>
            </a:r>
            <a:br/>
            <a:br/>
            <a:r>
              <a:t>PHOTO BOX: [Insert after-correction photos]</a:t>
            </a:r>
            <a:br/>
            <a:br/>
            <a:r>
              <a:t>DECISION: Approve $15k cost - back-charge to sub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05840"/>
            <a:ext cx="3749039" cy="365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🟢 BOX C: STRATEGIC (7-30 Days) / استراتيجي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2430"/>
                </a:solidFill>
                <a:latin typeface="Calibri"/>
              </a:defRPr>
            </a:pPr>
            <a:r>
              <a:t>• Penalty matrix linked to KPIs (TRIR, NCR closure)</a:t>
            </a:r>
            <a:br/>
            <a:r>
              <a:t>• Replace non-performing supervisors - competency check</a:t>
            </a:r>
            <a:br/>
            <a:r>
              <a:t>• QR/Biometric induction + digital PTW app</a:t>
            </a:r>
            <a:br/>
            <a:r>
              <a:t>• Weekly dashboard Red/Amber/Green to Top Mgmt</a:t>
            </a:r>
            <a:br/>
            <a:r>
              <a:t>• 3rd party EHS audit ISO 45001/14001</a:t>
            </a:r>
            <a:br/>
            <a:r>
              <a:t>• Re-sign Life Saving Rules - Townhall</a:t>
            </a:r>
            <a:br/>
            <a:r>
              <a:t>• Demobilization / replacement contingency plan</a:t>
            </a:r>
            <a:br/>
            <a:br/>
            <a:r>
              <a:t>PHOTO BOX: [Insert dashboard / training photos]</a:t>
            </a:r>
            <a:br/>
            <a:br/>
            <a:r>
              <a:t>DECISION: Authorize partial termination if recur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5212080"/>
            <a:ext cx="11887200" cy="1371600"/>
          </a:xfrm>
          <a:prstGeom prst="rect">
            <a:avLst/>
          </a:prstGeom>
          <a:solidFill>
            <a:srgbClr val="143D4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21208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900"/>
                </a:solidFill>
                <a:latin typeface="Calibri"/>
              </a:defRPr>
            </a:pPr>
            <a:r>
              <a:t>✅ BOX D: MANAGEMENT DECISION MATRIX - REQUIRED TODAY / مصفوفة قرارات الإدارة المطلوبة اليوم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48640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1. Approve IMMEDIATE Stop-Work Authority to EHS for Critical Violations [ ] Yes [ ] No  |  2. Authorize Formal Contractual Warning &amp; Penalty Enforcement [ ] Yes [ ] No  |  3. Mandate Subcontractor Top Management On-Site within 48h [ ] Yes [ ] No  |  4. Approve Budget for Additional EHS Controls - Back-charge to Subcontractor [ ] Yes [ ] No  |  5. Endorse Zero Tolerance Policy: 3 Strikes = Removal - Communicate in Townhall [ ] Yes [ ] No</a:t>
            </a:r>
            <a:br/>
            <a:br/>
            <a:r>
              <a:t>Signature: _________________  Project Director  Date: _______  |  Signature: _________________  Construction Manager 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