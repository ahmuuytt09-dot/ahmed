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BF"/>
                </a:solidFill>
                <a:latin typeface="Calibri"/>
              </a:defRPr>
            </a:pPr>
            <a:r>
              <a:t>SIEMENS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B900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SUBCONTRACTOR EHS NON-COMPLIANCE &amp; SAFETY VIOLATION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BF"/>
                </a:solidFill>
                <a:latin typeface="Calibri"/>
              </a:defRPr>
            </a:pPr>
            <a:r>
              <a:t>BOXED FORMAT WITH PHOTO PLACEHOLDERS - ENGLISH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6E6"/>
                </a:solidFill>
                <a:latin typeface="Calibri"/>
              </a:defRPr>
            </a:pPr>
            <a:r>
              <a:t>Project: KAZ Power Plant Upgrade Project</a:t>
            </a:r>
            <a:br/>
            <a:r>
              <a:t>Reference: SE-EHS-NC-2026-001 BOXED V3 ENGLISH</a:t>
            </a:r>
            <a:br/>
            <a:r>
              <a:t>Date: September 2026</a:t>
            </a:r>
            <a:br/>
            <a:r>
              <a:t>Prepared by: EHS Manager - Siemens Energy</a:t>
            </a:r>
            <a:br/>
            <a:r>
              <a:t>Classification: Confidential - Management Eyes Only</a:t>
            </a:r>
            <a:br/>
            <a:br/>
            <a:r>
              <a:t>FORMAT OVERVIEW:</a:t>
            </a:r>
            <a:br/>
            <a:r>
              <a:t>• 12 Slides Total</a:t>
            </a:r>
            <a:br/>
            <a:r>
              <a:t>• Each Observation Slide = 5 Distinct Boxes</a:t>
            </a:r>
            <a:br/>
            <a:r>
              <a:t>• Box 1: Non-Compliance Details (with location/date fields)</a:t>
            </a:r>
            <a:br/>
            <a:r>
              <a:t>• Box 2 &amp; 3: Photo Evidence Placeholders - 2 photos per violation</a:t>
            </a:r>
            <a:br/>
            <a:r>
              <a:t>• Box 4: Risk Level &amp; Impact (Red=Critical, Amber=High)</a:t>
            </a:r>
            <a:br/>
            <a:r>
              <a:t>• Box 5: Required Corrective Action + Standard Reference</a:t>
            </a:r>
            <a:br/>
            <a:br/>
            <a:r>
              <a:t>STANDARDS: ISO 45001:2018, ISO 14001:2015, OSHA, SE EHS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51760"/>
            <a:ext cx="5303520" cy="3200400"/>
          </a:xfrm>
          <a:prstGeom prst="rect">
            <a:avLst/>
          </a:prstGeom>
          <a:solidFill>
            <a:srgbClr val="143D4E"/>
          </a:solidFill>
          <a:ln w="1270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900"/>
                </a:solidFill>
                <a:latin typeface="Calibri"/>
              </a:defRPr>
            </a:pPr>
            <a:r>
              <a:t>HOW TO USE THIS TEMPLATE -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Calibri"/>
              </a:defRPr>
            </a:pPr>
            <a:r>
              <a:t>1. For each violation slide, fill Box 1 with specific details:</a:t>
            </a:r>
            <a:br/>
            <a:r>
              <a:t>   - Location, Date, Time, Equipment ID</a:t>
            </a:r>
            <a:br/>
            <a:r>
              <a:t>   - Replace [Insert...] placeholders</a:t>
            </a:r>
            <a:br/>
            <a:br/>
            <a:r>
              <a:t>2. Box 2 &amp; 3 - Photo Placeholders:</a:t>
            </a:r>
            <a:br/>
            <a:r>
              <a:t>   - Drag &amp; drop your site photos directly into the boxes</a:t>
            </a:r>
            <a:br/>
            <a:r>
              <a:t>   - Photo 1: Overview / wide shot</a:t>
            </a:r>
            <a:br/>
            <a:r>
              <a:t>   - Photo 2: Close-up / different angle</a:t>
            </a:r>
            <a:br/>
            <a:r>
              <a:t>   - Add Fig number, date, GPS coordinates</a:t>
            </a:r>
            <a:br/>
            <a:br/>
            <a:r>
              <a:t>3. Box 4 - Risk is pre-filled - color-coded:</a:t>
            </a:r>
            <a:br/>
            <a:r>
              <a:t>   - RED = CRITICAL (fatality potential)</a:t>
            </a:r>
            <a:br/>
            <a:r>
              <a:t>   - AMBER = HIGH (serious injury / env)</a:t>
            </a:r>
            <a:br/>
            <a:br/>
            <a:r>
              <a:t>4. Box 5 - Corrective actions are actionable:</a:t>
            </a:r>
            <a:br/>
            <a:r>
              <a:t>   - Assign owner and deadline</a:t>
            </a:r>
            <a:br/>
            <a:r>
              <a:t>   - Track closure in NCR system</a:t>
            </a:r>
            <a:br/>
            <a:br/>
            <a:r>
              <a:t>5. Final Slide: Action Plan with 4 Boxes:</a:t>
            </a:r>
            <a:br/>
            <a:r>
              <a:t>   - Immediate (0-24h), Short (1-7d), Strategic (7-30d)</a:t>
            </a:r>
            <a:br/>
            <a:r>
              <a:t>   - Management Decision Matrix with Yes/No checkboxes</a:t>
            </a:r>
            <a:br/>
            <a:br/>
            <a:r>
              <a:t>VISUAL DESIGN:</a:t>
            </a:r>
            <a:br/>
            <a:r>
              <a:t>• Background: Deep Petrol #0E2F3E</a:t>
            </a:r>
            <a:br/>
            <a:r>
              <a:t>• Boxes: Card #143D4E + White for actions</a:t>
            </a:r>
            <a:br/>
            <a:r>
              <a:t>• Photo boxes: Dark #0A222B with dashed border effect</a:t>
            </a:r>
            <a:br/>
            <a:r>
              <a:t>• All boxes have titles for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Zero Harm is Non-Negotiable | 5 Boxes Per Slide | 2 Photo Placeholders Per Violation | English Version | Ready for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01 - UNAUTHORIZED WORK - WITHOUT PERMIT TO WORK (PTW)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Location: [Insert Area] | Date: [Insert Date] | Time: [Insert Time]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Activity: Excavation / Mechanical / Hot Work executed without approved PTW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No TRA review, no energy isolation verification, no SIMOPS coordination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PTW logbook not maintained, permit not displayed at work front as required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Reference: Siemens Energy EHS General Requirements Sec 5.3, KAZ EHS Plan Sec 7.2, ISO 45001 Cl 8.1.2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Work activity without PTW displayed at work front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01.1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PTW logbook - missing entry / permit not available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01.2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Potential fatality, uncontrolled hazardous energy release, fire/explosion, SIMOPS conflict. Total loss of primary control barrier. Authority may issue prohibition notice.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STOP WORK - secure area and remove workforce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Mandatory PTW re-training for all supervisors within 24h - competency test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Issue formal NCR Level 1 + contractual warning letter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Daily PTW audit and spot-checks for 14 days - EHS verification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Enforce 3-strikes removal policy for non-compliant supervisors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01 | SE-EHS-NC-2026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02 - SITE ACCESS &amp; INDUCTION - PERSONNEL WITHOUT EHS INDUCTION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No. of persons: [8-12] found working without induction card / sticker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Gate register vs actual headcount mismatch - onboarding register incomplete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induction verification at main gate - Security-EHS interface failure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KAZ Project EHS Plan Sec 6.1 Competency &amp; Training, local labor law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Systemic failure in access control and subcontractor self-verification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Workers without induction cards - site overview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02.1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Gate register vs induction cards verification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02.2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Workers unaware of site hazards, emergency assembly points, muster procedures, life-saving rules. High probability of unsafe acts, delayed emergency response, regulatory stoppage.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removal of all non-inducted personnel from site - escort by Security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Implement 100% gate check - Joint Security + EHS verification - No card, no entry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Subcontractor to submit full manpower list vs induction records within 12h + gap closure plan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Introduce QR / Biometric induction tracking linked to access control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Formal warning + back-charge for re-induction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02 | SE-EHS-NC-2026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03 - PPE NON-COMPLIANCE - FAILURE TO WEAR MANDATORY PPE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PPE missing: Helmet chin strap not secured, safety glasses, gloves, hi-vis vest not worn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Location: [Insert Location] | Task: [Insert Task] | Date: [Insert Date]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Subcontractor supervision present on site but failing to enforce compliance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PPE available in store - confirms behavioral and supervisory failure, not availability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Siemens Energy Life Saving Rule #3, PPE Standard EN 397, EN 166, ANSI Z89.1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PPE violation - wide shot showing multiple workers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03.1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PPE violation - close-up + supervisor present not enforcing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03.2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4: RISK LEVEL &amp; IMPACT -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Immediate risk of head injury, eye injury, hand lacerations, struck-by incidents. Demonstrates weak safety culture. Significantly increases LTIFR/TRIR.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On-the-spot correction + toolbox talk - documented with photos and attendance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Issue Safety Observation Cards + formal EHS violation notice to individual and supervisor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Mandatory PPE compliance campaign - daily checks at start of shift + random checks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Link PPE compliance to subcontractor KPI and payment milestone - weekly scorecard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Supervisor accountability briefing - 3-strikes removal policy signed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03 | SE-EHS-NC-2026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04 - EXCAVATION SAFETY - INADEQUATE HARD BARRICADES &amp;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Depth: [1.2m - 2.5m observed] - No hard barricade, only loose warning tape (prohibited for &gt;1.2m)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edge protection, no safe access/egress (ladders missing), spoil pile within 1m of edge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reflective markers, delineators, or lighting for night-time visibility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OSHA 29 CFR 1926 Subpart P, ISO 45001 Excavation Standard, Siemens SE-GEN-EHS-007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Night work risk: Excavation invisible - vehicle fall hazard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Excavation without hard barricade - full view with tape only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04.1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Spoil pile too close to edge + no ladder - close view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04.2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High potential for fatal fall into excavation, cave-in engulfment, personnel/vehicle fall. Excavation is High-Risk activity with fatality history - classified as Major Accident Hazard.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hard barricading - scaffold tubes / concrete barriers / hard fencing around all excavations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Provide compliant access ladders every 7.5m + keep spoil minimum 1.5m away + toe boards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Excavation permit re-validation with geotechnical check and competent person inspection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Install reflective delineators + solar blinker lights for low-light hours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Competent person inspection checklist daily before start - signed by engineer + verified by SE EHS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04 | SE-EHS-NC-2026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05 - DIRECTIVES NON-COMPLIANCE - FAILURE TO FOLLOW EHS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Date of instruction: [Insert Date] | Instruction: [Insert EHS instruction details]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Repeated failure to comply with verbal and written EHS instructions - documented in daily reports + email trail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Toolbox Talks (TBT) not conducted or without documentation / attendance sheets / task relevance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Previous NCRs closed without evidence or verification - falsification of closure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ISO 45001 Cl 7.3 Awareness &amp; 8.1 Operational Control - Willful disregard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Evidence of ignored instruction (e.g., open excavation still not barricaded)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05.1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TBT register missing / NCR closure without evidence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05.2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4: RISK LEVEL &amp; IMPACT -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Erosion of EHS authority and safety culture. Creates precedent for further violations, normalizes deviance. If directives optional, all critical controls (LOTO, WAH) at risk of failure. Systemic cultural failure.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Escalate to Project Management - formal letter to Subcontractor Top Management - require written commitment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Implement Daily EHS Directives Log - all instructions logged with date/time, owner, sign-off by PM + SE EHS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Hold EHS Leadership stand-down meeting with all foremen - documented commitment signed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Link non-compliance to contractual penalty clause - financial consequence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Weekly EHS compliance scorecard Red/Amber/Green reviewed in project management meeting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05 | SE-EHS-NC-2026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06 - TRAFFIC &amp; SIGNAGE - POOR / DAMAGED / MISSING SAFETY SIGNAGE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Missing / damaged: Speed limit signs (15 km/h), parking signage, pedestrian walkway markings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Vehicle-pedestrian interface unmanaged - no flagmen at high-risk intersections and blind spots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Speeding observed: 30 km/h in construction zone (limit 15 km/h) - confirmed by radar gun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Pedestrian routes not marked or segregated - workers walking on vehicle routes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Project Traffic Management Plan (TMP), ISO 39001 Road Traffic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Missing / damaged speed limit sign - location view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06.1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No pedestrian segregation + vehicle-pedestrian interface risk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06.2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4: RISK LEVEL &amp; IMPACT -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High risk of vehicle-pedestrian collision, equipment damage, fatality - vehicle incidents are top 3 fatality causes. Poor signage increases liability. Emergency vehicle access may be impeded.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reinstatement of all traffic signs per approved TMP - retro-reflective grade, proper height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Establish dedicated pedestrian routes with hard segregation - Jersey barriers + green walkway paint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Deploy trained flagmen at intersections + implement speed monitoring - radar checks 2x daily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Conduct traffic safety campaign and driver re-induction - all drivers including subcontractor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EHS + Logistics joint daily inspection of traffic controls - checklist signed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06 | SE-EHS-NC-2026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07 - WASTE MANAGEMENT - LACK OF SEGREGATION &amp; LABELING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2430"/>
                </a:solidFill>
                <a:latin typeface="Calibri"/>
              </a:defRPr>
            </a:pPr>
            <a:r>
              <a:t>RISK: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Waste containers without segregation - hazardous, recyclable, general waste mixed in same skip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clear labeling, color-coding, or MSDS reference for hazardous waste bins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Oil-contaminated rags and filters disposed in general waste - environmental violation + fire hazard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Location: [Insert waste area location] | Date observed: [Insert Date]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ISO 14001:2015 Cl 8.1, Project Waste Management Plan, local EPA regulations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Mixed waste in one container - overview showing hazardous + general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07.1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Oil-contaminated rags in general waste - close-up + fire hazard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07.2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B2000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4: RISK LEVEL &amp; IMPACT -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Environmental pollution risk (soil/groundwater contamination), fire hazard from incompatible mixing, regulatory fine, reputational damage to Siemens Energy. Cross-contamination makes recycling impossible - sustainability KPI failure.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provision of color-coded, labeled waste skips per SE Standard: Black-General, Green-Recyclable, Red-Hazardous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Clean-up and correct segregation of existing mixed waste by competent team under EHS supervision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Training on Waste Management - hazardous waste handling, spill prevention, manifest system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Appoint Waste Management Focal Point from subcontractor - responsible for daily housekeeping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Weekly waste audit - track volumes and disposal manifests - report in monthly environmental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07 | SE-EHS-NC-2026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08 - EQUIPMENT INTEGRITY - ACTIVE OIL &amp; FUEL LEAKS FROM MACHINERY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Equipment: Excavator CAT 320 [ID: ___] / Loader [ID: ___] - active hydraulic oil and fuel leaks observed dripping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Drip trays not provided - soil contamination ~5 sqm observed under equipment parking area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preventive maintenance records on site - daily inspection checklists falsified - same signature for 7 days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Violation: Equipment Safety Standard, PUWER, Environmental Protection, SE Equipment Standard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Operator competency: No evidence of daily checks by competent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Active oil/fuel leak under equipment - dripping with circle highlight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08.1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Soil contamination under parking area + missing drip tray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08.2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Fire and explosion hazard (fuel on hot surfaces), slip hazard, soil/groundwater contamination, equipment failure leading to loss of control. Breakdown of maintenance management system. Breach of ISO 14001 and PUWER.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IMMEDIATE grounding of leaking equipment - Tag 'DO NOT USE - EHS HOLD' + keys removed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Contaminated soil to be excavated and disposed as hazardous waste - spill response with absorbents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Subcontractor to submit full maintenance history + third-party inspection certificates within 48h - No cert, no operation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Implement mandatory daily equipment checklist - verified by SE EHS/Mechanical + photo evidence of no leaks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Introduction of drip trays and spill kits at all equipment parking zones - 100% coverage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08 | SE-EHS-NC-2026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09 - HAZARDOUS MATERIAL STORAGE - DIESEL STORAGE WITHOUT SECONDARY CONTAINMENT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Diesel storage: Approx. 2000L (2x IBC tanks) - no secondary containment / bunding - 110% capacity required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No isolation distance from ignition sources (welding 10m away) - no fire extinguisher, no HAZCHEM signage, no spill kit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Storage on bare ground - no impervious base, no earthing/bonding for fuel transfer - static electricity risk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Direct violation: HSG 176 Storage of Flammable Liquids, EPA SPCC, SE Hazardous Materials Standard SE-ENV-003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Location: [Insert location] - Near drains / buildings - environmental receptor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Diesel tanks without bunding - overview showing 2x IBC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09.1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Bare ground + no fire extinguisher / no signage / no spill kit - close-up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09.2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Major fire/explosion risk, catastrophic environmental release, soil/groundwater contamination leading to prosecution. Potential Major Accident Hazard (MAH) - pool fire affecting adjacent works. Immediate danger to life and environment.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STOP all fueling operations - secure area with fire watch and 15m exclusion zone until compliant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Provide compliant bunded storage: 110% secondary containment, impervious concrete floor, roofed, ventilated, 15m from drains/buildings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Install fire extinguishers (2x 9kg DCP + 1x foam), HAZCHEM signage, spill kit 150L, earthing/bonding system tested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Develop and communicate Fuel Storage &amp; Handling SOP + conduct emergency response drill (spill + fire)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Location to be approved by SE EHS - minimum 15m from excavations/buildings/drains - risk assessment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09 | SE-EHS-NC-2026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37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10 - RECURRING VIOLATIONS - PERSISTENT PPE VIOLATIONS DESPITE WARNINGS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7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RISK: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5029200" cy="2560320"/>
          </a:xfrm>
          <a:prstGeom prst="rect">
            <a:avLst/>
          </a:prstGeom>
          <a:solidFill>
            <a:srgbClr val="143D4E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FBF"/>
                </a:solidFill>
                <a:latin typeface="Calibri"/>
              </a:defRPr>
            </a:pPr>
            <a:r>
              <a:t>BOX 1: NON-COMPLIANCE DETAILS - Insert Location/Date/Time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Continued and repeated PPE violations after 3 formal warnings, 5 Safety Observation Cards, 2 NCRs in last 14 days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Same workgroup and supervision involved - indicates intentional non-compliance, not lack of awareness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Trend analysis from Daily EHS Reports: 60% increase in PPE violations in last 2 weeks (5 to 12 per week)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Subcontractor management failing to enforce disciplinary procedure per contract Appendix EHS - no action taken</a:t>
            </a:r>
          </a:p>
          <a:p>
            <a:pPr>
              <a:spcAft>
                <a:spcPts val="250"/>
              </a:spcAft>
              <a:defRPr sz="900">
                <a:solidFill>
                  <a:srgbClr val="FFFFFF"/>
                </a:solidFill>
                <a:latin typeface="Calibri"/>
              </a:defRPr>
            </a:pPr>
            <a:r>
              <a:t>Demonstrates normalization of deviance - systemic failure, not individual 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329184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2: PHOTO EVIDENCE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1: Repeat PPE violation - same crew - evidence of intentional non-compliance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10.1</a:t>
            </a:r>
            <a:br/>
            <a:r>
              <a:t>Add: Date, Time, Location,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097280"/>
            <a:ext cx="3108960" cy="2560320"/>
          </a:xfrm>
          <a:prstGeom prst="rect">
            <a:avLst/>
          </a:prstGeom>
          <a:solidFill>
            <a:srgbClr val="0A22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B900"/>
                </a:solidFill>
                <a:latin typeface="Calibri"/>
              </a:defRPr>
            </a:pPr>
            <a:r>
              <a:t>BOX 3: PHOTO EVIDENCE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17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CCCCCC"/>
                </a:solidFill>
                <a:latin typeface="Calibri"/>
              </a:defRPr>
            </a:pPr>
            <a:r>
              <a:t>PHOTO 2: Trend chart / NCR log showing 60% increase - screenshot from Daily Reports</a:t>
            </a:r>
            <a:br/>
            <a:br/>
            <a:r>
              <a:t>[ INSERT PHOTO HERE ]</a:t>
            </a:r>
            <a:br/>
            <a:r>
              <a:t>DRAG &amp; DROP YOUR SITE PHOTO</a:t>
            </a:r>
            <a:br/>
            <a:br/>
            <a:r>
              <a:t>Fig 10.2</a:t>
            </a:r>
            <a:br/>
            <a:r>
              <a:t>Add: Close-up / Different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5029200" cy="1188720"/>
          </a:xfrm>
          <a:prstGeom prst="rect">
            <a:avLst/>
          </a:prstGeom>
          <a:solidFill>
            <a:srgbClr val="2A0A0A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30613"/>
                </a:solidFill>
                <a:latin typeface="Calibri"/>
              </a:defRPr>
            </a:pPr>
            <a:r>
              <a:t>BOX 4: RISK LEVEL &amp; IMPACT - 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6E6"/>
                </a:solidFill>
                <a:latin typeface="Calibri"/>
              </a:defRPr>
            </a:pPr>
            <a:r>
              <a:t>Normalization of deviance - precursor to serious injury/fatality (Heinrich/Bird triangle). Total failure of subcontractor safety leadership and culture. If PPE (last line of defense per hierarchy) ignored, higher-level controls will also fail. Project reputation and Siemens Energy Zero Harm commitment at direct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840480"/>
            <a:ext cx="6583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2430"/>
                </a:solidFill>
                <a:latin typeface="Calibri"/>
              </a:defRPr>
            </a:pPr>
            <a:r>
              <a:t>BOX 5: REQUIRED CORRECTIVE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1. Invoke contractual penalty - stop work for repeat offender crew + mandatory leadership engagement - Subcontractor PM presents corrective plan to SE Management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2. Remove and replace non-compliant supervision - require CVs + EHS competency assessment + interview by SE EHS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3. Implement Behavior-Based Safety (BBS) program with positive/negative reinforcement - daily observations + feedback + recognition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4. Daily management safety walks - Siemens Energy PM + Subcontractor PM - joint walk and documented actions</a:t>
            </a:r>
          </a:p>
          <a:p>
            <a:pPr>
              <a:spcAft>
                <a:spcPts val="250"/>
              </a:spcAft>
              <a:defRPr sz="900">
                <a:solidFill>
                  <a:srgbClr val="082430"/>
                </a:solidFill>
                <a:latin typeface="Calibri"/>
              </a:defRPr>
            </a:pPr>
            <a:r>
              <a:t>5. Consider partial termination / back-charge for additional EHS supervision if no improvement in 7 days - prepare contingency replacement crew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4206240"/>
            <a:ext cx="210312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2430"/>
                </a:solidFill>
                <a:latin typeface="Calibri"/>
              </a:defRPr>
            </a:pPr>
            <a:r>
              <a:t>STANDARD 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48056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082430"/>
                </a:solidFill>
                <a:latin typeface="Calibri"/>
              </a:defRPr>
            </a:pPr>
            <a:r>
              <a:t>• ISO 45001:2018</a:t>
            </a:r>
            <a:br/>
            <a:r>
              <a:t>• ISO 14001:2015</a:t>
            </a:r>
            <a:br/>
            <a:r>
              <a:t>• OSHA 29 CFR 1926</a:t>
            </a:r>
            <a:br/>
            <a:r>
              <a:t>• SE EHS Contractor Req</a:t>
            </a:r>
            <a:br/>
            <a:r>
              <a:t>• Project EHS Plan</a:t>
            </a:r>
            <a:br/>
            <a:r>
              <a:t>• Local EPA / HSG 176</a:t>
            </a:r>
            <a:br/>
            <a:r>
              <a:t>• SE-GEN-EHS-007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83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CCCCC"/>
                </a:solidFill>
                <a:latin typeface="Calibri"/>
              </a:defRPr>
            </a:pPr>
            <a:r>
              <a:t>Siemens Energy | Zero Harm | Confidential | Boxed Format - 5 Boxes + 2 Photo Placeholders Per 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CCCCCC"/>
                </a:solidFill>
                <a:latin typeface="Calibri"/>
              </a:defRPr>
            </a:pPr>
            <a:r>
              <a:t>Slide 10 | SE-EHS-NC-2026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8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88952" cy="508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PLAN &amp; MANAGEMENT DECISION MATRIX - BOXED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3840480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BOX A: IMMEDIATE (0-24 HOURS)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3840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2430"/>
                </a:solidFill>
                <a:latin typeface="Calibri"/>
              </a:defRPr>
            </a:pPr>
            <a:r>
              <a:t>• STOP WORK all critical violations (PTW, Excavation, Diesel, Leaking Equipment)</a:t>
            </a:r>
            <a:br/>
            <a:r>
              <a:t>• Secure hazardous areas - hard barricade + fire watch + 15m exclusion</a:t>
            </a:r>
            <a:br/>
            <a:r>
              <a:t>• Remove all non-inducted personnel - 100% gate verification</a:t>
            </a:r>
            <a:br/>
            <a:r>
              <a:t>• Ground all leaking equipment - Tag DO NOT USE</a:t>
            </a:r>
            <a:br/>
            <a:r>
              <a:t>• Issue formal NCR Level 1 &amp; 2 + contractual warning letter</a:t>
            </a:r>
            <a:br/>
            <a:r>
              <a:t>• Convene Emergency EHS Meeting - Subcontractor MD/PM within 24h</a:t>
            </a:r>
            <a:br/>
            <a:br/>
            <a:r>
              <a:t>PHOTO BOX: [Insert photo of stop work order / secured area]</a:t>
            </a:r>
            <a:br/>
            <a:br/>
            <a:r>
              <a:t>DECISION REQUIRED:</a:t>
            </a:r>
            <a:br/>
            <a:r>
              <a:t>Approve Stop-Work Authority to EHS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840480" cy="3657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005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2430"/>
                </a:solidFill>
                <a:latin typeface="Calibri"/>
              </a:defRPr>
            </a:pPr>
            <a:r>
              <a:t>BOX B: SHORT-TERM (1-7 DAYS)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840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2430"/>
                </a:solidFill>
                <a:latin typeface="Calibri"/>
              </a:defRPr>
            </a:pPr>
            <a:r>
              <a:t>• Full PTW System Audit + Re-Training - all supervisors certified - 80% pass mark</a:t>
            </a:r>
            <a:br/>
            <a:r>
              <a:t>• Compliant diesel storage - 110% bund + impervious floor + extinguishers</a:t>
            </a:r>
            <a:br/>
            <a:r>
              <a:t>• Reinstate traffic signage - retro-reflective + pedestrian segregation + flagmen</a:t>
            </a:r>
            <a:br/>
            <a:r>
              <a:t>• Waste management system - color-coded skips + labeling + focal point</a:t>
            </a:r>
            <a:br/>
            <a:r>
              <a:t>• Excavation compliance - hard barricades + ladders every 7.5m + competent person checks</a:t>
            </a:r>
            <a:br/>
            <a:r>
              <a:t>• PPE Campaign + BBS Launch - daily checks + scorecard</a:t>
            </a:r>
            <a:br/>
            <a:r>
              <a:t>• EHS Directives Log - daily sign-off by PM + EHS</a:t>
            </a:r>
            <a:br/>
            <a:br/>
            <a:r>
              <a:t>PHOTO BOX: [Insert after-correction photos - compliant state]</a:t>
            </a:r>
            <a:br/>
            <a:br/>
            <a:r>
              <a:t>DECISION: Approve $15k cost - back-charge to subcontractor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05840"/>
            <a:ext cx="3749039" cy="365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BOX C: STRATEGIC (7-30 DAYS)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2430"/>
                </a:solidFill>
                <a:latin typeface="Calibri"/>
              </a:defRPr>
            </a:pPr>
            <a:r>
              <a:t>• Contractual Enforcement: Penalty matrix linked to KPIs (TRIR, NCR closure, PTW compliance)</a:t>
            </a:r>
            <a:br/>
            <a:r>
              <a:t>• Leadership Accountability: Replace non-performing supervisors - CV + competency interview</a:t>
            </a:r>
            <a:br/>
            <a:r>
              <a:t>• System Upgrade: QR/Biometric induction + digital PTW + equipment checklist app</a:t>
            </a:r>
            <a:br/>
            <a:r>
              <a:t>• KPI &amp; Scorecard: Weekly dashboard Red/Amber/Green to Top Management</a:t>
            </a:r>
            <a:br/>
            <a:r>
              <a:t>• Independent Audit: 3rd party EHS audit ISO 45001/14001 gap analysis</a:t>
            </a:r>
            <a:br/>
            <a:r>
              <a:t>• Zero Harm Commitment: Re-sign Life Saving Rules - Townhall with Top Management</a:t>
            </a:r>
            <a:br/>
            <a:r>
              <a:t>• Contingency: Prepare demobilization / replacement plan if no improvement</a:t>
            </a:r>
            <a:br/>
            <a:br/>
            <a:r>
              <a:t>PHOTO BOX: [Insert dashboard / training photos]</a:t>
            </a:r>
            <a:br/>
            <a:br/>
            <a:r>
              <a:t>DECISION: Authorize partial termination if critical violations recur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5212080"/>
            <a:ext cx="11887200" cy="1371600"/>
          </a:xfrm>
          <a:prstGeom prst="rect">
            <a:avLst/>
          </a:prstGeom>
          <a:solidFill>
            <a:srgbClr val="143D4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21208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900"/>
                </a:solidFill>
                <a:latin typeface="Calibri"/>
              </a:defRPr>
            </a:pPr>
            <a:r>
              <a:t>BOX D: MANAGEMENT DECISION MATRIX - REQUIRED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48640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Calibri"/>
              </a:defRPr>
            </a:pPr>
            <a:r>
              <a:t>1. Approve IMMEDIATE Stop-Work Authority to EHS for Critical Violations [ ] Yes [ ] No  |  2. Authorize Formal Contractual Warning &amp; Penalty Enforcement [ ] Yes [ ] No  |  3. Mandate Subcontractor Top Management Presence On-Site within 48h [ ] Yes [ ] No  |  4. Approve Budget for Additional EHS Controls (Bunded Storage, Signage, Barricades) - Back-charge to Subcontractor [ ] Yes [ ] No  |  5. Endorse Zero Tolerance Policy: 3 Strikes = Removal - Communicate in Townhall [ ] Yes [ ] No</a:t>
            </a:r>
            <a:br/>
            <a:br/>
            <a:r>
              <a:t>Signature: _________________  Project Director  Date: _______  |  Signature: _________________  Construction Manager  Date: _______  |  Signature: _________________  EHS Manager 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