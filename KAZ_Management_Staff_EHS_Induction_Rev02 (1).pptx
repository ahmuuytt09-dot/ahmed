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01 — Introduction and Objectives. How this session runs, what you will learn and what is recorded. This chapter covers: Session format, Learning objectives, Validity,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chapters quickly. Point out that the operators' own rule set is issued separately and that the knowledge check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02 — EHS Leadership and Responsibilities. The Siemens EHS target and who is accountable for what on this site. This chapter covers: Zero Harm, EHS Target, Leadership, Everyone,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03 — The Project, the Site and Daily Rules. Where you are working, how the site is organised and the rules that always apply. This chapter covers: Project scope, Site layout, Base camp, EHS organisation, General rules, Stop Work Authority, Risk assessment,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the approved photograph of the base camp / main office before issuing this deck (right-click the placeholder and choose Change Picture). Walk the group through the layout: main office, clinic, canteen, laundry and the camp assembly point. Confirm the camp supervisor's name and the camp emergency number during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site rule list available as a handout. Point out that hours and rest days are monitored.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04 — Permit to Work and Electrical Safety. The control system for hazardous work and the rules that keep the plant safe. This chapter covers: Permit to Work, Lock-Out / Tag-Out, Electrical rules, Arc flash, Live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participants where to obtain each permit and who signs it. Confirm the current validity rules with the project PTW procedure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05 — High-Risk Activities and Occupational Health. The activities that cause the most serious injuries and how each one is controlled. This chapter covers: Work at height, Lifting, Excavation, Confined space, Hot work, Tools, Manual handling, PPE, Heat stress,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Lifting is a major hazard on this project because of the transformer and steel structure erection. Confirm the wind limit with the project lifting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fire-watch duration and extinguisher requirements from the project PTW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WBGT thresholds, work-rest tables and Ramadan arrangements before presenting.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number of trained first aiders in each shift and area, and the current site clinic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06 — Environment, Emergency and Security. Protecting the environment, responding to emergencies, security and the consequences of breaking the rules. This chapter covers: Environment, Waste, Fire, Emergency, Incident reporting, Security, Driving,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actual bin colours and locations on site. Ask each supervisor to confirm their crews know where the hazardous waste store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assembly point locations and the identity of area marshals for the audience's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a fatality is never a Level 2 locally-managed event. Confirm the current notification matrix with the project notification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replace the placeholder entries with live numbers and verify them weekly. The previous deck quoted 911, which is not an official emergency number in Iraq.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penalty matrix with the site security instruction before presenting; penalties must be applied consistently to employees and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_switchyard_960x54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3600" y="279400"/>
            <a:ext cx="3403600" cy="11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52x76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5600"/>
            <a:ext cx="3200400" cy="9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3581400"/>
            <a:ext cx="12192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10363200" cy="60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3260"/>
            <a:ext cx="10363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742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36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203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Subcontractor: Al-Mial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31800"/>
          </a:xfrm>
          <a:prstGeom prst="rect">
            <a:avLst/>
          </a:prstGeom>
          <a:solidFill>
            <a:srgbClr val="12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791200"/>
            <a:ext cx="50800" cy="43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200" y="5892800"/>
            <a:ext cx="1003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75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DBE"/>
                </a:solidFill>
                <a:latin typeface="Calibri"/>
              </a:rPr>
              <a:t>KAZ-EHS-IND-001 · Rev. 02 · For review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375400"/>
            <a:ext cx="492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9AADBE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Session format  ·  Learning objectives  ·  Validity  · 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02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 of 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Emergency instructions for the training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75 minutes, including the knowledge check and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4434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47 — know them before you leave this room.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668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Six chapters — about 75 minutes, including the knowledge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76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5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7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Siemens EHS target and who is accountable for what on this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6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3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35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7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76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800" y="4881033"/>
            <a:ext cx="40767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1800" y="5338233"/>
            <a:ext cx="4076700" cy="60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03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5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700" y="4881033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7700" y="5211233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At the end of this induction you will be able to: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Zero Harm policy, and explain what it means for your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43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6780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This induction is part of your site authorisation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10 questions — pass mark 80%. Below 80% you are retrained before site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Siemens EHS target and who is accountable for what on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Zero Harm  ·  EHS Target  ·  Leadership  ·  Everyone  · 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02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7 of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Derived from the KAZ Project EHS Plan (Section 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49"/>
            <a:ext cx="67310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20" name="Picture 19" descr="02_zero_harm_team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Principles · Behaviours · Essentials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7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20974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3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3876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41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6777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434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96799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144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312794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93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029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995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389318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8973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" y="418338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7992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47357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7012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76377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For managers, engineers and supervisors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How we work together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Project scope  ·  Site layout  ·  Base camp  ·  EHS organisation  ·  General rules  ·  Stop Work Authority  ·  Risk assessment  ·  Daily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02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13 of 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KAZ Power Plant Upgrade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location before you start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524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5889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00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2037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Base Camp and Site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main office, the camp and the facilities you will use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**Main office block** — project management, EHS office, document control, meeting rooms and the site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362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8727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**Base camp** — accommodation, canteen, prayer room, laundry and recreation areas. Camp rules apply at all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2829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2194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**Camp and office safety:** keep escape routes and extinguishers clear; no cooking, no smoking and no unauthorised electrical appliances inside rooms or offices.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584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7949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**Utilities** — potable water points, generators and UPS areas, waste collection points and the sewage / grey-water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20515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14165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**Housekeeping** — bins are provided in every block; report damage, leaks, pests or a faulty air conditioner to the camp supervisor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7807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7172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**Transport** — only approved site buses and drivers; report to the camp marshal before boarding and never leave site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562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2927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**Emergency at the camp** — the camp assembly point is marked, and the clinic, first aiders and security gate are manned at all times.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073400"/>
            <a:ext cx="1016000" cy="736600"/>
          </a:xfrm>
          <a:prstGeom prst="rect">
            <a:avLst/>
          </a:prstGeom>
          <a:noFill/>
          <a:ln w="17780">
            <a:solidFill>
              <a:srgbClr val="9FB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5600" y="3175000"/>
            <a:ext cx="812800" cy="533400"/>
          </a:xfrm>
          <a:prstGeom prst="rect">
            <a:avLst/>
          </a:prstGeom>
          <a:solidFill>
            <a:srgbClr val="E7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400" y="39878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2263A"/>
                </a:solidFill>
                <a:latin typeface="Calibri"/>
              </a:rPr>
              <a:t>INSERT SITE PHOTOGRAPH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216400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Right-click the frame in PowerPoint
then choose Change Picture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6400" y="5156200"/>
            <a:ext cx="3251200" cy="55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0" y="5219700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Base camp and main office — insert site photograph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16 of 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from the moment you enter the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38).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Working hours, competency and behaviour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06:00–15:00, six days per week; subcontractor hours must be approved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514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450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You are empowered — and expected — to use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5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8588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54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41490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563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3928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Risk Assessment · SJA · LMRA · Management of Change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Start of shift · during work · end of shift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Permit to Work  ·  Lock-Out / Tag-Out  ·  Electrical rules  ·  Arc flash  ·  Live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02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23 of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System, roles and principles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78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7415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1558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30923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21" name="Picture 20" descr="03_ptw_loto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types and validity on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61711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584" y="2057400"/>
            <a:ext cx="368401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584" y="2451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755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584" y="3060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365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584" y="36703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3975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584" y="4279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584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584" y="4889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Control every energy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26 of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golden rule of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7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8089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155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091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32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9768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09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5445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86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1122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62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6799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7639"/>
            <a:ext cx="673100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24" name="Picture 23" descr="04_arc_flash_pp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approach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Boundaries must be approved for this site — do not use generic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304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057400"/>
            <a:ext cx="161137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8376" y="2057400"/>
            <a:ext cx="306222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304" y="24511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511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8376" y="24511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882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946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304" y="2946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946400"/>
            <a:ext cx="161137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376" y="2946400"/>
            <a:ext cx="306222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304" y="32512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32512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8376" y="32512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83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6830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7465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304" y="37465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37465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8376" y="37465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178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19558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28 of 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Coordination with MoE Operations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730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0095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29 of 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4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Work at height  ·  Lifting  ·  Excavation  ·  Confined space  ·  Hot work  ·  Tools  ·  Manual handling  ·  PPE  ·  Heat stress  ·  First 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02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30 of 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Fall protection from 1.8 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91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627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367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304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21" name="Picture 20" descr="05_work_at_heigh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certified anchor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lift is planned and permitted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32 km/h or in poor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23" name="Picture 22" descr="06_lifting_oper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Exclusion zone · taglines · banksman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required beyond 30 cm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23" name="Picture 22" descr="07_excav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barriers · access ladder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33 of 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· gas test · attendant · rescue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2262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1627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031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8396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21" name="Picture 20" descr="08_confined_spac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tripod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Sparks and flames are controlled, permitted activities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3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8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2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7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1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6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two extinguishers and a fire blanket at the work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23" name="Picture 22" descr="09_hot_work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35 of 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right tool, inspected, used correctly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Plan the lift, not just the 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37 of 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Mandatory minimum on site — additional PPE per task risk assessment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326948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888" y="2057400"/>
            <a:ext cx="65857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888" y="2451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755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888" y="3060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365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888" y="3670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3975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888" y="4279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584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4888" y="4889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5130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1400" y="5194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4888" y="5194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5435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14400" y="19558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Our most predictable environmental hazard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23" name="Picture 22" descr="10_heat_stress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nearest help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point, the site medic, the emergency number and the route to the nearest hospital.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2139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Environment  ·  Waste  ·  Fire  ·  Emergency  ·  Incident reporting  ·  Security  ·  Driving  · 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02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41 of 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Prevent pollution — it is part of every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54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891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030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93395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Segregate at source — every 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Segregate waste: general · recyclable (metal, cable, paper, plastic) · hazardous · construction and demolition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pic>
        <p:nvPicPr>
          <p:cNvPr id="21" name="Picture 20" descr="12_waste_managemen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Segregated bins · bunded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Classes, extinguishers and the PASS method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013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0378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01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238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1350"/>
            <a:ext cx="203200" cy="693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75000"/>
            <a:ext cx="652780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6367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5732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371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7736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489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2854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860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53797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pic>
        <p:nvPicPr>
          <p:cNvPr id="25" name="Picture 24" descr="13_fire_extinguisher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Aim at the base · keep an escape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44 of 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Alarm · assembly · head count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to your area marshal for the head count; report any missing person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0448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39813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pic>
        <p:nvPicPr>
          <p:cNvPr id="23" name="Picture 22" descr="11_emergency_assembl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Assembly point · roll call · clear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the level — and who to tell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14041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057400"/>
            <a:ext cx="46167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057400"/>
            <a:ext cx="35803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45110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9512" y="245110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0215" y="245110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28829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1400" y="294640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512" y="294640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0215" y="294640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750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63855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512" y="363855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0215" y="363855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703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0703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400" y="413385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9512" y="413385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0215" y="413385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6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19558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46 of 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Posted at every assembly point, office and camp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544576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1159" y="2057400"/>
            <a:ext cx="440944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159" y="2451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 (24/7)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755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1159" y="3060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365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1159" y="36703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3975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1159" y="4279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584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1159" y="4889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1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3441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0517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29882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537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58902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55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8792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57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41694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59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596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66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50603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48 of 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event makes the site safer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49 of 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Everyone is searched — everyone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850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50215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619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06984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4388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3753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pic>
        <p:nvPicPr>
          <p:cNvPr id="23" name="Picture 22" descr="14_security_journe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Access control · vehicle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50 of 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road is our highest-risk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speed limit: 5 km/h. Obey traffic signs, signals and marshals.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51 of 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Consequences are applied consistently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096" y="2057400"/>
            <a:ext cx="244043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528" y="2057400"/>
            <a:ext cx="223316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696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96" y="24511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7528" y="24511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696" y="24511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6924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7559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96" y="2755900"/>
            <a:ext cx="244043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528" y="2755900"/>
            <a:ext cx="2233168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696" y="27559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096" y="32512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528" y="32512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696" y="32512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9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4925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5560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3096" y="35560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528" y="35560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4696" y="35560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797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1400" y="38608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096" y="38608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528" y="38608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4696" y="38608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14400" y="41021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1400" y="41656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3096" y="41656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528" y="41656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4696" y="41656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406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400" y="4470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3096" y="44704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528" y="44704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4696" y="4470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4711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4400" y="19558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52 of 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10 questions — pass mark 80%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173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5110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6219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485584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53 of 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Before you leave this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767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793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54 of 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59000"/>
            <a:ext cx="10414000" cy="1115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2959"/>
            <a:ext cx="1041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255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1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308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5257800"/>
            <a:ext cx="1005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No task is so urgent that it cannot be done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516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93A8"/>
                </a:solidFill>
                <a:latin typeface="Calibri"/>
              </a:rPr>
              <a:t>KAZ-EHS-IND-001 · Rev. 02 · Restricted   ·   Subcontractor: Al-Mial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9840</Words>
  <Application>Microsoft Office PowerPoint</Application>
  <PresentationFormat>Widescreen</PresentationFormat>
  <Paragraphs>1115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Aljassem</dc:creator>
  <cp:keywords/>
  <dc:description>generated using python-pptx</dc:description>
  <cp:lastModifiedBy>Ahmed Aljassem</cp:lastModifiedBy>
  <cp:revision>1</cp:revision>
  <dcterms:created xsi:type="dcterms:W3CDTF">2013-01-27T09:14:16Z</dcterms:created>
  <dcterms:modified xsi:type="dcterms:W3CDTF">2026-09-16T19:40:54Z</dcterms:modified>
  <cp:category/>
</cp:coreProperties>
</file>