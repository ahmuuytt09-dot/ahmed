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35240" y="0"/>
            <a:ext cx="4556455" cy="6473952"/>
          </a:xfrm>
          <a:prstGeom prst="rect">
            <a:avLst/>
          </a:prstGeom>
          <a:solidFill>
            <a:srgbClr val="14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35240" y="0"/>
            <a:ext cx="41148" cy="647395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01000" y="1234440"/>
            <a:ext cx="3642055" cy="10972"/>
          </a:xfrm>
          <a:prstGeom prst="rect">
            <a:avLst/>
          </a:prstGeom>
          <a:solidFill>
            <a:srgbClr val="1E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01000" y="2514600"/>
            <a:ext cx="3642055" cy="10972"/>
          </a:xfrm>
          <a:prstGeom prst="rect">
            <a:avLst/>
          </a:prstGeom>
          <a:solidFill>
            <a:srgbClr val="1E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1000" y="3794760"/>
            <a:ext cx="3642055" cy="10972"/>
          </a:xfrm>
          <a:prstGeom prst="rect">
            <a:avLst/>
          </a:prstGeom>
          <a:solidFill>
            <a:srgbClr val="1E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0" y="4846320"/>
            <a:ext cx="3642055" cy="10972"/>
          </a:xfrm>
          <a:prstGeom prst="rect">
            <a:avLst/>
          </a:prstGeom>
          <a:solidFill>
            <a:srgbClr val="1E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42832" y="1417320"/>
            <a:ext cx="1783080" cy="1783080"/>
          </a:xfrm>
          <a:prstGeom prst="ellipse">
            <a:avLst/>
          </a:prstGeom>
          <a:noFill/>
          <a:ln w="2032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62288" y="1636776"/>
            <a:ext cx="1344168" cy="1344168"/>
          </a:xfrm>
          <a:prstGeom prst="ellipse">
            <a:avLst/>
          </a:prstGeom>
          <a:solidFill>
            <a:srgbClr val="0A1E32"/>
          </a:solidFill>
          <a:ln w="12700">
            <a:solidFill>
              <a:srgbClr val="1E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62288" y="1847088"/>
            <a:ext cx="1344168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3401568"/>
            <a:ext cx="3642055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FB4D1"/>
                </a:solidFill>
                <a:latin typeface="Calibri"/>
              </a:rPr>
              <a:t>ENERGIZED FACILITY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3639312"/>
            <a:ext cx="3642055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C4D2E2"/>
                </a:solidFill>
                <a:latin typeface="Calibri"/>
              </a:rPr>
              <a:t>Strict EHS compliance 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4224528"/>
            <a:ext cx="2331720" cy="384048"/>
          </a:xfrm>
          <a:prstGeom prst="roundRect">
            <a:avLst>
              <a:gd name="adj" fmla="val 35000"/>
            </a:avLst>
          </a:prstGeom>
          <a:solidFill>
            <a:srgbClr val="0A1E32"/>
          </a:solidFill>
          <a:ln w="11430">
            <a:solidFill>
              <a:srgbClr val="1E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4265676"/>
            <a:ext cx="36576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FB4D1"/>
                </a:solidFill>
                <a:latin typeface="Calibri"/>
              </a:rPr>
              <a:t>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4306824"/>
            <a:ext cx="10972" cy="219456"/>
          </a:xfrm>
          <a:prstGeom prst="rect">
            <a:avLst/>
          </a:prstGeom>
          <a:solidFill>
            <a:srgbClr val="1E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4265676"/>
            <a:ext cx="169164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Work Permit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4736592"/>
            <a:ext cx="2331720" cy="384048"/>
          </a:xfrm>
          <a:prstGeom prst="roundRect">
            <a:avLst>
              <a:gd name="adj" fmla="val 35000"/>
            </a:avLst>
          </a:prstGeom>
          <a:solidFill>
            <a:srgbClr val="0A1E32"/>
          </a:solidFill>
          <a:ln w="11430">
            <a:solidFill>
              <a:srgbClr val="1E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4777740"/>
            <a:ext cx="36576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FB4D1"/>
                </a:solidFill>
                <a:latin typeface="Calibri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4818888"/>
            <a:ext cx="10972" cy="219456"/>
          </a:xfrm>
          <a:prstGeom prst="rect">
            <a:avLst/>
          </a:prstGeom>
          <a:solidFill>
            <a:srgbClr val="1E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4777740"/>
            <a:ext cx="169164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Induction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5248656"/>
            <a:ext cx="2331720" cy="384048"/>
          </a:xfrm>
          <a:prstGeom prst="roundRect">
            <a:avLst>
              <a:gd name="adj" fmla="val 35000"/>
            </a:avLst>
          </a:prstGeom>
          <a:solidFill>
            <a:srgbClr val="0A1E32"/>
          </a:solidFill>
          <a:ln w="11430">
            <a:solidFill>
              <a:srgbClr val="1E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5289804"/>
            <a:ext cx="36576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FB4D1"/>
                </a:solidFill>
                <a:latin typeface="Calibri"/>
              </a:rPr>
              <a:t>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5330952"/>
            <a:ext cx="10972" cy="219456"/>
          </a:xfrm>
          <a:prstGeom prst="rect">
            <a:avLst/>
          </a:prstGeom>
          <a:solidFill>
            <a:srgbClr val="1E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5289804"/>
            <a:ext cx="169164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PPE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66928"/>
            <a:ext cx="2331720" cy="329184"/>
          </a:xfrm>
          <a:prstGeom prst="roundRect">
            <a:avLst>
              <a:gd name="adj" fmla="val 40000"/>
            </a:avLst>
          </a:prstGeom>
          <a:solidFill>
            <a:srgbClr val="0A1E32"/>
          </a:solidFill>
          <a:ln w="11430">
            <a:solidFill>
              <a:srgbClr val="1E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FB4D1"/>
                </a:solidFill>
                <a:latin typeface="Calibri"/>
              </a:rPr>
              <a:t>EHS  •  SITE INSPECTION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143000"/>
            <a:ext cx="640080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EHS Site Inspection – Non-Compliance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9748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4D2E2"/>
                </a:solidFill>
                <a:latin typeface="Calibri"/>
              </a:rPr>
              <a:t>Energized Power Plant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310128"/>
            <a:ext cx="868680" cy="5029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81328" y="3310128"/>
            <a:ext cx="2377440" cy="50292"/>
          </a:xfrm>
          <a:prstGeom prst="rect">
            <a:avLst/>
          </a:prstGeom>
          <a:solidFill>
            <a:srgbClr val="1E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70332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FB4D1"/>
                </a:solidFill>
                <a:latin typeface="Calibri"/>
              </a:rPr>
              <a:t>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3685032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15 September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087368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FB4D1"/>
                </a:solidFill>
                <a:latin typeface="Calibri"/>
              </a:rPr>
              <a:t>PREPARED BY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06908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Ahmed Al-Mansoury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47141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FB4D1"/>
                </a:solidFill>
                <a:latin typeface="Calibri"/>
              </a:rPr>
              <a:t>TITLE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4453128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EHS Manager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138928"/>
            <a:ext cx="6400800" cy="12801"/>
          </a:xfrm>
          <a:prstGeom prst="rect">
            <a:avLst/>
          </a:prstGeom>
          <a:solidFill>
            <a:srgbClr val="1E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321808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C4D2E2"/>
                </a:solidFill>
                <a:latin typeface="Calibri"/>
              </a:rPr>
              <a:t>KAZ Power Plant Upgrade Project  ·  Formal EHS communication to the subcontractor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97103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4D2E2"/>
                </a:solidFill>
                <a:latin typeface="Calibri"/>
              </a:rPr>
              <a:t>Document type:  EHS Inspection Findings &amp; Formal Warning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62979"/>
            <a:ext cx="12191695" cy="10972"/>
          </a:xfrm>
          <a:prstGeom prst="rect">
            <a:avLst/>
          </a:prstGeom>
          <a:solidFill>
            <a:srgbClr val="1E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556248"/>
            <a:ext cx="86868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KAZ Power Plant Upgrade Project  |  EHS  |  15 September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7135" y="655624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4D2E2"/>
                </a:solidFill>
                <a:latin typeface="Calibri"/>
              </a:rPr>
              <a:t>01  / 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FB4D1"/>
                </a:solidFill>
                <a:latin typeface="Calibri"/>
              </a:rPr>
              <a:t>KAZ POWER PLANT UPGRADE PROJECT  •  EHS SITE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Observed EHS Non-Compliances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10972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56692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4D2E2"/>
                </a:solidFill>
                <a:latin typeface="Calibri"/>
              </a:rPr>
              <a:t>EHS  •  FORMAL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5387187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81328"/>
            <a:ext cx="82296" cy="138988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7" y="1847088"/>
            <a:ext cx="621792" cy="62179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144" rIns="9144" tIns="9144" bIns="9144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1700784"/>
            <a:ext cx="4061307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E86AB"/>
                </a:solidFill>
                <a:latin typeface="Calibri"/>
              </a:rPr>
              <a:t>FINDING 01  —  WORK PERMIT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1984248"/>
            <a:ext cx="4061307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A41"/>
                </a:solidFill>
                <a:latin typeface="Calibri"/>
              </a:rPr>
              <a:t>Workers performing activities without valid Work Permits.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7" y="1481328"/>
            <a:ext cx="5387187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5867" y="1481328"/>
            <a:ext cx="82296" cy="138988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48475" y="1847088"/>
            <a:ext cx="621792" cy="62179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144" rIns="9144" tIns="9144" bIns="9144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3147" y="1700784"/>
            <a:ext cx="4061307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E86AB"/>
                </a:solidFill>
                <a:latin typeface="Calibri"/>
              </a:rPr>
              <a:t>FINDING 02  —  SITE INDUCTION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3147" y="1984248"/>
            <a:ext cx="4061307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A41"/>
                </a:solidFill>
                <a:latin typeface="Calibri"/>
              </a:rPr>
              <a:t>Workers working without completing the required site induction.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27248"/>
            <a:ext cx="5387187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127248"/>
            <a:ext cx="82296" cy="138988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7" y="3493008"/>
            <a:ext cx="621792" cy="62179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144" rIns="9144" tIns="9144" bIns="9144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19" y="3346704"/>
            <a:ext cx="4061307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E86AB"/>
                </a:solidFill>
                <a:latin typeface="Calibri"/>
              </a:rPr>
              <a:t>FINDING 03  —  PPE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19" y="3630168"/>
            <a:ext cx="4061307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A41"/>
                </a:solidFill>
                <a:latin typeface="Calibri"/>
              </a:rPr>
              <a:t>Workers not wearing the required PPE.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5867" y="3127248"/>
            <a:ext cx="5387187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55867" y="3127248"/>
            <a:ext cx="82296" cy="138988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48475" y="3493008"/>
            <a:ext cx="621792" cy="62179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144" rIns="9144" tIns="9144" bIns="9144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3147" y="3346704"/>
            <a:ext cx="4061307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E86AB"/>
                </a:solidFill>
                <a:latin typeface="Calibri"/>
              </a:rPr>
              <a:t>FINDING 04  —  EHS CONTROLS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3147" y="3630168"/>
            <a:ext cx="4061307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A41"/>
                </a:solidFill>
                <a:latin typeface="Calibri"/>
              </a:rPr>
              <a:t>Activities being performed without the required EHS controls.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64608"/>
            <a:ext cx="11094415" cy="1115568"/>
          </a:xfrm>
          <a:prstGeom prst="roundRect">
            <a:avLst>
              <a:gd name="adj" fmla="val 8000"/>
            </a:avLst>
          </a:prstGeom>
          <a:solidFill>
            <a:srgbClr val="E9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864608"/>
            <a:ext cx="91440" cy="111556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8680" y="5138928"/>
            <a:ext cx="548640" cy="54864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144" rIns="9144" tIns="9144" bIns="914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72768" y="5010912"/>
            <a:ext cx="9859975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2A44"/>
                </a:solidFill>
                <a:latin typeface="Calibri"/>
              </a:rPr>
              <a:t>NOTE  —  ENERGIZED FACILITY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5248656"/>
            <a:ext cx="9859975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1B2A41"/>
                </a:solidFill>
                <a:latin typeface="Calibri"/>
              </a:rPr>
              <a:t>“The activities were observed within an energized power plant; therefore, strict compliance with the site EHS requirements is mandatory.”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556248"/>
            <a:ext cx="86868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KAZ Power Plant Upgrade Project  |  EHS  |  15 September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7135" y="655624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4D2E2"/>
                </a:solidFill>
                <a:latin typeface="Calibri"/>
              </a:rPr>
              <a:t>02  / 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FB4D1"/>
                </a:solidFill>
                <a:latin typeface="Calibri"/>
              </a:rPr>
              <a:t>KAZ POWER PLANT UPGRADE PROJECT  •  EHS SITE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Work Permit &amp; Site Induction Non-Compliance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10972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56692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4D2E2"/>
                </a:solidFill>
                <a:latin typeface="Calibri"/>
              </a:rPr>
              <a:t>EHS  •  FORMAL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C6B80"/>
                </a:solidFill>
                <a:latin typeface="Calibri"/>
              </a:rPr>
              <a:t>Insert the corresponding inspection photographs in the placeholders below. Captions describe each finding.</a:t>
            </a:r>
          </a:p>
        </p:txBody>
      </p:sp>
      <p:sp>
        <p:nvSpPr>
          <p:cNvPr id="9" name="Insert Work Permit Non-Compliance Photo"/>
          <p:cNvSpPr/>
          <p:nvPr/>
        </p:nvSpPr>
        <p:spPr>
          <a:xfrm>
            <a:off x="548640" y="1783080"/>
            <a:ext cx="5318607" cy="33832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7780">
            <a:solidFill>
              <a:srgbClr val="9AA8B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9AA8BC"/>
                </a:solidFill>
                <a:latin typeface="Calibri"/>
              </a:rPr>
              <a:t>◫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B2A41"/>
                </a:solidFill>
                <a:latin typeface="Calibri"/>
              </a:rPr>
              <a:t>Insert Work Permit Non-Compliance Photo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5C6B80"/>
                </a:solidFill>
                <a:latin typeface="Calibri"/>
              </a:rPr>
              <a:t>Delete this box and insert the photo at the same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7843" y="1677924"/>
            <a:ext cx="1600200" cy="246888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PHOTO PLACEHOLDER</a:t>
            </a:r>
          </a:p>
        </p:txBody>
      </p:sp>
      <p:sp>
        <p:nvSpPr>
          <p:cNvPr id="11" name="Insert Site Induction Non-Compliance Photo"/>
          <p:cNvSpPr/>
          <p:nvPr/>
        </p:nvSpPr>
        <p:spPr>
          <a:xfrm>
            <a:off x="6324447" y="1783080"/>
            <a:ext cx="5318607" cy="33832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7780">
            <a:solidFill>
              <a:srgbClr val="9AA8B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9AA8BC"/>
                </a:solidFill>
                <a:latin typeface="Calibri"/>
              </a:rPr>
              <a:t>◫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B2A41"/>
                </a:solidFill>
                <a:latin typeface="Calibri"/>
              </a:rPr>
              <a:t>Insert Site Induction Non-Compliance Photo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5C6B80"/>
                </a:solidFill>
                <a:latin typeface="Calibri"/>
              </a:rPr>
              <a:t>Delete this box and insert the photo at the same size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651" y="1677924"/>
            <a:ext cx="1600200" cy="246888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PHOTO PLACEHOLDER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12664"/>
            <a:ext cx="5318607" cy="475488"/>
          </a:xfrm>
          <a:prstGeom prst="roundRect">
            <a:avLst>
              <a:gd name="adj" fmla="val 1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A41"/>
                </a:solidFill>
                <a:latin typeface="Calibri"/>
              </a:rPr>
              <a:t>Caption:  Work Permit non-compliance observed during inspection.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88152"/>
            <a:ext cx="5318607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C6B80"/>
                </a:solidFill>
                <a:latin typeface="Calibri"/>
              </a:rPr>
              <a:t>FINDING 01  •  PHOTO EVIDENCE TO BE INSERTED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5312664"/>
            <a:ext cx="5318607" cy="475488"/>
          </a:xfrm>
          <a:prstGeom prst="roundRect">
            <a:avLst>
              <a:gd name="adj" fmla="val 1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A41"/>
                </a:solidFill>
                <a:latin typeface="Calibri"/>
              </a:rPr>
              <a:t>Caption:  Site induction non-compliance observed during inspection.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5788152"/>
            <a:ext cx="5318607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C6B80"/>
                </a:solidFill>
                <a:latin typeface="Calibri"/>
              </a:rPr>
              <a:t>FINDING 02  •  PHOTO EVIDENCE TO BE INSERTED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56248"/>
            <a:ext cx="86868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KAZ Power Plant Upgrade Project  |  EHS  |  15 September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97135" y="655624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4D2E2"/>
                </a:solidFill>
                <a:latin typeface="Calibri"/>
              </a:rPr>
              <a:t>03  / 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FB4D1"/>
                </a:solidFill>
                <a:latin typeface="Calibri"/>
              </a:rPr>
              <a:t>KAZ POWER PLANT UPGRADE PROJECT  •  EHS SITE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PPE Non-Compliance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10972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56692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4D2E2"/>
                </a:solidFill>
                <a:latin typeface="Calibri"/>
              </a:rPr>
              <a:t>EHS  •  FORMAL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C6B80"/>
                </a:solidFill>
                <a:latin typeface="Calibri"/>
              </a:rPr>
              <a:t>Insert the actual PPE inspection photographs in the placeholders below.</a:t>
            </a:r>
          </a:p>
        </p:txBody>
      </p:sp>
      <p:sp>
        <p:nvSpPr>
          <p:cNvPr id="9" name="Insert PPE Non-Compliance Photo"/>
          <p:cNvSpPr/>
          <p:nvPr/>
        </p:nvSpPr>
        <p:spPr>
          <a:xfrm>
            <a:off x="548640" y="1783080"/>
            <a:ext cx="3515258" cy="30632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7780">
            <a:solidFill>
              <a:srgbClr val="9AA8B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9AA8BC"/>
                </a:solidFill>
                <a:latin typeface="Calibri"/>
              </a:rPr>
              <a:t>◫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B2A41"/>
                </a:solidFill>
                <a:latin typeface="Calibri"/>
              </a:rPr>
              <a:t>Insert PPE Non-Compliance Photo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5C6B80"/>
                </a:solidFill>
                <a:latin typeface="Calibri"/>
              </a:rPr>
              <a:t>Delete this box and insert the photo at the same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6169" y="1677924"/>
            <a:ext cx="1600200" cy="246888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PHOTO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59"/>
            <a:ext cx="351525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C6B80"/>
                </a:solidFill>
                <a:latin typeface="Calibri"/>
              </a:rPr>
              <a:t>PHOTO A  •  PPE FINDING</a:t>
            </a:r>
          </a:p>
        </p:txBody>
      </p:sp>
      <p:sp>
        <p:nvSpPr>
          <p:cNvPr id="12" name="Insert PPE Non-Compliance Photo"/>
          <p:cNvSpPr/>
          <p:nvPr/>
        </p:nvSpPr>
        <p:spPr>
          <a:xfrm>
            <a:off x="4338218" y="1783080"/>
            <a:ext cx="3515258" cy="30632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7780">
            <a:solidFill>
              <a:srgbClr val="9AA8B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9AA8BC"/>
                </a:solidFill>
                <a:latin typeface="Calibri"/>
              </a:rPr>
              <a:t>◫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B2A41"/>
                </a:solidFill>
                <a:latin typeface="Calibri"/>
              </a:rPr>
              <a:t>Insert PPE Non-Compliance Photo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5C6B80"/>
                </a:solidFill>
                <a:latin typeface="Calibri"/>
              </a:rPr>
              <a:t>Delete this box and insert the photo at the same size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95747" y="1677924"/>
            <a:ext cx="1600200" cy="246888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PHOTO PLACEHOLDER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8218" y="4937759"/>
            <a:ext cx="351525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C6B80"/>
                </a:solidFill>
                <a:latin typeface="Calibri"/>
              </a:rPr>
              <a:t>PHOTO B  •  PPE FINDING</a:t>
            </a:r>
          </a:p>
        </p:txBody>
      </p:sp>
      <p:sp>
        <p:nvSpPr>
          <p:cNvPr id="15" name="Insert PPE Non-Compliance Photo"/>
          <p:cNvSpPr/>
          <p:nvPr/>
        </p:nvSpPr>
        <p:spPr>
          <a:xfrm>
            <a:off x="8127796" y="1783080"/>
            <a:ext cx="3515258" cy="30632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7780">
            <a:solidFill>
              <a:srgbClr val="9AA8B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9AA8BC"/>
                </a:solidFill>
                <a:latin typeface="Calibri"/>
              </a:rPr>
              <a:t>◫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B2A41"/>
                </a:solidFill>
                <a:latin typeface="Calibri"/>
              </a:rPr>
              <a:t>Insert PPE Non-Compliance Photo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5C6B80"/>
                </a:solidFill>
                <a:latin typeface="Calibri"/>
              </a:rPr>
              <a:t>Delete this box and insert the photo at the same size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5326" y="1677924"/>
            <a:ext cx="1600200" cy="246888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PHOTO PLACEHOLDER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6" y="4937759"/>
            <a:ext cx="351525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C6B80"/>
                </a:solidFill>
                <a:latin typeface="Calibri"/>
              </a:rPr>
              <a:t>PHOTO C  •  PPE FINDING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30368"/>
            <a:ext cx="11094415" cy="530352"/>
          </a:xfrm>
          <a:prstGeom prst="roundRect">
            <a:avLst>
              <a:gd name="adj" fmla="val 12000"/>
            </a:avLst>
          </a:prstGeom>
          <a:solidFill>
            <a:srgbClr val="E9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18288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B2A41"/>
                </a:solidFill>
                <a:latin typeface="Calibri"/>
              </a:rPr>
              <a:t>Personnel were observed without the required PPE.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30368"/>
            <a:ext cx="91440" cy="530352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56248"/>
            <a:ext cx="86868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KAZ Power Plant Upgrade Project  |  EHS  |  15 September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7135" y="655624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4D2E2"/>
                </a:solidFill>
                <a:latin typeface="Calibri"/>
              </a:rPr>
              <a:t>04  / 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FB4D1"/>
                </a:solidFill>
                <a:latin typeface="Calibri"/>
              </a:rPr>
              <a:t>KAZ POWER PLANT UPGRADE PROJECT  •  EHS SITE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Activities Observed During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10972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56692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4D2E2"/>
                </a:solidFill>
                <a:latin typeface="Calibri"/>
              </a:rPr>
              <a:t>EHS  •  FORMAL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C6B80"/>
                </a:solidFill>
                <a:latin typeface="Calibri"/>
              </a:rPr>
              <a:t>Activities observed during the inspection. Insert one photograph per activity.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3515258" cy="475488"/>
          </a:xfrm>
          <a:prstGeom prst="roundRect">
            <a:avLst>
              <a:gd name="adj" fmla="val 22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01  —  CEMENT WORKS</a:t>
            </a:r>
          </a:p>
        </p:txBody>
      </p:sp>
      <p:sp>
        <p:nvSpPr>
          <p:cNvPr id="10" name="Insert Inspection Photo"/>
          <p:cNvSpPr/>
          <p:nvPr/>
        </p:nvSpPr>
        <p:spPr>
          <a:xfrm>
            <a:off x="548640" y="2295144"/>
            <a:ext cx="3515258" cy="26974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7780">
            <a:solidFill>
              <a:srgbClr val="9AA8B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9AA8BC"/>
                </a:solidFill>
                <a:latin typeface="Calibri"/>
              </a:rPr>
              <a:t>◫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B2A41"/>
                </a:solidFill>
                <a:latin typeface="Calibri"/>
              </a:rPr>
              <a:t>Insert Inspection Photo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5C6B80"/>
                </a:solidFill>
                <a:latin typeface="Calibri"/>
              </a:rPr>
              <a:t>Delete this box and insert the photo at the same size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6169" y="2189988"/>
            <a:ext cx="1600200" cy="246888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PHOTO PLACEHOLDER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20640"/>
            <a:ext cx="3515258" cy="548640"/>
          </a:xfrm>
          <a:prstGeom prst="roundRect">
            <a:avLst>
              <a:gd name="adj" fmla="val 1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A41"/>
                </a:solidFill>
                <a:latin typeface="Calibri"/>
              </a:rPr>
              <a:t>Cement works observed during inspection.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1691640"/>
            <a:ext cx="3515258" cy="475488"/>
          </a:xfrm>
          <a:prstGeom prst="roundRect">
            <a:avLst>
              <a:gd name="adj" fmla="val 22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02  —  FENCE INSTALLATION</a:t>
            </a:r>
          </a:p>
        </p:txBody>
      </p:sp>
      <p:sp>
        <p:nvSpPr>
          <p:cNvPr id="14" name="Insert Inspection Photo"/>
          <p:cNvSpPr/>
          <p:nvPr/>
        </p:nvSpPr>
        <p:spPr>
          <a:xfrm>
            <a:off x="4338218" y="2295144"/>
            <a:ext cx="3515258" cy="26974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7780">
            <a:solidFill>
              <a:srgbClr val="9AA8B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9AA8BC"/>
                </a:solidFill>
                <a:latin typeface="Calibri"/>
              </a:rPr>
              <a:t>◫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B2A41"/>
                </a:solidFill>
                <a:latin typeface="Calibri"/>
              </a:rPr>
              <a:t>Insert Inspection Photo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5C6B80"/>
                </a:solidFill>
                <a:latin typeface="Calibri"/>
              </a:rPr>
              <a:t>Delete this box and insert the photo at the same size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95747" y="2189988"/>
            <a:ext cx="1600200" cy="246888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PHOTO PLACEHOLDER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8218" y="5120640"/>
            <a:ext cx="3515258" cy="548640"/>
          </a:xfrm>
          <a:prstGeom prst="roundRect">
            <a:avLst>
              <a:gd name="adj" fmla="val 1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A41"/>
                </a:solidFill>
                <a:latin typeface="Calibri"/>
              </a:rPr>
              <a:t>Fence installation observed during inspection.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796" y="1691640"/>
            <a:ext cx="3515258" cy="475488"/>
          </a:xfrm>
          <a:prstGeom prst="roundRect">
            <a:avLst>
              <a:gd name="adj" fmla="val 22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03  —  TRANSFORMER RAIL PAINTING</a:t>
            </a:r>
          </a:p>
        </p:txBody>
      </p:sp>
      <p:sp>
        <p:nvSpPr>
          <p:cNvPr id="18" name="Insert Inspection Photo"/>
          <p:cNvSpPr/>
          <p:nvPr/>
        </p:nvSpPr>
        <p:spPr>
          <a:xfrm>
            <a:off x="8127796" y="2295144"/>
            <a:ext cx="3515258" cy="26974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7780">
            <a:solidFill>
              <a:srgbClr val="9AA8B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9AA8BC"/>
                </a:solidFill>
                <a:latin typeface="Calibri"/>
              </a:rPr>
              <a:t>◫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B2A41"/>
                </a:solidFill>
                <a:latin typeface="Calibri"/>
              </a:rPr>
              <a:t>Insert Inspection Photo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5C6B80"/>
                </a:solidFill>
                <a:latin typeface="Calibri"/>
              </a:rPr>
              <a:t>Delete this box and insert the photo at the same size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5326" y="2189988"/>
            <a:ext cx="1600200" cy="246888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PHOTO PLACEHOLDER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7796" y="5120640"/>
            <a:ext cx="3515258" cy="548640"/>
          </a:xfrm>
          <a:prstGeom prst="roundRect">
            <a:avLst>
              <a:gd name="adj" fmla="val 1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2A41"/>
                </a:solidFill>
                <a:latin typeface="Calibri"/>
              </a:rPr>
              <a:t>Transformer rail painting observed during inspection.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56248"/>
            <a:ext cx="86868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KAZ Power Plant Upgrade Project  |  EHS  |  15 September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97135" y="655624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4D2E2"/>
                </a:solidFill>
                <a:latin typeface="Calibri"/>
              </a:rPr>
              <a:t>05  / 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FB4D1"/>
                </a:solidFill>
                <a:latin typeface="Calibri"/>
              </a:rPr>
              <a:t>KAZ POWER PLANT UPGRADE PROJECT  •  EHS SITE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Required Corrective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10972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56692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4D2E2"/>
                </a:solidFill>
                <a:latin typeface="Calibri"/>
              </a:rPr>
              <a:t>EHS  •  FORMAL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C6B80"/>
                </a:solidFill>
                <a:latin typeface="Calibri"/>
              </a:rPr>
              <a:t>The following corrective actions are required before starting any activity: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82296" cy="7315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837944"/>
            <a:ext cx="438912" cy="43891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144" rIns="9144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783080"/>
            <a:ext cx="9174175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41"/>
                </a:solidFill>
                <a:latin typeface="Calibri"/>
              </a:rPr>
              <a:t>Ensure valid Work Permits are obtained before starting any activity.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08615" y="1892808"/>
            <a:ext cx="960120" cy="329184"/>
          </a:xfrm>
          <a:prstGeom prst="roundRect">
            <a:avLst>
              <a:gd name="adj" fmla="val 40000"/>
            </a:avLst>
          </a:prstGeom>
          <a:solidFill>
            <a:srgbClr val="E9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2A44"/>
                </a:solidFill>
                <a:latin typeface="Calibri"/>
              </a:rPr>
              <a:t>✓  REQUIRED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69464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569464"/>
            <a:ext cx="82296" cy="7315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7" y="2715768"/>
            <a:ext cx="438912" cy="43891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144" rIns="9144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660904"/>
            <a:ext cx="9174175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41"/>
                </a:solidFill>
                <a:latin typeface="Calibri"/>
              </a:rPr>
              <a:t>Ensure all personnel complete the required site induction.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08615" y="2770632"/>
            <a:ext cx="960120" cy="329184"/>
          </a:xfrm>
          <a:prstGeom prst="roundRect">
            <a:avLst>
              <a:gd name="adj" fmla="val 40000"/>
            </a:avLst>
          </a:prstGeom>
          <a:solidFill>
            <a:srgbClr val="E9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2A44"/>
                </a:solidFill>
                <a:latin typeface="Calibri"/>
              </a:rPr>
              <a:t>✓  REQUIRED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47288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447288"/>
            <a:ext cx="82296" cy="7315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7" y="3593592"/>
            <a:ext cx="438912" cy="43891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144" rIns="9144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3538728"/>
            <a:ext cx="9174175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41"/>
                </a:solidFill>
                <a:latin typeface="Calibri"/>
              </a:rPr>
              <a:t>Ensure full PPE compliance at all times.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08615" y="3648456"/>
            <a:ext cx="960120" cy="329184"/>
          </a:xfrm>
          <a:prstGeom prst="roundRect">
            <a:avLst>
              <a:gd name="adj" fmla="val 40000"/>
            </a:avLst>
          </a:prstGeom>
          <a:solidFill>
            <a:srgbClr val="E9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2A44"/>
                </a:solidFill>
                <a:latin typeface="Calibri"/>
              </a:rPr>
              <a:t>✓  REQUIRED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325112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325112"/>
            <a:ext cx="82296" cy="7315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1247" y="4471416"/>
            <a:ext cx="438912" cy="43891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144" rIns="9144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416552"/>
            <a:ext cx="9174175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41"/>
                </a:solidFill>
                <a:latin typeface="Calibri"/>
              </a:rPr>
              <a:t>Ensure appropriate EHS controls are implemented before work starts.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08615" y="4526280"/>
            <a:ext cx="960120" cy="329184"/>
          </a:xfrm>
          <a:prstGeom prst="roundRect">
            <a:avLst>
              <a:gd name="adj" fmla="val 40000"/>
            </a:avLst>
          </a:prstGeom>
          <a:solidFill>
            <a:srgbClr val="E9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2A44"/>
                </a:solidFill>
                <a:latin typeface="Calibri"/>
              </a:rPr>
              <a:t>✓  REQUIRED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202936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202936"/>
            <a:ext cx="82296" cy="7315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1247" y="5349240"/>
            <a:ext cx="438912" cy="43891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144" rIns="9144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294376"/>
            <a:ext cx="9174175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41"/>
                </a:solidFill>
                <a:latin typeface="Calibri"/>
              </a:rPr>
              <a:t>Ensure compliance with the requirements applicable to the energized facility.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08615" y="5404104"/>
            <a:ext cx="960120" cy="329184"/>
          </a:xfrm>
          <a:prstGeom prst="roundRect">
            <a:avLst>
              <a:gd name="adj" fmla="val 40000"/>
            </a:avLst>
          </a:prstGeom>
          <a:solidFill>
            <a:srgbClr val="E9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2A44"/>
                </a:solidFill>
                <a:latin typeface="Calibri"/>
              </a:rPr>
              <a:t>✓  REQUIRED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556248"/>
            <a:ext cx="86868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KAZ Power Plant Upgrade Project  |  EHS  |  15 September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97135" y="655624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4D2E2"/>
                </a:solidFill>
                <a:latin typeface="Calibri"/>
              </a:rPr>
              <a:t>06  / 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FB4D1"/>
                </a:solidFill>
                <a:latin typeface="Calibri"/>
              </a:rPr>
              <a:t>KAZ POWER PLANT UPGRADE PROJECT  •  EHS SITE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Formal EHS Warning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10972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56692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4D2E2"/>
                </a:solidFill>
                <a:latin typeface="Calibri"/>
              </a:rPr>
              <a:t>EHS  •  FORMAL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12367" y="2240280"/>
            <a:ext cx="9966960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E0C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2367" y="2240280"/>
            <a:ext cx="109728" cy="30632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69567" y="2587752"/>
            <a:ext cx="603504" cy="603504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144" rIns="9144" tIns="9144" bIns="9144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9375" y="2569464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7791F"/>
                </a:solidFill>
                <a:latin typeface="Calibri"/>
              </a:rPr>
              <a:t>FORMAL EHS WARNING  —  IMMEDIATE ACTION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7607" y="2569464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2A44"/>
                </a:solidFill>
                <a:latin typeface="Calibri"/>
              </a:rPr>
              <a:t>To:  AL MIAL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69567" y="3282696"/>
            <a:ext cx="9052560" cy="12801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9567" y="3447288"/>
            <a:ext cx="905256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B2A41"/>
                </a:solidFill>
                <a:latin typeface="Calibri"/>
              </a:rPr>
              <a:t>“AL MIAL is requested to take immediate corrective action and ensure full compliance with the Work Permit, induction, PPE, and applicable EHS requirements before starting any activity.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1"/>
                </a:solidFill>
                <a:latin typeface="Calibri"/>
              </a:rPr>
              <a:t>Any repeated non-compliance will be subject to further formal action in accordance with the project requirements.”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69567" y="4590288"/>
            <a:ext cx="9052560" cy="12801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69567" y="4736592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80"/>
                </a:solidFill>
                <a:latin typeface="Calibri"/>
              </a:rPr>
              <a:t>EHS Manager:  Ahmed Al-Mansoury   ·   Date:  15 September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56248"/>
            <a:ext cx="86868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KAZ Power Plant Upgrade Project  |  EHS  |  15 September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97135" y="655624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4D2E2"/>
                </a:solidFill>
                <a:latin typeface="Calibri"/>
              </a:rPr>
              <a:t>07  / 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EHS Site Inspection - Non-Compliance | Energized Power Plant</dc:title>
  <dc:subject>KAZ Power Plant Upgrade Project - EHS Inspection Findings and Formal Warning</dc:subject>
  <dc:creator>Ahmed Al-Mansoury, EHS Manager</dc:creator>
  <cp:keywords>EHS, inspection, non-compliance, KAZ, power plant, work permit, induction, PPE</cp:keywords>
  <dc:description>Photo placeholders only - insert actual site inspection photos before issue.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