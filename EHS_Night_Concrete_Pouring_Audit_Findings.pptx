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71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H="1">
            <a:off x="-548640" y="0"/>
            <a:ext cx="914400" cy="6858000"/>
          </a:xfrm>
          <a:prstGeom prst="line">
            <a:avLst/>
          </a:prstGeom>
          <a:ln w="508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H="1">
            <a:off x="914400" y="0"/>
            <a:ext cx="914400" cy="6858000"/>
          </a:xfrm>
          <a:prstGeom prst="line">
            <a:avLst/>
          </a:prstGeom>
          <a:ln w="508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2377440" y="0"/>
            <a:ext cx="914400" cy="6858000"/>
          </a:xfrm>
          <a:prstGeom prst="line">
            <a:avLst/>
          </a:prstGeom>
          <a:ln w="508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3840480" y="0"/>
            <a:ext cx="914400" cy="6858000"/>
          </a:xfrm>
          <a:prstGeom prst="line">
            <a:avLst/>
          </a:prstGeom>
          <a:ln w="508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5303520" y="0"/>
            <a:ext cx="914400" cy="6858000"/>
          </a:xfrm>
          <a:prstGeom prst="line">
            <a:avLst/>
          </a:prstGeom>
          <a:ln w="508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766560" y="0"/>
            <a:ext cx="914400" cy="6858000"/>
          </a:xfrm>
          <a:prstGeom prst="line">
            <a:avLst/>
          </a:prstGeom>
          <a:ln w="508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8229600" y="0"/>
            <a:ext cx="914400" cy="6858000"/>
          </a:xfrm>
          <a:prstGeom prst="line">
            <a:avLst/>
          </a:prstGeom>
          <a:ln w="508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9692640" y="0"/>
            <a:ext cx="914400" cy="6858000"/>
          </a:xfrm>
          <a:prstGeom prst="line">
            <a:avLst/>
          </a:prstGeom>
          <a:ln w="508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1155680" y="0"/>
            <a:ext cx="914400" cy="6858000"/>
          </a:xfrm>
          <a:prstGeom prst="line">
            <a:avLst/>
          </a:prstGeom>
          <a:ln w="508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960120"/>
            <a:ext cx="12188952" cy="0"/>
          </a:xfrm>
          <a:prstGeom prst="line">
            <a:avLst/>
          </a:prstGeom>
          <a:ln w="508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2011680"/>
            <a:ext cx="12188952" cy="0"/>
          </a:xfrm>
          <a:prstGeom prst="line">
            <a:avLst/>
          </a:prstGeom>
          <a:ln w="508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3063240"/>
            <a:ext cx="12188952" cy="0"/>
          </a:xfrm>
          <a:prstGeom prst="line">
            <a:avLst/>
          </a:prstGeom>
          <a:ln w="508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4114800"/>
            <a:ext cx="12188952" cy="0"/>
          </a:xfrm>
          <a:prstGeom prst="line">
            <a:avLst/>
          </a:prstGeom>
          <a:ln w="508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5166360"/>
            <a:ext cx="12188952" cy="0"/>
          </a:xfrm>
          <a:prstGeom prst="line">
            <a:avLst/>
          </a:prstGeom>
          <a:ln w="508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6217920"/>
            <a:ext cx="12188952" cy="0"/>
          </a:xfrm>
          <a:prstGeom prst="line">
            <a:avLst/>
          </a:prstGeom>
          <a:ln w="508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iemens_energ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411480"/>
            <a:ext cx="1691640" cy="3931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50292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0B5E2"/>
                </a:solidFill>
                <a:latin typeface="Aptos"/>
                <a:spc val="100"/>
              </a:rPr>
              <a:t>SIEMENS ENERGY  /  EHS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1399032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C45D"/>
                </a:solidFill>
                <a:latin typeface="Aptos"/>
                <a:spc val="120"/>
              </a:rPr>
              <a:t>AUDIT &amp; FINDINGS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1792224"/>
            <a:ext cx="7315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AFB"/>
                </a:solidFill>
                <a:latin typeface="Aptos Display"/>
              </a:rPr>
              <a:t>EHS Site Inspection Report 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340864"/>
            <a:ext cx="795527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AFB"/>
                </a:solidFill>
                <a:latin typeface="Aptos Display"/>
              </a:rPr>
              <a:t>Night Concrete Pouring Operation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090672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9BEC3"/>
                </a:solidFill>
                <a:latin typeface="Aptos"/>
              </a:rPr>
              <a:t>Key Observations, Compliance Gaps &amp; Corrective Actions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4152" y="1325880"/>
            <a:ext cx="3081528" cy="4023360"/>
          </a:xfrm>
          <a:prstGeom prst="roundRect">
            <a:avLst/>
          </a:prstGeom>
          <a:solidFill>
            <a:srgbClr val="14282F"/>
          </a:solidFill>
          <a:ln w="12700">
            <a:solidFill>
              <a:srgbClr val="007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49640" y="1865376"/>
            <a:ext cx="2139696" cy="2139696"/>
          </a:xfrm>
          <a:prstGeom prst="ellipse">
            <a:avLst/>
          </a:prstGeom>
          <a:noFill/>
          <a:ln w="12700">
            <a:solidFill>
              <a:srgbClr val="007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942832" y="2258568"/>
            <a:ext cx="1353312" cy="1353312"/>
          </a:xfrm>
          <a:prstGeom prst="ellipse">
            <a:avLst/>
          </a:prstGeom>
          <a:noFill/>
          <a:ln w="15240">
            <a:solidFill>
              <a:srgbClr val="00B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0" y="2734056"/>
            <a:ext cx="402336" cy="402336"/>
          </a:xfrm>
          <a:prstGeom prst="ellipse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9619488" y="1965960"/>
            <a:ext cx="0" cy="2020824"/>
          </a:xfrm>
          <a:prstGeom prst="line">
            <a:avLst/>
          </a:prstGeom>
          <a:ln w="15240">
            <a:solidFill>
              <a:srgbClr val="00B5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631936" y="2971800"/>
            <a:ext cx="1975104" cy="0"/>
          </a:xfrm>
          <a:prstGeom prst="line">
            <a:avLst/>
          </a:prstGeom>
          <a:ln w="15240">
            <a:solidFill>
              <a:srgbClr val="00B5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8732520" y="1755648"/>
            <a:ext cx="1764792" cy="2432304"/>
          </a:xfrm>
          <a:prstGeom prst="line">
            <a:avLst/>
          </a:prstGeom>
          <a:ln w="21590">
            <a:solidFill>
              <a:srgbClr val="F3C4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30768" y="4471416"/>
            <a:ext cx="23591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5FAFB"/>
                </a:solidFill>
                <a:latin typeface="Aptos"/>
                <a:spc val="85"/>
              </a:rPr>
              <a:t>NIGHT / POUR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4773168"/>
            <a:ext cx="23591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00B5E2"/>
                </a:solidFill>
                <a:latin typeface="Aptos"/>
                <a:spc val="65"/>
              </a:rPr>
              <a:t>CONTROL VISIBILITY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736592"/>
            <a:ext cx="6656832" cy="27432"/>
          </a:xfrm>
          <a:prstGeom prst="rect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16" y="4983480"/>
            <a:ext cx="594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6E8B91"/>
                </a:solidFill>
                <a:latin typeface="Aptos"/>
                <a:spc val="75"/>
              </a:rPr>
              <a:t>DATE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5193792"/>
            <a:ext cx="13258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5FAFB"/>
                </a:solidFill>
                <a:latin typeface="Aptos"/>
              </a:rPr>
              <a:t>[Date]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39112" y="4983480"/>
            <a:ext cx="868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6E8B91"/>
                </a:solidFill>
                <a:latin typeface="Aptos"/>
                <a:spc val="75"/>
              </a:rPr>
              <a:t>LOCATION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39112" y="5193792"/>
            <a:ext cx="15544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5FAFB"/>
                </a:solidFill>
                <a:latin typeface="Aptos"/>
              </a:rPr>
              <a:t>[Site Name]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50208" y="4983480"/>
            <a:ext cx="9875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6E8B91"/>
                </a:solidFill>
                <a:latin typeface="Aptos"/>
                <a:spc val="75"/>
              </a:rPr>
              <a:t>PREPARED BY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50208" y="5193792"/>
            <a:ext cx="21488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5FAFB"/>
                </a:solidFill>
                <a:latin typeface="Aptos"/>
              </a:rPr>
              <a:t>Ahmed Al-Mansoury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50208" y="5449824"/>
            <a:ext cx="2148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BEC3"/>
                </a:solidFill>
                <a:latin typeface="Aptos"/>
              </a:rPr>
              <a:t>EHS Manager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5216" y="6281928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E8B91"/>
                </a:solidFill>
                <a:latin typeface="Aptos"/>
                <a:spc val="55"/>
              </a:rPr>
              <a:t>FOR MANAGEMENT REVIEW  •  INSERT FIELD PHOTOS BEFORE ISSUE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77272" y="6272784"/>
            <a:ext cx="9784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E8B91"/>
                </a:solidFill>
                <a:latin typeface="Aptos"/>
                <a:spc val="80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0B5E2"/>
                </a:solidFill>
                <a:latin typeface="Aptos"/>
                <a:spc val="90"/>
              </a:rPr>
              <a:t>EHS / NIGHT SHIFT</a:t>
            </a:r>
          </a:p>
        </p:txBody>
      </p:sp>
      <p:pic>
        <p:nvPicPr>
          <p:cNvPr id="4" name="Picture 3" descr="siemens_energ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9608" y="173736"/>
            <a:ext cx="1325880" cy="30175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438912" y="612648"/>
            <a:ext cx="11320272" cy="0"/>
          </a:xfrm>
          <a:prstGeom prst="line">
            <a:avLst/>
          </a:prstGeom>
          <a:ln w="1016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912" y="6510528"/>
            <a:ext cx="3200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E8B91"/>
                </a:solidFill>
                <a:latin typeface="Aptos"/>
                <a:spc val="80"/>
              </a:rPr>
              <a:t>EXECUTIVE SUMMARY /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28632" y="6510528"/>
            <a:ext cx="2148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E8B91"/>
                </a:solidFill>
                <a:latin typeface="Aptos"/>
                <a:spc val="60"/>
              </a:rPr>
              <a:t>SIEMENS ENERGY  / 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68680"/>
            <a:ext cx="5394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0B5E2"/>
                </a:solidFill>
                <a:latin typeface="Aptos"/>
                <a:spc val="100"/>
              </a:rPr>
              <a:t>WHY THIS AUDIT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170432"/>
            <a:ext cx="102412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5FAFB"/>
                </a:solidFill>
                <a:latin typeface="Aptos Display"/>
              </a:rPr>
              <a:t>Night work demands visible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73936"/>
            <a:ext cx="996695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EC3"/>
                </a:solidFill>
                <a:latin typeface="Aptos"/>
              </a:rPr>
              <a:t>Concrete pouring compresses people, plant and temporary works into a low-light operating window.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212848"/>
            <a:ext cx="3703320" cy="1344168"/>
          </a:xfrm>
          <a:prstGeom prst="roundRect">
            <a:avLst/>
          </a:prstGeom>
          <a:solidFill>
            <a:srgbClr val="16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46888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0B5E2"/>
                </a:solidFill>
                <a:latin typeface="Aptos"/>
                <a:spc val="85"/>
              </a:rPr>
              <a:t>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761488"/>
            <a:ext cx="3163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FAFB"/>
                </a:solidFill>
                <a:latin typeface="Aptos Display"/>
              </a:rPr>
              <a:t>Night shift concrete pouring activities inspection.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30752"/>
            <a:ext cx="3703320" cy="1344168"/>
          </a:xfrm>
          <a:prstGeom prst="roundRect">
            <a:avLst/>
          </a:prstGeom>
          <a:solidFill>
            <a:srgbClr val="16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3986784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0B5E2"/>
                </a:solidFill>
                <a:latin typeface="Aptos"/>
                <a:spc val="85"/>
              </a:rPr>
              <a:t>PURPOSE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270248"/>
            <a:ext cx="31638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AFB"/>
                </a:solidFill>
                <a:latin typeface="Aptos Display"/>
              </a:rPr>
              <a:t>Confirm EHS compliance, structural safety and personnel protection during night operations.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212848"/>
            <a:ext cx="1920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3C45D"/>
                </a:solidFill>
                <a:latin typeface="Aptos"/>
                <a:spc val="85"/>
              </a:rPr>
              <a:t>CONTROL LENSES</a:t>
            </a:r>
          </a:p>
        </p:txBody>
      </p:sp>
      <p:sp>
        <p:nvSpPr>
          <p:cNvPr id="18" name="Oval 17"/>
          <p:cNvSpPr/>
          <p:nvPr/>
        </p:nvSpPr>
        <p:spPr>
          <a:xfrm>
            <a:off x="4663440" y="2532888"/>
            <a:ext cx="384048" cy="384048"/>
          </a:xfrm>
          <a:prstGeom prst="ellipse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2642616"/>
            <a:ext cx="384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D171B"/>
                </a:solidFill>
                <a:latin typeface="Aptos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523744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FAFB"/>
                </a:solidFill>
                <a:latin typeface="Aptos Display"/>
              </a:rPr>
              <a:t>PEOPLE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51176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A9BEC3"/>
                </a:solidFill>
                <a:latin typeface="Aptos"/>
              </a:rPr>
              <a:t>PPE, competence &amp; safe movement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663440" y="3081528"/>
            <a:ext cx="6812280" cy="0"/>
          </a:xfrm>
          <a:prstGeom prst="line">
            <a:avLst/>
          </a:prstGeom>
          <a:ln w="889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63440" y="3337560"/>
            <a:ext cx="384048" cy="384048"/>
          </a:xfrm>
          <a:prstGeom prst="ellipse">
            <a:avLst/>
          </a:prstGeom>
          <a:solidFill>
            <a:srgbClr val="F3C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3447288"/>
            <a:ext cx="384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D171B"/>
                </a:solidFill>
                <a:latin typeface="Apto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328416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FAFB"/>
                </a:solidFill>
                <a:latin typeface="Aptos Display"/>
              </a:rPr>
              <a:t>PLANT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55848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A9BEC3"/>
                </a:solidFill>
                <a:latin typeface="Aptos"/>
              </a:rPr>
              <a:t>Pump stability &amp; tool handling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663440" y="3886200"/>
            <a:ext cx="6812280" cy="0"/>
          </a:xfrm>
          <a:prstGeom prst="line">
            <a:avLst/>
          </a:prstGeom>
          <a:ln w="889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4663440" y="4142232"/>
            <a:ext cx="384048" cy="384048"/>
          </a:xfrm>
          <a:prstGeom prst="ellipse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4251960"/>
            <a:ext cx="384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D171B"/>
                </a:solidFill>
                <a:latin typeface="Apto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413308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FAFB"/>
                </a:solidFill>
                <a:latin typeface="Aptos Display"/>
              </a:rPr>
              <a:t>PLACE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160520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A9BEC3"/>
                </a:solidFill>
                <a:latin typeface="Aptos"/>
              </a:rPr>
              <a:t>Lighting, waste &amp; housekeeping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663440" y="4690872"/>
            <a:ext cx="6812280" cy="0"/>
          </a:xfrm>
          <a:prstGeom prst="line">
            <a:avLst/>
          </a:prstGeom>
          <a:ln w="889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663440" y="5184648"/>
            <a:ext cx="6812280" cy="841248"/>
          </a:xfrm>
          <a:prstGeom prst="roundRect">
            <a:avLst/>
          </a:prstGeom>
          <a:solidFill>
            <a:srgbClr val="1B3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63440" y="5184648"/>
            <a:ext cx="50292" cy="841248"/>
          </a:xfrm>
          <a:prstGeom prst="rect">
            <a:avLst/>
          </a:prstGeom>
          <a:solidFill>
            <a:srgbClr val="F3C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64607" y="5349240"/>
            <a:ext cx="6446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3C45D"/>
                </a:solidFill>
                <a:latin typeface="Aptos"/>
                <a:spc val="80"/>
              </a:rPr>
              <a:t>CONTROL MESSAGE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64607" y="5550408"/>
            <a:ext cx="64282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5FAFB"/>
                </a:solidFill>
                <a:latin typeface="Aptos Display"/>
              </a:rPr>
              <a:t>High-risk controls must be verified in the field — not assumed from the method statement.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0B5E2"/>
                </a:solidFill>
                <a:latin typeface="Aptos"/>
                <a:spc val="90"/>
              </a:rPr>
              <a:t>EHS / NIGHT SHIFT</a:t>
            </a:r>
          </a:p>
        </p:txBody>
      </p:sp>
      <p:pic>
        <p:nvPicPr>
          <p:cNvPr id="4" name="Picture 3" descr="siemens_energ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9608" y="173736"/>
            <a:ext cx="1325880" cy="30175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438912" y="612648"/>
            <a:ext cx="11320272" cy="0"/>
          </a:xfrm>
          <a:prstGeom prst="line">
            <a:avLst/>
          </a:prstGeom>
          <a:ln w="1016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912" y="6510528"/>
            <a:ext cx="3200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E8B91"/>
                </a:solidFill>
                <a:latin typeface="Aptos"/>
                <a:spc val="80"/>
              </a:rPr>
              <a:t>OBSERVATION 01  /  CORRECTIVE 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28632" y="6510528"/>
            <a:ext cx="2148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E8B91"/>
                </a:solidFill>
                <a:latin typeface="Aptos"/>
                <a:spc val="60"/>
              </a:rPr>
              <a:t>SIEMENS ENERGY  / 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32104"/>
            <a:ext cx="393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B5E2"/>
                </a:solidFill>
                <a:latin typeface="Aptos Display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88696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A9BEC3"/>
                </a:solidFill>
                <a:latin typeface="Aptos"/>
                <a:spc val="90"/>
              </a:rPr>
              <a:t>FIELD OBSERVATION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859536"/>
            <a:ext cx="1078992" cy="246888"/>
          </a:xfrm>
          <a:prstGeom prst="round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0" y="918971"/>
            <a:ext cx="987551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5FAFB"/>
                </a:solidFill>
                <a:latin typeface="Aptos"/>
                <a:spc val="70"/>
              </a:rP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07592"/>
            <a:ext cx="65379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5FAFB"/>
                </a:solidFill>
                <a:latin typeface="Aptos Display"/>
              </a:rPr>
              <a:t>Personal Protective Equipment (PPE) Compliance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1901952"/>
            <a:ext cx="62179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00B5E2"/>
                </a:solidFill>
                <a:latin typeface="Aptos"/>
                <a:spc val="55"/>
              </a:rPr>
              <a:t>CONTROL GAP  •  NIGHT CONCRETE POURING OPERATION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240280"/>
            <a:ext cx="6080760" cy="1161288"/>
          </a:xfrm>
          <a:prstGeom prst="roundRect">
            <a:avLst/>
          </a:prstGeom>
          <a:solidFill>
            <a:srgbClr val="16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245059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00B5E2"/>
                </a:solidFill>
                <a:latin typeface="Aptos"/>
                <a:spc val="70"/>
              </a:rPr>
              <a:t>FINDING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2697480"/>
            <a:ext cx="5541264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10" b="1" i="0">
                <a:solidFill>
                  <a:srgbClr val="F5FAFB"/>
                </a:solidFill>
                <a:latin typeface="Aptos Display"/>
              </a:rPr>
              <a:t>Personnel were observed inside the active site without full mandatory PPE.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21024"/>
            <a:ext cx="6080760" cy="1307592"/>
          </a:xfrm>
          <a:prstGeom prst="roundRect">
            <a:avLst/>
          </a:prstGeom>
          <a:solidFill>
            <a:srgbClr val="1B3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621024"/>
            <a:ext cx="50292" cy="1307592"/>
          </a:xfrm>
          <a:prstGeom prst="rect">
            <a:avLst/>
          </a:prstGeom>
          <a:solidFill>
            <a:srgbClr val="F3C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785615"/>
            <a:ext cx="5715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3C45D"/>
                </a:solidFill>
                <a:latin typeface="Aptos"/>
                <a:spc val="80"/>
              </a:rPr>
              <a:t>KEY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986784"/>
            <a:ext cx="5696712" cy="832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5FAFB"/>
                </a:solidFill>
                <a:latin typeface="Aptos Display"/>
              </a:rPr>
              <a:t>Why is full PPE not being worn during hazardous night operations?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76288" y="1307592"/>
            <a:ext cx="4846320" cy="3621024"/>
          </a:xfrm>
          <a:prstGeom prst="roundRect">
            <a:avLst/>
          </a:prstGeom>
          <a:solidFill>
            <a:srgbClr val="162429"/>
          </a:solidFill>
          <a:ln w="16510">
            <a:solidFill>
              <a:srgbClr val="007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7040879" y="1472184"/>
            <a:ext cx="4517137" cy="3291840"/>
          </a:xfrm>
          <a:prstGeom prst="line">
            <a:avLst/>
          </a:prstGeom>
          <a:ln w="889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040879" y="1472184"/>
            <a:ext cx="4517137" cy="3291840"/>
          </a:xfrm>
          <a:prstGeom prst="line">
            <a:avLst/>
          </a:prstGeom>
          <a:ln w="889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99448" y="1453895"/>
            <a:ext cx="0" cy="3328417"/>
          </a:xfrm>
          <a:prstGeom prst="line">
            <a:avLst/>
          </a:prstGeom>
          <a:ln w="762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022592" y="3118104"/>
            <a:ext cx="4553712" cy="0"/>
          </a:xfrm>
          <a:prstGeom prst="line">
            <a:avLst/>
          </a:prstGeom>
          <a:ln w="762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9098280" y="2916936"/>
            <a:ext cx="402336" cy="402336"/>
          </a:xfrm>
          <a:prstGeom prst="ellipse">
            <a:avLst/>
          </a:prstGeom>
          <a:noFill/>
          <a:ln w="12700">
            <a:solidFill>
              <a:srgbClr val="007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49156" y="3067812"/>
            <a:ext cx="100584" cy="100584"/>
          </a:xfrm>
          <a:prstGeom prst="ellipse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22592" y="1453895"/>
            <a:ext cx="932688" cy="201168"/>
          </a:xfrm>
          <a:prstGeom prst="rect">
            <a:avLst/>
          </a:prstGeom>
          <a:solidFill>
            <a:srgbClr val="0D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77455" y="1495044"/>
            <a:ext cx="82296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B5E2"/>
                </a:solidFill>
                <a:latin typeface="Aptos"/>
                <a:spc val="55"/>
              </a:rPr>
              <a:t>FIELD 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77455" y="2999232"/>
            <a:ext cx="444398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AFB"/>
                </a:solidFill>
                <a:latin typeface="Aptos Display"/>
              </a:rPr>
              <a:t>[ INSERT PHOTO HERE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9168" y="4617720"/>
            <a:ext cx="44805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A9BEC3"/>
                </a:solidFill>
                <a:latin typeface="Aptos"/>
              </a:rPr>
              <a:t>Personnel without PPE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5065776"/>
            <a:ext cx="4754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6E8B91"/>
                </a:solidFill>
                <a:latin typeface="Aptos"/>
                <a:spc val="45"/>
              </a:rPr>
              <a:t>REPLACE WITH SITE PHOTO BEFORE ISSUE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30952"/>
            <a:ext cx="6080760" cy="749808"/>
          </a:xfrm>
          <a:prstGeom prst="roundRect">
            <a:avLst/>
          </a:prstGeom>
          <a:solidFill>
            <a:srgbClr val="6E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5477256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F04A4A"/>
                </a:solidFill>
                <a:latin typeface="Aptos"/>
                <a:spc val="75"/>
              </a:rPr>
              <a:t>ACTION REQUIRED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60136"/>
            <a:ext cx="5715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F5FAFB"/>
                </a:solidFill>
                <a:latin typeface="Aptos Display"/>
              </a:rPr>
              <a:t>100% mandatory PPE compliance for all personnel on site at all times.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236208"/>
            <a:ext cx="411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E8B91"/>
                </a:solidFill>
                <a:latin typeface="Aptos"/>
                <a:spc val="70"/>
              </a:rPr>
              <a:t>OWNER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" y="6217920"/>
            <a:ext cx="21488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F5FAFB"/>
                </a:solidFill>
                <a:latin typeface="Aptos"/>
              </a:rPr>
              <a:t>Site Management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56432" y="6236208"/>
            <a:ext cx="411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E8B91"/>
                </a:solidFill>
                <a:latin typeface="Aptos"/>
                <a:spc val="70"/>
              </a:rPr>
              <a:t>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6217920"/>
            <a:ext cx="26060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F5FAFB"/>
                </a:solidFill>
                <a:latin typeface="Aptos"/>
              </a:rPr>
              <a:t>Before next entry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0B5E2"/>
                </a:solidFill>
                <a:latin typeface="Aptos"/>
                <a:spc val="90"/>
              </a:rPr>
              <a:t>EHS / NIGHT SHIFT</a:t>
            </a:r>
          </a:p>
        </p:txBody>
      </p:sp>
      <p:pic>
        <p:nvPicPr>
          <p:cNvPr id="4" name="Picture 3" descr="siemens_energ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9608" y="173736"/>
            <a:ext cx="1325880" cy="30175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438912" y="612648"/>
            <a:ext cx="11320272" cy="0"/>
          </a:xfrm>
          <a:prstGeom prst="line">
            <a:avLst/>
          </a:prstGeom>
          <a:ln w="1016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912" y="6510528"/>
            <a:ext cx="3200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E8B91"/>
                </a:solidFill>
                <a:latin typeface="Aptos"/>
                <a:spc val="80"/>
              </a:rPr>
              <a:t>OBSERVATION 02  /  CORRECTIVE 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28632" y="6510528"/>
            <a:ext cx="2148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E8B91"/>
                </a:solidFill>
                <a:latin typeface="Aptos"/>
                <a:spc val="60"/>
              </a:rPr>
              <a:t>SIEMENS ENERGY  / 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32104"/>
            <a:ext cx="393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B5E2"/>
                </a:solidFill>
                <a:latin typeface="Aptos Display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88696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A9BEC3"/>
                </a:solidFill>
                <a:latin typeface="Aptos"/>
                <a:spc val="90"/>
              </a:rPr>
              <a:t>FIELD OBSERVATION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859536"/>
            <a:ext cx="1078992" cy="246888"/>
          </a:xfrm>
          <a:prstGeom prst="round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0" y="918971"/>
            <a:ext cx="987551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5FAFB"/>
                </a:solidFill>
                <a:latin typeface="Aptos"/>
                <a:spc val="70"/>
              </a:rP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07592"/>
            <a:ext cx="65379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5FAFB"/>
                </a:solidFill>
                <a:latin typeface="Aptos Display"/>
              </a:rPr>
              <a:t>Access Routes Within Concrete Pouring Area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1901952"/>
            <a:ext cx="62179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00B5E2"/>
                </a:solidFill>
                <a:latin typeface="Aptos"/>
                <a:spc val="55"/>
              </a:rPr>
              <a:t>CONTROL GAP  •  NIGHT CONCRETE POURING OPERATION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240280"/>
            <a:ext cx="6080760" cy="1161288"/>
          </a:xfrm>
          <a:prstGeom prst="roundRect">
            <a:avLst/>
          </a:prstGeom>
          <a:solidFill>
            <a:srgbClr val="16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245059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00B5E2"/>
                </a:solidFill>
                <a:latin typeface="Aptos"/>
                <a:spc val="70"/>
              </a:rPr>
              <a:t>FINDING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2697480"/>
            <a:ext cx="5541264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10" b="1" i="0">
                <a:solidFill>
                  <a:srgbClr val="F5FAFB"/>
                </a:solidFill>
                <a:latin typeface="Aptos Display"/>
              </a:rPr>
              <a:t>No safe, unobstructed access route was provided for workers moving between work areas.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21024"/>
            <a:ext cx="6080760" cy="1307592"/>
          </a:xfrm>
          <a:prstGeom prst="roundRect">
            <a:avLst/>
          </a:prstGeom>
          <a:solidFill>
            <a:srgbClr val="1B3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621024"/>
            <a:ext cx="50292" cy="1307592"/>
          </a:xfrm>
          <a:prstGeom prst="rect">
            <a:avLst/>
          </a:prstGeom>
          <a:solidFill>
            <a:srgbClr val="F3C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785615"/>
            <a:ext cx="5715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3C45D"/>
                </a:solidFill>
                <a:latin typeface="Aptos"/>
                <a:spc val="80"/>
              </a:rPr>
              <a:t>KEY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986784"/>
            <a:ext cx="5696712" cy="832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5FAFB"/>
                </a:solidFill>
                <a:latin typeface="Aptos Display"/>
              </a:rPr>
              <a:t>How can workers navigate safely across the pouring area without a defined route?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76288" y="1307592"/>
            <a:ext cx="4846320" cy="3621024"/>
          </a:xfrm>
          <a:prstGeom prst="roundRect">
            <a:avLst/>
          </a:prstGeom>
          <a:solidFill>
            <a:srgbClr val="162429"/>
          </a:solidFill>
          <a:ln w="16510">
            <a:solidFill>
              <a:srgbClr val="007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7040879" y="1472184"/>
            <a:ext cx="4517137" cy="3291840"/>
          </a:xfrm>
          <a:prstGeom prst="line">
            <a:avLst/>
          </a:prstGeom>
          <a:ln w="889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040879" y="1472184"/>
            <a:ext cx="4517137" cy="3291840"/>
          </a:xfrm>
          <a:prstGeom prst="line">
            <a:avLst/>
          </a:prstGeom>
          <a:ln w="889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99448" y="1453895"/>
            <a:ext cx="0" cy="3328417"/>
          </a:xfrm>
          <a:prstGeom prst="line">
            <a:avLst/>
          </a:prstGeom>
          <a:ln w="762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022592" y="3118104"/>
            <a:ext cx="4553712" cy="0"/>
          </a:xfrm>
          <a:prstGeom prst="line">
            <a:avLst/>
          </a:prstGeom>
          <a:ln w="762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9098280" y="2916936"/>
            <a:ext cx="402336" cy="402336"/>
          </a:xfrm>
          <a:prstGeom prst="ellipse">
            <a:avLst/>
          </a:prstGeom>
          <a:noFill/>
          <a:ln w="12700">
            <a:solidFill>
              <a:srgbClr val="007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49156" y="3067812"/>
            <a:ext cx="100584" cy="100584"/>
          </a:xfrm>
          <a:prstGeom prst="ellipse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22592" y="1453895"/>
            <a:ext cx="932688" cy="201168"/>
          </a:xfrm>
          <a:prstGeom prst="rect">
            <a:avLst/>
          </a:prstGeom>
          <a:solidFill>
            <a:srgbClr val="0D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77455" y="1495044"/>
            <a:ext cx="82296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B5E2"/>
                </a:solidFill>
                <a:latin typeface="Aptos"/>
                <a:spc val="55"/>
              </a:rPr>
              <a:t>FIELD 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77455" y="2999232"/>
            <a:ext cx="444398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AFB"/>
                </a:solidFill>
                <a:latin typeface="Aptos Display"/>
              </a:rPr>
              <a:t>[ INSERT PHOTO HERE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9168" y="4617720"/>
            <a:ext cx="44805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A9BEC3"/>
                </a:solidFill>
                <a:latin typeface="Aptos"/>
              </a:rPr>
              <a:t>Poor / missing access area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5065776"/>
            <a:ext cx="4754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6E8B91"/>
                </a:solidFill>
                <a:latin typeface="Aptos"/>
                <a:spc val="45"/>
              </a:rPr>
              <a:t>REPLACE WITH SITE PHOTO BEFORE ISSUE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30952"/>
            <a:ext cx="6080760" cy="749808"/>
          </a:xfrm>
          <a:prstGeom prst="roundRect">
            <a:avLst/>
          </a:prstGeom>
          <a:solidFill>
            <a:srgbClr val="6E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5477256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F04A4A"/>
                </a:solidFill>
                <a:latin typeface="Aptos"/>
                <a:spc val="75"/>
              </a:rPr>
              <a:t>ACTION REQUIRED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60136"/>
            <a:ext cx="5715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F5FAFB"/>
                </a:solidFill>
                <a:latin typeface="Aptos Display"/>
              </a:rPr>
              <a:t>Establish clear, safe and illuminated walkways across the pouring zone immediately.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236208"/>
            <a:ext cx="411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E8B91"/>
                </a:solidFill>
                <a:latin typeface="Aptos"/>
                <a:spc val="70"/>
              </a:rPr>
              <a:t>OWNER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" y="6217920"/>
            <a:ext cx="21488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F5FAFB"/>
                </a:solidFill>
                <a:latin typeface="Aptos"/>
              </a:rPr>
              <a:t>Main Contractor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56432" y="6236208"/>
            <a:ext cx="411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E8B91"/>
                </a:solidFill>
                <a:latin typeface="Aptos"/>
                <a:spc val="70"/>
              </a:rPr>
              <a:t>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6217920"/>
            <a:ext cx="26060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F5FAFB"/>
                </a:solidFill>
                <a:latin typeface="Aptos"/>
              </a:rPr>
              <a:t>Immediate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0B5E2"/>
                </a:solidFill>
                <a:latin typeface="Aptos"/>
                <a:spc val="90"/>
              </a:rPr>
              <a:t>EHS / NIGHT SHIFT</a:t>
            </a:r>
          </a:p>
        </p:txBody>
      </p:sp>
      <p:pic>
        <p:nvPicPr>
          <p:cNvPr id="4" name="Picture 3" descr="siemens_energ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9608" y="173736"/>
            <a:ext cx="1325880" cy="30175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438912" y="612648"/>
            <a:ext cx="11320272" cy="0"/>
          </a:xfrm>
          <a:prstGeom prst="line">
            <a:avLst/>
          </a:prstGeom>
          <a:ln w="1016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912" y="6510528"/>
            <a:ext cx="3200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E8B91"/>
                </a:solidFill>
                <a:latin typeface="Aptos"/>
                <a:spc val="80"/>
              </a:rPr>
              <a:t>OBSERVATION 03  /  CORRECTIVE 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28632" y="6510528"/>
            <a:ext cx="2148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E8B91"/>
                </a:solidFill>
                <a:latin typeface="Aptos"/>
                <a:spc val="60"/>
              </a:rPr>
              <a:t>SIEMENS ENERGY  / 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32104"/>
            <a:ext cx="393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B5E2"/>
                </a:solidFill>
                <a:latin typeface="Aptos Display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88696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A9BEC3"/>
                </a:solidFill>
                <a:latin typeface="Aptos"/>
                <a:spc val="90"/>
              </a:rPr>
              <a:t>FIELD OBSERVATION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859536"/>
            <a:ext cx="1078992" cy="246888"/>
          </a:xfrm>
          <a:prstGeom prst="round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0" y="918971"/>
            <a:ext cx="987551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5FAFB"/>
                </a:solidFill>
                <a:latin typeface="Aptos"/>
                <a:spc val="70"/>
              </a:rP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07592"/>
            <a:ext cx="65379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5FAFB"/>
                </a:solidFill>
                <a:latin typeface="Aptos Display"/>
              </a:rPr>
              <a:t>Manual Operation of Concrete Vibrator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1901952"/>
            <a:ext cx="62179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00B5E2"/>
                </a:solidFill>
                <a:latin typeface="Aptos"/>
                <a:spc val="55"/>
              </a:rPr>
              <a:t>CONTROL GAP  •  NIGHT CONCRETE POURING OPERATION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240280"/>
            <a:ext cx="6080760" cy="1161288"/>
          </a:xfrm>
          <a:prstGeom prst="roundRect">
            <a:avLst/>
          </a:prstGeom>
          <a:solidFill>
            <a:srgbClr val="16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245059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00B5E2"/>
                </a:solidFill>
                <a:latin typeface="Aptos"/>
                <a:spc val="70"/>
              </a:rPr>
              <a:t>FINDING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2697480"/>
            <a:ext cx="5541264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10" b="1" i="0">
                <a:solidFill>
                  <a:srgbClr val="F5FAFB"/>
                </a:solidFill>
                <a:latin typeface="Aptos Display"/>
              </a:rPr>
              <a:t>A hazard was observed during manual movement and handling of the vibrator while actively operating.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21024"/>
            <a:ext cx="6080760" cy="1307592"/>
          </a:xfrm>
          <a:prstGeom prst="roundRect">
            <a:avLst/>
          </a:prstGeom>
          <a:solidFill>
            <a:srgbClr val="1B3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621024"/>
            <a:ext cx="50292" cy="1307592"/>
          </a:xfrm>
          <a:prstGeom prst="rect">
            <a:avLst/>
          </a:prstGeom>
          <a:solidFill>
            <a:srgbClr val="F3C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785615"/>
            <a:ext cx="5715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3C45D"/>
                </a:solidFill>
                <a:latin typeface="Aptos"/>
                <a:spc val="80"/>
              </a:rPr>
              <a:t>KEY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986784"/>
            <a:ext cx="5696712" cy="832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5FAFB"/>
                </a:solidFill>
                <a:latin typeface="Aptos Display"/>
              </a:rPr>
              <a:t>Is manual movement of an operating vibrator without proper risk controls acceptable?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76288" y="1307592"/>
            <a:ext cx="4846320" cy="3621024"/>
          </a:xfrm>
          <a:prstGeom prst="roundRect">
            <a:avLst/>
          </a:prstGeom>
          <a:solidFill>
            <a:srgbClr val="162429"/>
          </a:solidFill>
          <a:ln w="16510">
            <a:solidFill>
              <a:srgbClr val="007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7040879" y="1472184"/>
            <a:ext cx="4517137" cy="3291840"/>
          </a:xfrm>
          <a:prstGeom prst="line">
            <a:avLst/>
          </a:prstGeom>
          <a:ln w="889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040879" y="1472184"/>
            <a:ext cx="4517137" cy="3291840"/>
          </a:xfrm>
          <a:prstGeom prst="line">
            <a:avLst/>
          </a:prstGeom>
          <a:ln w="889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99448" y="1453895"/>
            <a:ext cx="0" cy="3328417"/>
          </a:xfrm>
          <a:prstGeom prst="line">
            <a:avLst/>
          </a:prstGeom>
          <a:ln w="762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022592" y="3118104"/>
            <a:ext cx="4553712" cy="0"/>
          </a:xfrm>
          <a:prstGeom prst="line">
            <a:avLst/>
          </a:prstGeom>
          <a:ln w="762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9098280" y="2916936"/>
            <a:ext cx="402336" cy="402336"/>
          </a:xfrm>
          <a:prstGeom prst="ellipse">
            <a:avLst/>
          </a:prstGeom>
          <a:noFill/>
          <a:ln w="12700">
            <a:solidFill>
              <a:srgbClr val="007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49156" y="3067812"/>
            <a:ext cx="100584" cy="100584"/>
          </a:xfrm>
          <a:prstGeom prst="ellipse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22592" y="1453895"/>
            <a:ext cx="932688" cy="201168"/>
          </a:xfrm>
          <a:prstGeom prst="rect">
            <a:avLst/>
          </a:prstGeom>
          <a:solidFill>
            <a:srgbClr val="0D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77455" y="1495044"/>
            <a:ext cx="82296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B5E2"/>
                </a:solidFill>
                <a:latin typeface="Aptos"/>
                <a:spc val="55"/>
              </a:rPr>
              <a:t>FIELD 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77455" y="2999232"/>
            <a:ext cx="444398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AFB"/>
                </a:solidFill>
                <a:latin typeface="Aptos Display"/>
              </a:rPr>
              <a:t>[ INSERT PHOTO HERE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9168" y="4617720"/>
            <a:ext cx="44805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A9BEC3"/>
                </a:solidFill>
                <a:latin typeface="Aptos"/>
              </a:rPr>
              <a:t>Concrete vibrator operation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5065776"/>
            <a:ext cx="4754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6E8B91"/>
                </a:solidFill>
                <a:latin typeface="Aptos"/>
                <a:spc val="45"/>
              </a:rPr>
              <a:t>REPLACE WITH SITE PHOTO BEFORE ISSUE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30952"/>
            <a:ext cx="6080760" cy="749808"/>
          </a:xfrm>
          <a:prstGeom prst="roundRect">
            <a:avLst/>
          </a:prstGeom>
          <a:solidFill>
            <a:srgbClr val="6E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5477256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F04A4A"/>
                </a:solidFill>
                <a:latin typeface="Aptos"/>
                <a:spc val="75"/>
              </a:rPr>
              <a:t>ACTION REQUIRED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60136"/>
            <a:ext cx="5715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F5FAFB"/>
                </a:solidFill>
                <a:latin typeface="Aptos Display"/>
              </a:rPr>
              <a:t>Enforce safe handling procedures and ergonomics for vibrator operators.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236208"/>
            <a:ext cx="411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E8B91"/>
                </a:solidFill>
                <a:latin typeface="Aptos"/>
                <a:spc val="70"/>
              </a:rPr>
              <a:t>OWNER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" y="6217920"/>
            <a:ext cx="21488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F5FAFB"/>
                </a:solidFill>
                <a:latin typeface="Aptos"/>
              </a:rPr>
              <a:t>Concrete Subcontractor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56432" y="6236208"/>
            <a:ext cx="411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E8B91"/>
                </a:solidFill>
                <a:latin typeface="Aptos"/>
                <a:spc val="70"/>
              </a:rPr>
              <a:t>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6217920"/>
            <a:ext cx="26060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F5FAFB"/>
                </a:solidFill>
                <a:latin typeface="Aptos"/>
              </a:rPr>
              <a:t>Before next pour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0B5E2"/>
                </a:solidFill>
                <a:latin typeface="Aptos"/>
                <a:spc val="90"/>
              </a:rPr>
              <a:t>EHS / NIGHT SHIFT</a:t>
            </a:r>
          </a:p>
        </p:txBody>
      </p:sp>
      <p:pic>
        <p:nvPicPr>
          <p:cNvPr id="4" name="Picture 3" descr="siemens_energ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9608" y="173736"/>
            <a:ext cx="1325880" cy="30175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438912" y="612648"/>
            <a:ext cx="11320272" cy="0"/>
          </a:xfrm>
          <a:prstGeom prst="line">
            <a:avLst/>
          </a:prstGeom>
          <a:ln w="1016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912" y="6510528"/>
            <a:ext cx="3200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E8B91"/>
                </a:solidFill>
                <a:latin typeface="Aptos"/>
                <a:spc val="80"/>
              </a:rPr>
              <a:t>OBSERVATION 04  /  CORRECTIVE 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28632" y="6510528"/>
            <a:ext cx="2148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E8B91"/>
                </a:solidFill>
                <a:latin typeface="Aptos"/>
                <a:spc val="60"/>
              </a:rPr>
              <a:t>SIEMENS ENERGY  / 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32104"/>
            <a:ext cx="393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B5E2"/>
                </a:solidFill>
                <a:latin typeface="Aptos Display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88696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A9BEC3"/>
                </a:solidFill>
                <a:latin typeface="Aptos"/>
                <a:spc val="90"/>
              </a:rPr>
              <a:t>FIELD OBSERVATION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859536"/>
            <a:ext cx="1225296" cy="246888"/>
          </a:xfrm>
          <a:prstGeom prst="round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0" y="918971"/>
            <a:ext cx="113385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5FAFB"/>
                </a:solidFill>
                <a:latin typeface="Aptos"/>
                <a:spc val="70"/>
              </a:rPr>
              <a:t>CRITICAL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07592"/>
            <a:ext cx="65379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5FAFB"/>
                </a:solidFill>
                <a:latin typeface="Aptos Display"/>
              </a:rPr>
              <a:t>Concrete Pump Setup &amp; Outrigger Clearance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1901952"/>
            <a:ext cx="62179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00B5E2"/>
                </a:solidFill>
                <a:latin typeface="Aptos"/>
                <a:spc val="55"/>
              </a:rPr>
              <a:t>CONTROL GAP  •  NIGHT CONCRETE POURING OPERATION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240280"/>
            <a:ext cx="6080760" cy="1161288"/>
          </a:xfrm>
          <a:prstGeom prst="roundRect">
            <a:avLst/>
          </a:prstGeom>
          <a:solidFill>
            <a:srgbClr val="16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245059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00B5E2"/>
                </a:solidFill>
                <a:latin typeface="Aptos"/>
                <a:spc val="70"/>
              </a:rPr>
              <a:t>FINDING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2697480"/>
            <a:ext cx="5541264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10" b="1" i="0">
                <a:solidFill>
                  <a:srgbClr val="F5FAFB"/>
                </a:solidFill>
                <a:latin typeface="Aptos Display"/>
              </a:rPr>
              <a:t>Required outrigger clearance was not achieved per the approved setup plan; setback from the pit edge was insufficient.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21024"/>
            <a:ext cx="6080760" cy="1307592"/>
          </a:xfrm>
          <a:prstGeom prst="roundRect">
            <a:avLst/>
          </a:prstGeom>
          <a:solidFill>
            <a:srgbClr val="1B3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621024"/>
            <a:ext cx="50292" cy="1307592"/>
          </a:xfrm>
          <a:prstGeom prst="rect">
            <a:avLst/>
          </a:prstGeom>
          <a:solidFill>
            <a:srgbClr val="F3C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785615"/>
            <a:ext cx="5715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3C45D"/>
                </a:solidFill>
                <a:latin typeface="Aptos"/>
                <a:spc val="80"/>
              </a:rPr>
              <a:t>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986784"/>
            <a:ext cx="5696712" cy="832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5FAFB"/>
                </a:solidFill>
                <a:latin typeface="Aptos Display"/>
              </a:rPr>
              <a:t>Potential equipment instability, overturning and structural collapse.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76288" y="1307592"/>
            <a:ext cx="4846320" cy="3621024"/>
          </a:xfrm>
          <a:prstGeom prst="roundRect">
            <a:avLst/>
          </a:prstGeom>
          <a:solidFill>
            <a:srgbClr val="162429"/>
          </a:solidFill>
          <a:ln w="16510">
            <a:solidFill>
              <a:srgbClr val="007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7040879" y="1472184"/>
            <a:ext cx="4517137" cy="3291840"/>
          </a:xfrm>
          <a:prstGeom prst="line">
            <a:avLst/>
          </a:prstGeom>
          <a:ln w="889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040879" y="1472184"/>
            <a:ext cx="4517137" cy="3291840"/>
          </a:xfrm>
          <a:prstGeom prst="line">
            <a:avLst/>
          </a:prstGeom>
          <a:ln w="889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99448" y="1453895"/>
            <a:ext cx="0" cy="3328417"/>
          </a:xfrm>
          <a:prstGeom prst="line">
            <a:avLst/>
          </a:prstGeom>
          <a:ln w="762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022592" y="3118104"/>
            <a:ext cx="4553712" cy="0"/>
          </a:xfrm>
          <a:prstGeom prst="line">
            <a:avLst/>
          </a:prstGeom>
          <a:ln w="762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9098280" y="2916936"/>
            <a:ext cx="402336" cy="402336"/>
          </a:xfrm>
          <a:prstGeom prst="ellipse">
            <a:avLst/>
          </a:prstGeom>
          <a:noFill/>
          <a:ln w="12700">
            <a:solidFill>
              <a:srgbClr val="007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49156" y="3067812"/>
            <a:ext cx="100584" cy="100584"/>
          </a:xfrm>
          <a:prstGeom prst="ellipse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22592" y="1453895"/>
            <a:ext cx="932688" cy="201168"/>
          </a:xfrm>
          <a:prstGeom prst="rect">
            <a:avLst/>
          </a:prstGeom>
          <a:solidFill>
            <a:srgbClr val="0D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77455" y="1495044"/>
            <a:ext cx="82296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B5E2"/>
                </a:solidFill>
                <a:latin typeface="Aptos"/>
                <a:spc val="55"/>
              </a:rPr>
              <a:t>FIELD 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77455" y="2999232"/>
            <a:ext cx="444398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AFB"/>
                </a:solidFill>
                <a:latin typeface="Aptos Display"/>
              </a:rPr>
              <a:t>[ INSERT PHOTO HERE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9168" y="4617720"/>
            <a:ext cx="44805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A9BEC3"/>
                </a:solidFill>
                <a:latin typeface="Aptos"/>
              </a:rPr>
              <a:t>Pump outrigger setup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5065776"/>
            <a:ext cx="4754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6E8B91"/>
                </a:solidFill>
                <a:latin typeface="Aptos"/>
                <a:spc val="45"/>
              </a:rPr>
              <a:t>REPLACE WITH SITE PHOTO BEFORE ISSUE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30952"/>
            <a:ext cx="6080760" cy="749808"/>
          </a:xfrm>
          <a:prstGeom prst="roundRect">
            <a:avLst/>
          </a:prstGeom>
          <a:solidFill>
            <a:srgbClr val="6E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5477256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F04A4A"/>
                </a:solidFill>
                <a:latin typeface="Aptos"/>
                <a:spc val="75"/>
              </a:rPr>
              <a:t>ACTION REQUIRED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60136"/>
            <a:ext cx="5715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F5FAFB"/>
                </a:solidFill>
                <a:latin typeface="Aptos Display"/>
              </a:rPr>
              <a:t>Immediately relocate / re-set the pump with fully extended outriggers and safe setback from the excavation edge.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236208"/>
            <a:ext cx="411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E8B91"/>
                </a:solidFill>
                <a:latin typeface="Aptos"/>
                <a:spc val="70"/>
              </a:rPr>
              <a:t>OWNER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" y="6217920"/>
            <a:ext cx="21488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F5FAFB"/>
                </a:solidFill>
                <a:latin typeface="Aptos"/>
              </a:rPr>
              <a:t>Pump Supervisor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56432" y="6236208"/>
            <a:ext cx="411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E8B91"/>
                </a:solidFill>
                <a:latin typeface="Aptos"/>
                <a:spc val="70"/>
              </a:rPr>
              <a:t>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6217920"/>
            <a:ext cx="26060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F5FAFB"/>
                </a:solidFill>
                <a:latin typeface="Aptos"/>
              </a:rPr>
              <a:t>STOP / re-set now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0B5E2"/>
                </a:solidFill>
                <a:latin typeface="Aptos"/>
                <a:spc val="90"/>
              </a:rPr>
              <a:t>EHS / NIGHT SHIFT</a:t>
            </a:r>
          </a:p>
        </p:txBody>
      </p:sp>
      <p:pic>
        <p:nvPicPr>
          <p:cNvPr id="4" name="Picture 3" descr="siemens_energ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9608" y="173736"/>
            <a:ext cx="1325880" cy="30175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438912" y="612648"/>
            <a:ext cx="11320272" cy="0"/>
          </a:xfrm>
          <a:prstGeom prst="line">
            <a:avLst/>
          </a:prstGeom>
          <a:ln w="1016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912" y="6510528"/>
            <a:ext cx="3200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E8B91"/>
                </a:solidFill>
                <a:latin typeface="Aptos"/>
                <a:spc val="80"/>
              </a:rPr>
              <a:t>OBSERVATION 05  /  CORRECTIVE 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28632" y="6510528"/>
            <a:ext cx="2148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E8B91"/>
                </a:solidFill>
                <a:latin typeface="Aptos"/>
                <a:spc val="60"/>
              </a:rPr>
              <a:t>SIEMENS ENERGY  / 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32104"/>
            <a:ext cx="393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B5E2"/>
                </a:solidFill>
                <a:latin typeface="Aptos Display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88696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A9BEC3"/>
                </a:solidFill>
                <a:latin typeface="Aptos"/>
                <a:spc val="90"/>
              </a:rPr>
              <a:t>FIELD OBSERVATION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859536"/>
            <a:ext cx="1225296" cy="246888"/>
          </a:xfrm>
          <a:prstGeom prst="round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0" y="918971"/>
            <a:ext cx="113385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5FAFB"/>
                </a:solidFill>
                <a:latin typeface="Aptos"/>
                <a:spc val="70"/>
              </a:rPr>
              <a:t>CRITICAL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07592"/>
            <a:ext cx="65379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5FAFB"/>
                </a:solidFill>
                <a:latin typeface="Aptos Display"/>
              </a:rPr>
              <a:t>Concrete Mixer Drivers’ Qualification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1901952"/>
            <a:ext cx="62179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00B5E2"/>
                </a:solidFill>
                <a:latin typeface="Aptos"/>
                <a:spc val="55"/>
              </a:rPr>
              <a:t>CONTROL GAP  •  NIGHT CONCRETE POURING OPERATION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240280"/>
            <a:ext cx="6080760" cy="1161288"/>
          </a:xfrm>
          <a:prstGeom prst="roundRect">
            <a:avLst/>
          </a:prstGeom>
          <a:solidFill>
            <a:srgbClr val="16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245059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00B5E2"/>
                </a:solidFill>
                <a:latin typeface="Aptos"/>
                <a:spc val="70"/>
              </a:rPr>
              <a:t>FINDING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2697480"/>
            <a:ext cx="5541264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10" b="1" i="0">
                <a:solidFill>
                  <a:srgbClr val="F5FAFB"/>
                </a:solidFill>
                <a:latin typeface="Aptos Display"/>
              </a:rPr>
              <a:t>None of the concrete mixer operators possessed a valid driving license or third-party competency certificate.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21024"/>
            <a:ext cx="6080760" cy="1307592"/>
          </a:xfrm>
          <a:prstGeom prst="roundRect">
            <a:avLst/>
          </a:prstGeom>
          <a:solidFill>
            <a:srgbClr val="1B3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621024"/>
            <a:ext cx="50292" cy="1307592"/>
          </a:xfrm>
          <a:prstGeom prst="rect">
            <a:avLst/>
          </a:prstGeom>
          <a:solidFill>
            <a:srgbClr val="F3C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785615"/>
            <a:ext cx="5715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3C45D"/>
                </a:solidFill>
                <a:latin typeface="Aptos"/>
                <a:spc val="80"/>
              </a:rPr>
              <a:t>CONTROL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986784"/>
            <a:ext cx="5696712" cy="832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5FAFB"/>
                </a:solidFill>
                <a:latin typeface="Aptos Display"/>
              </a:rPr>
              <a:t>Unverified drivers create an immediate authorization and road-vehicle interface exposure.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76288" y="1307592"/>
            <a:ext cx="4846320" cy="3621024"/>
          </a:xfrm>
          <a:prstGeom prst="roundRect">
            <a:avLst/>
          </a:prstGeom>
          <a:solidFill>
            <a:srgbClr val="162429"/>
          </a:solidFill>
          <a:ln w="16510">
            <a:solidFill>
              <a:srgbClr val="007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7040879" y="1472184"/>
            <a:ext cx="4517137" cy="3291840"/>
          </a:xfrm>
          <a:prstGeom prst="line">
            <a:avLst/>
          </a:prstGeom>
          <a:ln w="889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040879" y="1472184"/>
            <a:ext cx="4517137" cy="3291840"/>
          </a:xfrm>
          <a:prstGeom prst="line">
            <a:avLst/>
          </a:prstGeom>
          <a:ln w="889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99448" y="1453895"/>
            <a:ext cx="0" cy="3328417"/>
          </a:xfrm>
          <a:prstGeom prst="line">
            <a:avLst/>
          </a:prstGeom>
          <a:ln w="762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022592" y="3118104"/>
            <a:ext cx="4553712" cy="0"/>
          </a:xfrm>
          <a:prstGeom prst="line">
            <a:avLst/>
          </a:prstGeom>
          <a:ln w="762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9098280" y="2916936"/>
            <a:ext cx="402336" cy="402336"/>
          </a:xfrm>
          <a:prstGeom prst="ellipse">
            <a:avLst/>
          </a:prstGeom>
          <a:noFill/>
          <a:ln w="12700">
            <a:solidFill>
              <a:srgbClr val="007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49156" y="3067812"/>
            <a:ext cx="100584" cy="100584"/>
          </a:xfrm>
          <a:prstGeom prst="ellipse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22592" y="1453895"/>
            <a:ext cx="932688" cy="201168"/>
          </a:xfrm>
          <a:prstGeom prst="rect">
            <a:avLst/>
          </a:prstGeom>
          <a:solidFill>
            <a:srgbClr val="0D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77455" y="1495044"/>
            <a:ext cx="82296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B5E2"/>
                </a:solidFill>
                <a:latin typeface="Aptos"/>
                <a:spc val="55"/>
              </a:rPr>
              <a:t>FIELD 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77455" y="2999232"/>
            <a:ext cx="444398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AFB"/>
                </a:solidFill>
                <a:latin typeface="Aptos Display"/>
              </a:rPr>
              <a:t>[ INSERT PHOTO HERE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9168" y="4617720"/>
            <a:ext cx="44805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A9BEC3"/>
                </a:solidFill>
                <a:latin typeface="Aptos"/>
              </a:rPr>
              <a:t>Mixer truck / verification check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5065776"/>
            <a:ext cx="4754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6E8B91"/>
                </a:solidFill>
                <a:latin typeface="Aptos"/>
                <a:spc val="45"/>
              </a:rPr>
              <a:t>REPLACE WITH SITE PHOTO BEFORE ISSUE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30952"/>
            <a:ext cx="6080760" cy="749808"/>
          </a:xfrm>
          <a:prstGeom prst="roundRect">
            <a:avLst/>
          </a:prstGeom>
          <a:solidFill>
            <a:srgbClr val="6E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5477256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F04A4A"/>
                </a:solidFill>
                <a:latin typeface="Aptos"/>
                <a:spc val="75"/>
              </a:rPr>
              <a:t>ACTION REQUIRED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60136"/>
            <a:ext cx="5715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F5FAFB"/>
                </a:solidFill>
                <a:latin typeface="Aptos Display"/>
              </a:rPr>
              <a:t>Stop unauthorized drivers. Validate and collect third-party certificates and valid licenses before site entry.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236208"/>
            <a:ext cx="411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E8B91"/>
                </a:solidFill>
                <a:latin typeface="Aptos"/>
                <a:spc val="70"/>
              </a:rPr>
              <a:t>OWNER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" y="6217920"/>
            <a:ext cx="21488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F5FAFB"/>
                </a:solidFill>
                <a:latin typeface="Aptos"/>
              </a:rPr>
              <a:t>Transport Contractor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56432" y="6236208"/>
            <a:ext cx="411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E8B91"/>
                </a:solidFill>
                <a:latin typeface="Aptos"/>
                <a:spc val="70"/>
              </a:rPr>
              <a:t>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6217920"/>
            <a:ext cx="26060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F5FAFB"/>
                </a:solidFill>
                <a:latin typeface="Aptos"/>
              </a:rPr>
              <a:t>Before site entry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0B5E2"/>
                </a:solidFill>
                <a:latin typeface="Aptos"/>
                <a:spc val="90"/>
              </a:rPr>
              <a:t>EHS / NIGHT SHIFT</a:t>
            </a:r>
          </a:p>
        </p:txBody>
      </p:sp>
      <p:pic>
        <p:nvPicPr>
          <p:cNvPr id="4" name="Picture 3" descr="siemens_energ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9608" y="173736"/>
            <a:ext cx="1325880" cy="30175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438912" y="612648"/>
            <a:ext cx="11320272" cy="0"/>
          </a:xfrm>
          <a:prstGeom prst="line">
            <a:avLst/>
          </a:prstGeom>
          <a:ln w="1016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912" y="6510528"/>
            <a:ext cx="3200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E8B91"/>
                </a:solidFill>
                <a:latin typeface="Aptos"/>
                <a:spc val="80"/>
              </a:rPr>
              <a:t>OBSERVATION 06  /  CORRECTIVE 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28632" y="6510528"/>
            <a:ext cx="2148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E8B91"/>
                </a:solidFill>
                <a:latin typeface="Aptos"/>
                <a:spc val="60"/>
              </a:rPr>
              <a:t>SIEMENS ENERGY  / 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32104"/>
            <a:ext cx="393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B5E2"/>
                </a:solidFill>
                <a:latin typeface="Aptos Display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88696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A9BEC3"/>
                </a:solidFill>
                <a:latin typeface="Aptos"/>
                <a:spc val="90"/>
              </a:rPr>
              <a:t>FIELD OBSERVATION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859536"/>
            <a:ext cx="1078992" cy="246888"/>
          </a:xfrm>
          <a:prstGeom prst="roundRect">
            <a:avLst/>
          </a:prstGeom>
          <a:solidFill>
            <a:srgbClr val="F3C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0" y="918971"/>
            <a:ext cx="987551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5FAFB"/>
                </a:solidFill>
                <a:latin typeface="Aptos"/>
                <a:spc val="70"/>
              </a:rP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07592"/>
            <a:ext cx="65379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5FAFB"/>
                </a:solidFill>
                <a:latin typeface="Aptos Display"/>
              </a:rPr>
              <a:t>Improper Concrete Waste Disposal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1901952"/>
            <a:ext cx="62179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00B5E2"/>
                </a:solidFill>
                <a:latin typeface="Aptos"/>
                <a:spc val="55"/>
              </a:rPr>
              <a:t>CONTROL GAP  •  NIGHT CONCRETE POURING OPERATION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240280"/>
            <a:ext cx="6080760" cy="1161288"/>
          </a:xfrm>
          <a:prstGeom prst="roundRect">
            <a:avLst/>
          </a:prstGeom>
          <a:solidFill>
            <a:srgbClr val="16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245059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00B5E2"/>
                </a:solidFill>
                <a:latin typeface="Aptos"/>
                <a:spc val="70"/>
              </a:rPr>
              <a:t>FINDING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2697480"/>
            <a:ext cx="5541264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10" b="1" i="0">
                <a:solidFill>
                  <a:srgbClr val="F5FAFB"/>
                </a:solidFill>
                <a:latin typeface="Aptos Display"/>
              </a:rPr>
              <a:t>Leftover concrete was repeatedly discharged directly onto the ground instead of designated sheets or disposal pits.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21024"/>
            <a:ext cx="6080760" cy="1307592"/>
          </a:xfrm>
          <a:prstGeom prst="roundRect">
            <a:avLst/>
          </a:prstGeom>
          <a:solidFill>
            <a:srgbClr val="1B3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621024"/>
            <a:ext cx="50292" cy="1307592"/>
          </a:xfrm>
          <a:prstGeom prst="rect">
            <a:avLst/>
          </a:prstGeom>
          <a:solidFill>
            <a:srgbClr val="F3C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785615"/>
            <a:ext cx="5715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3C45D"/>
                </a:solidFill>
                <a:latin typeface="Aptos"/>
                <a:spc val="80"/>
              </a:rPr>
              <a:t>ENVIRONMENTAL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986784"/>
            <a:ext cx="5696712" cy="832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5FAFB"/>
                </a:solidFill>
                <a:latin typeface="Aptos Display"/>
              </a:rPr>
              <a:t>Uncontrolled discharge contaminates the work area and defeats the approved waste route.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76288" y="1307592"/>
            <a:ext cx="2340864" cy="3621024"/>
          </a:xfrm>
          <a:prstGeom prst="roundRect">
            <a:avLst/>
          </a:prstGeom>
          <a:solidFill>
            <a:srgbClr val="162429"/>
          </a:solidFill>
          <a:ln w="16510">
            <a:solidFill>
              <a:srgbClr val="007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7040879" y="1472184"/>
            <a:ext cx="2011681" cy="3291840"/>
          </a:xfrm>
          <a:prstGeom prst="line">
            <a:avLst/>
          </a:prstGeom>
          <a:ln w="889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040879" y="1472184"/>
            <a:ext cx="2011681" cy="3291840"/>
          </a:xfrm>
          <a:prstGeom prst="line">
            <a:avLst/>
          </a:prstGeom>
          <a:ln w="889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46719" y="1453895"/>
            <a:ext cx="0" cy="3328417"/>
          </a:xfrm>
          <a:prstGeom prst="line">
            <a:avLst/>
          </a:prstGeom>
          <a:ln w="762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022592" y="3118104"/>
            <a:ext cx="2048256" cy="0"/>
          </a:xfrm>
          <a:prstGeom prst="line">
            <a:avLst/>
          </a:prstGeom>
          <a:ln w="762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7845551" y="2916936"/>
            <a:ext cx="402336" cy="402336"/>
          </a:xfrm>
          <a:prstGeom prst="ellipse">
            <a:avLst/>
          </a:prstGeom>
          <a:noFill/>
          <a:ln w="12700">
            <a:solidFill>
              <a:srgbClr val="007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96427" y="3067812"/>
            <a:ext cx="100584" cy="100584"/>
          </a:xfrm>
          <a:prstGeom prst="ellipse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22592" y="1453895"/>
            <a:ext cx="932688" cy="201168"/>
          </a:xfrm>
          <a:prstGeom prst="rect">
            <a:avLst/>
          </a:prstGeom>
          <a:solidFill>
            <a:srgbClr val="0D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77455" y="1495044"/>
            <a:ext cx="82296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B5E2"/>
                </a:solidFill>
                <a:latin typeface="Aptos"/>
                <a:spc val="55"/>
              </a:rPr>
              <a:t>FIELD EVIDENCE 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77455" y="2999232"/>
            <a:ext cx="19385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AFB"/>
                </a:solidFill>
                <a:latin typeface="Aptos Display"/>
              </a:rPr>
              <a:t>[ INSERT PHOTO HERE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9168" y="4617720"/>
            <a:ext cx="19751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A9BEC3"/>
                </a:solidFill>
                <a:latin typeface="Aptos"/>
              </a:rPr>
              <a:t>Dumped concrete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81744" y="1307592"/>
            <a:ext cx="2340864" cy="3621024"/>
          </a:xfrm>
          <a:prstGeom prst="roundRect">
            <a:avLst/>
          </a:prstGeom>
          <a:solidFill>
            <a:srgbClr val="162429"/>
          </a:solidFill>
          <a:ln w="16510">
            <a:solidFill>
              <a:srgbClr val="007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9546336" y="1472184"/>
            <a:ext cx="2011680" cy="3291840"/>
          </a:xfrm>
          <a:prstGeom prst="line">
            <a:avLst/>
          </a:prstGeom>
          <a:ln w="889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9546336" y="1472184"/>
            <a:ext cx="2011680" cy="3291840"/>
          </a:xfrm>
          <a:prstGeom prst="line">
            <a:avLst/>
          </a:prstGeom>
          <a:ln w="889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552176" y="1453895"/>
            <a:ext cx="0" cy="3328417"/>
          </a:xfrm>
          <a:prstGeom prst="line">
            <a:avLst/>
          </a:prstGeom>
          <a:ln w="762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528048" y="3118104"/>
            <a:ext cx="2048256" cy="0"/>
          </a:xfrm>
          <a:prstGeom prst="line">
            <a:avLst/>
          </a:prstGeom>
          <a:ln w="762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0351007" y="2916936"/>
            <a:ext cx="402336" cy="402336"/>
          </a:xfrm>
          <a:prstGeom prst="ellipse">
            <a:avLst/>
          </a:prstGeom>
          <a:noFill/>
          <a:ln w="12700">
            <a:solidFill>
              <a:srgbClr val="007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501884" y="3067812"/>
            <a:ext cx="100584" cy="100584"/>
          </a:xfrm>
          <a:prstGeom prst="ellipse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28048" y="1453895"/>
            <a:ext cx="932688" cy="201168"/>
          </a:xfrm>
          <a:prstGeom prst="rect">
            <a:avLst/>
          </a:prstGeom>
          <a:solidFill>
            <a:srgbClr val="0D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82912" y="1495044"/>
            <a:ext cx="82296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B5E2"/>
                </a:solidFill>
                <a:latin typeface="Aptos"/>
                <a:spc val="55"/>
              </a:rPr>
              <a:t>FIELD EVIDENCE 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82912" y="2999232"/>
            <a:ext cx="19385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AFB"/>
                </a:solidFill>
                <a:latin typeface="Aptos Display"/>
              </a:rPr>
              <a:t>[ INSERT PHOTO HERE 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64624" y="4617720"/>
            <a:ext cx="19751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A9BEC3"/>
                </a:solidFill>
                <a:latin typeface="Aptos"/>
              </a:rPr>
              <a:t>Designated wash-out area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03720" y="5065776"/>
            <a:ext cx="4754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6E8B91"/>
                </a:solidFill>
                <a:latin typeface="Aptos"/>
                <a:spc val="45"/>
              </a:rPr>
              <a:t>REPLACE WITH SITE PHOTO BEFORE ISSUE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5330952"/>
            <a:ext cx="6080760" cy="749808"/>
          </a:xfrm>
          <a:prstGeom prst="roundRect">
            <a:avLst/>
          </a:prstGeom>
          <a:solidFill>
            <a:srgbClr val="6C4C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5477256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F3C45D"/>
                </a:solidFill>
                <a:latin typeface="Aptos"/>
                <a:spc val="75"/>
              </a:rPr>
              <a:t>ACTION REQUIRED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5660136"/>
            <a:ext cx="5715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F5FAFB"/>
                </a:solidFill>
                <a:latin typeface="Aptos Display"/>
              </a:rPr>
              <a:t>Stop illegal dumping immediately. Use polythene sheets and designated wash-out areas for every load.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236208"/>
            <a:ext cx="411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E8B91"/>
                </a:solidFill>
                <a:latin typeface="Aptos"/>
                <a:spc val="70"/>
              </a:rPr>
              <a:t>OWNER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2688" y="6217920"/>
            <a:ext cx="21488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F5FAFB"/>
                </a:solidFill>
                <a:latin typeface="Aptos"/>
              </a:rPr>
              <a:t>Environmental Lead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56432" y="6236208"/>
            <a:ext cx="411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E8B91"/>
                </a:solidFill>
                <a:latin typeface="Aptos"/>
                <a:spc val="70"/>
              </a:rPr>
              <a:t>CLOSE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31920" y="6217920"/>
            <a:ext cx="26060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F5FAFB"/>
                </a:solidFill>
                <a:latin typeface="Aptos"/>
              </a:rPr>
              <a:t>Same shift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0B5E2"/>
                </a:solidFill>
                <a:latin typeface="Aptos"/>
                <a:spc val="90"/>
              </a:rPr>
              <a:t>EHS / NIGHT SHIFT</a:t>
            </a:r>
          </a:p>
        </p:txBody>
      </p:sp>
      <p:pic>
        <p:nvPicPr>
          <p:cNvPr id="4" name="Picture 3" descr="siemens_energ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9608" y="173736"/>
            <a:ext cx="1325880" cy="30175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438912" y="612648"/>
            <a:ext cx="11320272" cy="0"/>
          </a:xfrm>
          <a:prstGeom prst="line">
            <a:avLst/>
          </a:prstGeom>
          <a:ln w="1016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912" y="6510528"/>
            <a:ext cx="3200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E8B91"/>
                </a:solidFill>
                <a:latin typeface="Aptos"/>
                <a:spc val="80"/>
              </a:rPr>
              <a:t>OBSERVATION 07  /  CORRECTIVE 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28632" y="6510528"/>
            <a:ext cx="2148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E8B91"/>
                </a:solidFill>
                <a:latin typeface="Aptos"/>
                <a:spc val="60"/>
              </a:rPr>
              <a:t>SIEMENS ENERGY  / 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32104"/>
            <a:ext cx="393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B5E2"/>
                </a:solidFill>
                <a:latin typeface="Aptos Display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88696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A9BEC3"/>
                </a:solidFill>
                <a:latin typeface="Aptos"/>
                <a:spc val="90"/>
              </a:rPr>
              <a:t>FIELD OBSERVATION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859536"/>
            <a:ext cx="1078992" cy="246888"/>
          </a:xfrm>
          <a:prstGeom prst="round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0" y="918971"/>
            <a:ext cx="987551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5FAFB"/>
                </a:solidFill>
                <a:latin typeface="Aptos"/>
                <a:spc val="70"/>
              </a:rP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07592"/>
            <a:ext cx="65379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5FAFB"/>
                </a:solidFill>
                <a:latin typeface="Aptos Display"/>
              </a:rPr>
              <a:t>Temporary Lighting Cable Joint Safety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1901952"/>
            <a:ext cx="62179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00B5E2"/>
                </a:solidFill>
                <a:latin typeface="Aptos"/>
                <a:spc val="55"/>
              </a:rPr>
              <a:t>CONTROL GAP  •  NIGHT CONCRETE POURING OPERATION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240280"/>
            <a:ext cx="6080760" cy="1161288"/>
          </a:xfrm>
          <a:prstGeom prst="roundRect">
            <a:avLst/>
          </a:prstGeom>
          <a:solidFill>
            <a:srgbClr val="16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245059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00B5E2"/>
                </a:solidFill>
                <a:latin typeface="Aptos"/>
                <a:spc val="70"/>
              </a:rPr>
              <a:t>FINDING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2697480"/>
            <a:ext cx="5541264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10" b="1" i="0">
                <a:solidFill>
                  <a:srgbClr val="F5FAFB"/>
                </a:solidFill>
                <a:latin typeface="Aptos Display"/>
              </a:rPr>
              <a:t>Lighting cables contained exposed / temporary joints, creating severe electrical and trip hazards during night shift.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21024"/>
            <a:ext cx="6080760" cy="1307592"/>
          </a:xfrm>
          <a:prstGeom prst="roundRect">
            <a:avLst/>
          </a:prstGeom>
          <a:solidFill>
            <a:srgbClr val="1B3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621024"/>
            <a:ext cx="50292" cy="1307592"/>
          </a:xfrm>
          <a:prstGeom prst="rect">
            <a:avLst/>
          </a:prstGeom>
          <a:solidFill>
            <a:srgbClr val="F3C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785615"/>
            <a:ext cx="5715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3C45D"/>
                </a:solidFill>
                <a:latin typeface="Aptos"/>
                <a:spc val="80"/>
              </a:rPr>
              <a:t>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986784"/>
            <a:ext cx="5696712" cy="832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5FAFB"/>
                </a:solidFill>
                <a:latin typeface="Aptos Display"/>
              </a:rPr>
              <a:t>Low-light conditions amplify both electric shock and trip potential at the workface.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76288" y="1307592"/>
            <a:ext cx="4846320" cy="3621024"/>
          </a:xfrm>
          <a:prstGeom prst="roundRect">
            <a:avLst/>
          </a:prstGeom>
          <a:solidFill>
            <a:srgbClr val="162429"/>
          </a:solidFill>
          <a:ln w="16510">
            <a:solidFill>
              <a:srgbClr val="007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7040879" y="1472184"/>
            <a:ext cx="4517137" cy="3291840"/>
          </a:xfrm>
          <a:prstGeom prst="line">
            <a:avLst/>
          </a:prstGeom>
          <a:ln w="889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040879" y="1472184"/>
            <a:ext cx="4517137" cy="3291840"/>
          </a:xfrm>
          <a:prstGeom prst="line">
            <a:avLst/>
          </a:prstGeom>
          <a:ln w="889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99448" y="1453895"/>
            <a:ext cx="0" cy="3328417"/>
          </a:xfrm>
          <a:prstGeom prst="line">
            <a:avLst/>
          </a:prstGeom>
          <a:ln w="762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022592" y="3118104"/>
            <a:ext cx="4553712" cy="0"/>
          </a:xfrm>
          <a:prstGeom prst="line">
            <a:avLst/>
          </a:prstGeom>
          <a:ln w="762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9098280" y="2916936"/>
            <a:ext cx="402336" cy="402336"/>
          </a:xfrm>
          <a:prstGeom prst="ellipse">
            <a:avLst/>
          </a:prstGeom>
          <a:noFill/>
          <a:ln w="12700">
            <a:solidFill>
              <a:srgbClr val="007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49156" y="3067812"/>
            <a:ext cx="100584" cy="100584"/>
          </a:xfrm>
          <a:prstGeom prst="ellipse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22592" y="1453895"/>
            <a:ext cx="932688" cy="201168"/>
          </a:xfrm>
          <a:prstGeom prst="rect">
            <a:avLst/>
          </a:prstGeom>
          <a:solidFill>
            <a:srgbClr val="0D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77455" y="1495044"/>
            <a:ext cx="82296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B5E2"/>
                </a:solidFill>
                <a:latin typeface="Aptos"/>
                <a:spc val="55"/>
              </a:rPr>
              <a:t>FIELD 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77455" y="2999232"/>
            <a:ext cx="444398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AFB"/>
                </a:solidFill>
                <a:latin typeface="Aptos Display"/>
              </a:rPr>
              <a:t>[ INSERT PHOTO HERE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9168" y="4617720"/>
            <a:ext cx="44805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A9BEC3"/>
                </a:solidFill>
                <a:latin typeface="Aptos"/>
              </a:rPr>
              <a:t>Exposed cable joint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5065776"/>
            <a:ext cx="4754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6E8B91"/>
                </a:solidFill>
                <a:latin typeface="Aptos"/>
                <a:spc val="45"/>
              </a:rPr>
              <a:t>REPLACE WITH SITE PHOTO BEFORE ISSUE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30952"/>
            <a:ext cx="6080760" cy="749808"/>
          </a:xfrm>
          <a:prstGeom prst="roundRect">
            <a:avLst/>
          </a:prstGeom>
          <a:solidFill>
            <a:srgbClr val="6E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5477256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F04A4A"/>
                </a:solidFill>
                <a:latin typeface="Aptos"/>
                <a:spc val="75"/>
              </a:rPr>
              <a:t>ACTION REQUIRED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60136"/>
            <a:ext cx="5715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F5FAFB"/>
                </a:solidFill>
                <a:latin typeface="Aptos Display"/>
              </a:rPr>
              <a:t>Repair and properly insulate all joints using industrial-grade weather-proof connectors.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236208"/>
            <a:ext cx="411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E8B91"/>
                </a:solidFill>
                <a:latin typeface="Aptos"/>
                <a:spc val="70"/>
              </a:rPr>
              <a:t>OWNER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" y="6217920"/>
            <a:ext cx="21488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F5FAFB"/>
                </a:solidFill>
                <a:latin typeface="Aptos"/>
              </a:rPr>
              <a:t>Electrical Contractor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56432" y="6236208"/>
            <a:ext cx="411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E8B91"/>
                </a:solidFill>
                <a:latin typeface="Aptos"/>
                <a:spc val="70"/>
              </a:rPr>
              <a:t>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6217920"/>
            <a:ext cx="26060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F5FAFB"/>
                </a:solidFill>
                <a:latin typeface="Aptos"/>
              </a:rPr>
              <a:t>Before night work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0B5E2"/>
                </a:solidFill>
                <a:latin typeface="Aptos"/>
                <a:spc val="90"/>
              </a:rPr>
              <a:t>EHS / NIGHT SHIFT</a:t>
            </a:r>
          </a:p>
        </p:txBody>
      </p:sp>
      <p:pic>
        <p:nvPicPr>
          <p:cNvPr id="4" name="Picture 3" descr="siemens_energ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9608" y="173736"/>
            <a:ext cx="1325880" cy="30175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438912" y="612648"/>
            <a:ext cx="11320272" cy="0"/>
          </a:xfrm>
          <a:prstGeom prst="line">
            <a:avLst/>
          </a:prstGeom>
          <a:ln w="1016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912" y="6510528"/>
            <a:ext cx="3200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E8B91"/>
                </a:solidFill>
                <a:latin typeface="Aptos"/>
                <a:spc val="80"/>
              </a:rPr>
              <a:t>OBSERVATION 08  /  CORRECTIVE 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28632" y="6510528"/>
            <a:ext cx="2148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E8B91"/>
                </a:solidFill>
                <a:latin typeface="Aptos"/>
                <a:spc val="60"/>
              </a:rPr>
              <a:t>SIEMENS ENERGY  /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32104"/>
            <a:ext cx="393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B5E2"/>
                </a:solidFill>
                <a:latin typeface="Aptos Display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88696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A9BEC3"/>
                </a:solidFill>
                <a:latin typeface="Aptos"/>
                <a:spc val="90"/>
              </a:rPr>
              <a:t>FIELD OBSERVATION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859536"/>
            <a:ext cx="1078992" cy="246888"/>
          </a:xfrm>
          <a:prstGeom prst="round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0" y="918971"/>
            <a:ext cx="987551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5FAFB"/>
                </a:solidFill>
                <a:latin typeface="Aptos"/>
                <a:spc val="70"/>
              </a:rP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07592"/>
            <a:ext cx="65379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5FAFB"/>
                </a:solidFill>
                <a:latin typeface="Aptos Display"/>
              </a:rPr>
              <a:t>Manual Movement of an Operating Concrete Vibrator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1901952"/>
            <a:ext cx="62179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00B5E2"/>
                </a:solidFill>
                <a:latin typeface="Aptos"/>
                <a:spc val="55"/>
              </a:rPr>
              <a:t>CONTROL GAP  •  NIGHT CONCRETE POURING OPERATION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240280"/>
            <a:ext cx="6080760" cy="1161288"/>
          </a:xfrm>
          <a:prstGeom prst="roundRect">
            <a:avLst/>
          </a:prstGeom>
          <a:solidFill>
            <a:srgbClr val="16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245059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00B5E2"/>
                </a:solidFill>
                <a:latin typeface="Aptos"/>
                <a:spc val="70"/>
              </a:rPr>
              <a:t>FINDING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2697480"/>
            <a:ext cx="5541264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10" b="1" i="0">
                <a:solidFill>
                  <a:srgbClr val="F5FAFB"/>
                </a:solidFill>
                <a:latin typeface="Aptos Display"/>
              </a:rPr>
              <a:t>Workers were observed manually moving the handheld concrete vibrator while it remained switched on and operating.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21024"/>
            <a:ext cx="6080760" cy="1307592"/>
          </a:xfrm>
          <a:prstGeom prst="roundRect">
            <a:avLst/>
          </a:prstGeom>
          <a:solidFill>
            <a:srgbClr val="1B3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621024"/>
            <a:ext cx="50292" cy="1307592"/>
          </a:xfrm>
          <a:prstGeom prst="rect">
            <a:avLst/>
          </a:prstGeom>
          <a:solidFill>
            <a:srgbClr val="F3C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785615"/>
            <a:ext cx="5715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3C45D"/>
                </a:solidFill>
                <a:latin typeface="Aptos"/>
                <a:spc val="80"/>
              </a:rPr>
              <a:t>KEY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986784"/>
            <a:ext cx="5696712" cy="832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5FAFB"/>
                </a:solidFill>
                <a:latin typeface="Aptos Display"/>
              </a:rPr>
              <a:t>Is manual movement of an operating vibrator acceptable without a stop–move–restart control?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76288" y="1307592"/>
            <a:ext cx="4846320" cy="3621024"/>
          </a:xfrm>
          <a:prstGeom prst="roundRect">
            <a:avLst/>
          </a:prstGeom>
          <a:solidFill>
            <a:srgbClr val="162429"/>
          </a:solidFill>
          <a:ln w="16510">
            <a:solidFill>
              <a:srgbClr val="007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7040879" y="1472184"/>
            <a:ext cx="4517137" cy="3291840"/>
          </a:xfrm>
          <a:prstGeom prst="line">
            <a:avLst/>
          </a:prstGeom>
          <a:ln w="889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040879" y="1472184"/>
            <a:ext cx="4517137" cy="3291840"/>
          </a:xfrm>
          <a:prstGeom prst="line">
            <a:avLst/>
          </a:prstGeom>
          <a:ln w="889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99448" y="1453895"/>
            <a:ext cx="0" cy="3328417"/>
          </a:xfrm>
          <a:prstGeom prst="line">
            <a:avLst/>
          </a:prstGeom>
          <a:ln w="762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022592" y="3118104"/>
            <a:ext cx="4553712" cy="0"/>
          </a:xfrm>
          <a:prstGeom prst="line">
            <a:avLst/>
          </a:prstGeom>
          <a:ln w="762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9098280" y="2916936"/>
            <a:ext cx="402336" cy="402336"/>
          </a:xfrm>
          <a:prstGeom prst="ellipse">
            <a:avLst/>
          </a:prstGeom>
          <a:noFill/>
          <a:ln w="12700">
            <a:solidFill>
              <a:srgbClr val="007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49156" y="3067812"/>
            <a:ext cx="100584" cy="100584"/>
          </a:xfrm>
          <a:prstGeom prst="ellipse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22592" y="1453895"/>
            <a:ext cx="932688" cy="201168"/>
          </a:xfrm>
          <a:prstGeom prst="rect">
            <a:avLst/>
          </a:prstGeom>
          <a:solidFill>
            <a:srgbClr val="0D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77455" y="1495044"/>
            <a:ext cx="82296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B5E2"/>
                </a:solidFill>
                <a:latin typeface="Aptos"/>
                <a:spc val="55"/>
              </a:rPr>
              <a:t>FIELD 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77455" y="2999232"/>
            <a:ext cx="444398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FAFB"/>
                </a:solidFill>
                <a:latin typeface="Aptos Display"/>
              </a:rPr>
              <a:t>[ INSERT PHOTO HERE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9168" y="4617720"/>
            <a:ext cx="44805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A9BEC3"/>
                </a:solidFill>
                <a:latin typeface="Aptos"/>
              </a:rPr>
              <a:t>Vibrator being moved while operating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5065776"/>
            <a:ext cx="4754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6E8B91"/>
                </a:solidFill>
                <a:latin typeface="Aptos"/>
                <a:spc val="45"/>
              </a:rPr>
              <a:t>REPLACE WITH SITE PHOTO BEFORE ISSUE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30952"/>
            <a:ext cx="6080760" cy="749808"/>
          </a:xfrm>
          <a:prstGeom prst="roundRect">
            <a:avLst/>
          </a:prstGeom>
          <a:solidFill>
            <a:srgbClr val="6E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5477256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F04A4A"/>
                </a:solidFill>
                <a:latin typeface="Aptos"/>
                <a:spc val="75"/>
              </a:rPr>
              <a:t>ACTION REQUIRED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60136"/>
            <a:ext cx="5715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F5FAFB"/>
                </a:solidFill>
                <a:latin typeface="Aptos Display"/>
              </a:rPr>
              <a:t>Stop the vibrator before relocation or handover. Apply a controlled stop–move–restart procedure and brief all operators.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236208"/>
            <a:ext cx="411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E8B91"/>
                </a:solidFill>
                <a:latin typeface="Aptos"/>
                <a:spc val="70"/>
              </a:rPr>
              <a:t>OWNER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" y="6217920"/>
            <a:ext cx="21488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F5FAFB"/>
                </a:solidFill>
                <a:latin typeface="Aptos"/>
              </a:rPr>
              <a:t>Concrete Subcontractor / Supervisor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56432" y="6236208"/>
            <a:ext cx="411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E8B91"/>
                </a:solidFill>
                <a:latin typeface="Aptos"/>
                <a:spc val="70"/>
              </a:rPr>
              <a:t>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6217920"/>
            <a:ext cx="26060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F5FAFB"/>
                </a:solidFill>
                <a:latin typeface="Aptos"/>
              </a:rPr>
              <a:t>Immediate / before next pour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B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0B5E2"/>
                </a:solidFill>
                <a:latin typeface="Aptos"/>
                <a:spc val="90"/>
              </a:rPr>
              <a:t>EHS / NIGHT SHIFT</a:t>
            </a:r>
          </a:p>
        </p:txBody>
      </p:sp>
      <p:pic>
        <p:nvPicPr>
          <p:cNvPr id="4" name="Picture 3" descr="siemens_energ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9608" y="173736"/>
            <a:ext cx="1325880" cy="30175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438912" y="612648"/>
            <a:ext cx="11320272" cy="0"/>
          </a:xfrm>
          <a:prstGeom prst="line">
            <a:avLst/>
          </a:prstGeom>
          <a:ln w="10160">
            <a:solidFill>
              <a:srgbClr val="28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912" y="6510528"/>
            <a:ext cx="3200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E8B91"/>
                </a:solidFill>
                <a:latin typeface="Aptos"/>
                <a:spc val="80"/>
              </a:rPr>
              <a:t>SUMMARY / IMMEDIATE ACTION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28632" y="6510528"/>
            <a:ext cx="2148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E8B91"/>
                </a:solidFill>
                <a:latin typeface="Aptos"/>
                <a:spc val="60"/>
              </a:rPr>
              <a:t>SIEMENS ENERGY  /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68680"/>
            <a:ext cx="5394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3C45D"/>
                </a:solidFill>
                <a:latin typeface="Aptos"/>
                <a:spc val="100"/>
              </a:rPr>
              <a:t>CLOSE THE GAP BEFORE THE NEXT POUR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170432"/>
            <a:ext cx="97840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5FAFB"/>
                </a:solidFill>
                <a:latin typeface="Aptos Display"/>
              </a:rPr>
              <a:t>Summary &amp; immediate action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73936"/>
            <a:ext cx="950975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EC3"/>
                </a:solidFill>
                <a:latin typeface="Aptos"/>
              </a:rPr>
              <a:t>One accountable owner. One verified closure. No repeat exposure.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48840"/>
            <a:ext cx="8558784" cy="393192"/>
          </a:xfrm>
          <a:prstGeom prst="rect">
            <a:avLst/>
          </a:prstGeom>
          <a:solidFill>
            <a:srgbClr val="007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267712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5FAFB"/>
                </a:solidFill>
                <a:latin typeface="Aptos"/>
                <a:spc val="50"/>
              </a:rPr>
              <a:t>#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399" y="2267712"/>
            <a:ext cx="31638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5FAFB"/>
                </a:solidFill>
                <a:latin typeface="Aptos"/>
                <a:spc val="50"/>
              </a:rPr>
              <a:t>OBSERVATION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2267712"/>
            <a:ext cx="95097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5FAFB"/>
                </a:solidFill>
                <a:latin typeface="Aptos"/>
                <a:spc val="50"/>
              </a:rPr>
              <a:t>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8" y="2267712"/>
            <a:ext cx="19019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5FAFB"/>
                </a:solidFill>
                <a:latin typeface="Aptos"/>
                <a:spc val="50"/>
              </a:rPr>
              <a:t>RESPONSIBLE PARTY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70064" y="2267712"/>
            <a:ext cx="15727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5FAFB"/>
                </a:solidFill>
                <a:latin typeface="Aptos"/>
                <a:spc val="50"/>
              </a:rPr>
              <a:t>CLOSURE DEADLINE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42032"/>
            <a:ext cx="8558784" cy="365760"/>
          </a:xfrm>
          <a:prstGeom prst="rect">
            <a:avLst/>
          </a:prstGeom>
          <a:solidFill>
            <a:srgbClr val="162A30"/>
          </a:solidFill>
          <a:ln w="6350">
            <a:solidFill>
              <a:srgbClr val="284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2688336"/>
            <a:ext cx="23774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5FAFB"/>
                </a:solidFill>
                <a:latin typeface="Aptos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" y="2688336"/>
            <a:ext cx="31638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5FAFB"/>
                </a:solidFill>
                <a:latin typeface="Aptos"/>
              </a:rPr>
              <a:t>PPE compliance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24528" y="2688336"/>
            <a:ext cx="95097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3C45D"/>
                </a:solidFill>
                <a:latin typeface="Aptos"/>
              </a:rPr>
              <a:t>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1808" y="2688336"/>
            <a:ext cx="19019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F5FAFB"/>
                </a:solidFill>
                <a:latin typeface="Aptos"/>
              </a:rPr>
              <a:t>Site Management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0064" y="2688336"/>
            <a:ext cx="1572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F5FAFB"/>
                </a:solidFill>
                <a:latin typeface="Aptos"/>
              </a:rPr>
              <a:t>Before next entry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907792"/>
            <a:ext cx="8558784" cy="365760"/>
          </a:xfrm>
          <a:prstGeom prst="rect">
            <a:avLst/>
          </a:prstGeom>
          <a:solidFill>
            <a:srgbClr val="122328"/>
          </a:solidFill>
          <a:ln w="6350">
            <a:solidFill>
              <a:srgbClr val="284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3054096"/>
            <a:ext cx="23774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5FAFB"/>
                </a:solidFill>
                <a:latin typeface="Apto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" y="3054096"/>
            <a:ext cx="31638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5FAFB"/>
                </a:solidFill>
                <a:latin typeface="Aptos"/>
              </a:rPr>
              <a:t>Safe access / movement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24528" y="3054096"/>
            <a:ext cx="95097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3C45D"/>
                </a:solidFill>
                <a:latin typeface="Aptos"/>
              </a:rPr>
              <a:t>HIGH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1808" y="3054096"/>
            <a:ext cx="19019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F5FAFB"/>
                </a:solidFill>
                <a:latin typeface="Aptos"/>
              </a:rPr>
              <a:t>Main Contractor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70064" y="3054096"/>
            <a:ext cx="1572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F5FAFB"/>
                </a:solidFill>
                <a:latin typeface="Aptos"/>
              </a:rPr>
              <a:t>Immediate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273552"/>
            <a:ext cx="8558784" cy="365760"/>
          </a:xfrm>
          <a:prstGeom prst="rect">
            <a:avLst/>
          </a:prstGeom>
          <a:solidFill>
            <a:srgbClr val="162A30"/>
          </a:solidFill>
          <a:ln w="6350">
            <a:solidFill>
              <a:srgbClr val="284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" y="3419856"/>
            <a:ext cx="23774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5FAFB"/>
                </a:solidFill>
                <a:latin typeface="Aptos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399" y="3419856"/>
            <a:ext cx="31638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5FAFB"/>
                </a:solidFill>
                <a:latin typeface="Aptos"/>
              </a:rPr>
              <a:t>Concrete vibrator handling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4528" y="3419856"/>
            <a:ext cx="95097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3C45D"/>
                </a:solidFill>
                <a:latin typeface="Aptos"/>
              </a:rPr>
              <a:t>HIGH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21808" y="3419856"/>
            <a:ext cx="19019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F5FAFB"/>
                </a:solidFill>
                <a:latin typeface="Aptos"/>
              </a:rPr>
              <a:t>Concrete Subcontractor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0064" y="3419856"/>
            <a:ext cx="1572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F5FAFB"/>
                </a:solidFill>
                <a:latin typeface="Aptos"/>
              </a:rPr>
              <a:t>Before next pour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639312"/>
            <a:ext cx="8558784" cy="365760"/>
          </a:xfrm>
          <a:prstGeom prst="rect">
            <a:avLst/>
          </a:prstGeom>
          <a:solidFill>
            <a:srgbClr val="122328"/>
          </a:solidFill>
          <a:ln w="6350">
            <a:solidFill>
              <a:srgbClr val="284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3785616"/>
            <a:ext cx="23774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5FAFB"/>
                </a:solidFill>
                <a:latin typeface="Aptos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399" y="3785616"/>
            <a:ext cx="31638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5FAFB"/>
                </a:solidFill>
                <a:latin typeface="Aptos"/>
              </a:rPr>
              <a:t>Pump outrigger clearance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24528" y="3785616"/>
            <a:ext cx="95097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04A4A"/>
                </a:solidFill>
                <a:latin typeface="Aptos"/>
              </a:rPr>
              <a:t>CRITICAL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21808" y="3785616"/>
            <a:ext cx="19019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F5FAFB"/>
                </a:solidFill>
                <a:latin typeface="Aptos"/>
              </a:rPr>
              <a:t>Pump Supervisor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70064" y="3785616"/>
            <a:ext cx="1572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F5FAFB"/>
                </a:solidFill>
                <a:latin typeface="Aptos"/>
              </a:rPr>
              <a:t>STOP / re-set now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005072"/>
            <a:ext cx="8558784" cy="365760"/>
          </a:xfrm>
          <a:prstGeom prst="rect">
            <a:avLst/>
          </a:prstGeom>
          <a:solidFill>
            <a:srgbClr val="162A30"/>
          </a:solidFill>
          <a:ln w="6350">
            <a:solidFill>
              <a:srgbClr val="284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0352" y="4151376"/>
            <a:ext cx="23774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5FAFB"/>
                </a:solidFill>
                <a:latin typeface="Aptos"/>
              </a:rPr>
              <a:t>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399" y="4151376"/>
            <a:ext cx="31638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5FAFB"/>
                </a:solidFill>
                <a:latin typeface="Aptos"/>
              </a:rPr>
              <a:t>Driver licensing &amp; competency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24528" y="4151376"/>
            <a:ext cx="95097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04A4A"/>
                </a:solidFill>
                <a:latin typeface="Aptos"/>
              </a:rPr>
              <a:t>CRITICAL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21808" y="4151376"/>
            <a:ext cx="19019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F5FAFB"/>
                </a:solidFill>
                <a:latin typeface="Aptos"/>
              </a:rPr>
              <a:t>Transport Contractor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70064" y="4151376"/>
            <a:ext cx="1572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F5FAFB"/>
                </a:solidFill>
                <a:latin typeface="Aptos"/>
              </a:rPr>
              <a:t>Before site entry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370832"/>
            <a:ext cx="8558784" cy="365760"/>
          </a:xfrm>
          <a:prstGeom prst="rect">
            <a:avLst/>
          </a:prstGeom>
          <a:solidFill>
            <a:srgbClr val="122328"/>
          </a:solidFill>
          <a:ln w="6350">
            <a:solidFill>
              <a:srgbClr val="284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4517136"/>
            <a:ext cx="23774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5FAFB"/>
                </a:solidFill>
                <a:latin typeface="Aptos"/>
              </a:rPr>
              <a:t>06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399" y="4517136"/>
            <a:ext cx="31638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5FAFB"/>
                </a:solidFill>
                <a:latin typeface="Aptos"/>
              </a:rPr>
              <a:t>Concrete waste disposal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24528" y="4517136"/>
            <a:ext cx="95097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3C45D"/>
                </a:solidFill>
                <a:latin typeface="Aptos"/>
              </a:rPr>
              <a:t>HIGH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21808" y="4517136"/>
            <a:ext cx="19019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F5FAFB"/>
                </a:solidFill>
                <a:latin typeface="Aptos"/>
              </a:rPr>
              <a:t>Environmental Lead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70064" y="4517136"/>
            <a:ext cx="1572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F5FAFB"/>
                </a:solidFill>
                <a:latin typeface="Aptos"/>
              </a:rPr>
              <a:t>Same shift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736592"/>
            <a:ext cx="8558784" cy="365760"/>
          </a:xfrm>
          <a:prstGeom prst="rect">
            <a:avLst/>
          </a:prstGeom>
          <a:solidFill>
            <a:srgbClr val="162A30"/>
          </a:solidFill>
          <a:ln w="6350">
            <a:solidFill>
              <a:srgbClr val="284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30352" y="4882896"/>
            <a:ext cx="23774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5FAFB"/>
                </a:solidFill>
                <a:latin typeface="Aptos"/>
              </a:rPr>
              <a:t>07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399" y="4882896"/>
            <a:ext cx="31638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5FAFB"/>
                </a:solidFill>
                <a:latin typeface="Aptos"/>
              </a:rPr>
              <a:t>Lighting cable joints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24528" y="4882896"/>
            <a:ext cx="95097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3C45D"/>
                </a:solidFill>
                <a:latin typeface="Aptos"/>
              </a:rPr>
              <a:t>HIGH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21808" y="4882896"/>
            <a:ext cx="19019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F5FAFB"/>
                </a:solidFill>
                <a:latin typeface="Aptos"/>
              </a:rPr>
              <a:t>Electrical Contractor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70064" y="4882896"/>
            <a:ext cx="1572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F5FAFB"/>
                </a:solidFill>
                <a:latin typeface="Aptos"/>
              </a:rPr>
              <a:t>Before night work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5102352"/>
            <a:ext cx="8558784" cy="365760"/>
          </a:xfrm>
          <a:prstGeom prst="rect">
            <a:avLst/>
          </a:prstGeom>
          <a:solidFill>
            <a:srgbClr val="122328"/>
          </a:solidFill>
          <a:ln w="6350">
            <a:solidFill>
              <a:srgbClr val="284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0352" y="5248656"/>
            <a:ext cx="23774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5FAFB"/>
                </a:solidFill>
                <a:latin typeface="Aptos"/>
              </a:rPr>
              <a:t>08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399" y="5248656"/>
            <a:ext cx="31638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5FAFB"/>
                </a:solidFill>
                <a:latin typeface="Aptos"/>
              </a:rPr>
              <a:t>Vibrator moved while operating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5248656"/>
            <a:ext cx="95097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3C45D"/>
                </a:solidFill>
                <a:latin typeface="Aptos"/>
              </a:rPr>
              <a:t>HIGH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21808" y="5248656"/>
            <a:ext cx="19019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F5FAFB"/>
                </a:solidFill>
                <a:latin typeface="Aptos"/>
              </a:rPr>
              <a:t>Concrete Subcontractor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70064" y="5248656"/>
            <a:ext cx="1572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F5FAFB"/>
                </a:solidFill>
                <a:latin typeface="Aptos"/>
              </a:rPr>
              <a:t>Immediate / next pour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7200" y="5815584"/>
            <a:ext cx="11155680" cy="493776"/>
          </a:xfrm>
          <a:prstGeom prst="roundRect">
            <a:avLst/>
          </a:prstGeom>
          <a:solidFill>
            <a:srgbClr val="6E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67512" y="5980176"/>
            <a:ext cx="14173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04A4A"/>
                </a:solidFill>
                <a:latin typeface="Aptos"/>
                <a:spc val="70"/>
              </a:rPr>
              <a:t>MANAGEMENT DECISION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40280" y="5925312"/>
            <a:ext cx="9006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5FAFB"/>
                </a:solidFill>
                <a:latin typeface="Aptos Display"/>
              </a:rPr>
              <a:t>Release the next night pour only after critical controls are verified and evidence is attached.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EHS Site Inspection Report – Night Concrete Pouring Operation</dc:title>
  <dc:subject>Key observations, compliance gaps and corrective actions</dc:subject>
  <dc:creator>Ahmed Al-Mansoury, EHS Manager</dc:creator>
  <cp:keywords>EHS, night shift, concrete pouring, audit, findings, Siemens Energy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