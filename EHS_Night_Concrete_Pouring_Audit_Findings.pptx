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H="1">
            <a:off x="-54864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91440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237744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384048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530352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76656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2960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9264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1155680" y="0"/>
            <a:ext cx="914400" cy="685800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960120"/>
            <a:ext cx="12188952" cy="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011680"/>
            <a:ext cx="12188952" cy="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063240"/>
            <a:ext cx="12188952" cy="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114800"/>
            <a:ext cx="12188952" cy="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5166360"/>
            <a:ext cx="12188952" cy="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6217920"/>
            <a:ext cx="12188952" cy="0"/>
          </a:xfrm>
          <a:prstGeom prst="line">
            <a:avLst/>
          </a:prstGeom>
          <a:ln w="508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411480"/>
            <a:ext cx="1691640" cy="3931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50292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5E2"/>
                </a:solidFill>
                <a:latin typeface="Aptos"/>
                <a:spc val="100"/>
              </a:rPr>
              <a:t>SIEMENS ENERGY  /  EHS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3990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C45D"/>
                </a:solidFill>
                <a:latin typeface="Aptos"/>
                <a:spc val="120"/>
              </a:rPr>
              <a:t>AUDIT &amp;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792224"/>
            <a:ext cx="7315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AFB"/>
                </a:solidFill>
                <a:latin typeface="Aptos Display"/>
              </a:rPr>
              <a:t>EHS Site Inspection Report 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340864"/>
            <a:ext cx="795527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AFB"/>
                </a:solidFill>
                <a:latin typeface="Aptos Display"/>
              </a:rPr>
              <a:t>Night Concrete Pouring Operation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0906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EC3"/>
                </a:solidFill>
                <a:latin typeface="Aptos"/>
              </a:rPr>
              <a:t>Key Observations, Compliance Gaps &amp; Corrective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1325880"/>
            <a:ext cx="3081528" cy="4023360"/>
          </a:xfrm>
          <a:prstGeom prst="roundRect">
            <a:avLst/>
          </a:prstGeom>
          <a:solidFill>
            <a:srgbClr val="14282F"/>
          </a:solidFill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9640" y="1865376"/>
            <a:ext cx="2139696" cy="213969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42832" y="2258568"/>
            <a:ext cx="1353312" cy="1353312"/>
          </a:xfrm>
          <a:prstGeom prst="ellipse">
            <a:avLst/>
          </a:prstGeom>
          <a:noFill/>
          <a:ln w="1524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0" y="2734056"/>
            <a:ext cx="402336" cy="402336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619488" y="1965960"/>
            <a:ext cx="0" cy="2020824"/>
          </a:xfrm>
          <a:prstGeom prst="line">
            <a:avLst/>
          </a:prstGeom>
          <a:ln w="15240">
            <a:solidFill>
              <a:srgbClr val="00B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31936" y="2971800"/>
            <a:ext cx="1975104" cy="0"/>
          </a:xfrm>
          <a:prstGeom prst="line">
            <a:avLst/>
          </a:prstGeom>
          <a:ln w="15240">
            <a:solidFill>
              <a:srgbClr val="00B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732520" y="1755648"/>
            <a:ext cx="1764792" cy="2432304"/>
          </a:xfrm>
          <a:prstGeom prst="line">
            <a:avLst/>
          </a:prstGeom>
          <a:ln w="21590">
            <a:solidFill>
              <a:srgbClr val="F3C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30768" y="4471416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"/>
                <a:spc val="85"/>
              </a:rPr>
              <a:t>NIGHT / POUR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4773168"/>
            <a:ext cx="2359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00B5E2"/>
                </a:solidFill>
                <a:latin typeface="Aptos"/>
                <a:spc val="65"/>
              </a:rPr>
              <a:t>CONTROL VISIBILITY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736592"/>
            <a:ext cx="6656832" cy="2743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4983480"/>
            <a:ext cx="594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6E8B91"/>
                </a:solidFill>
                <a:latin typeface="Aptos"/>
                <a:spc val="75"/>
              </a:rPr>
              <a:t>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519379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"/>
              </a:rPr>
              <a:t>[Date]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9112" y="4983480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6E8B91"/>
                </a:solidFill>
                <a:latin typeface="Aptos"/>
                <a:spc val="75"/>
              </a:rPr>
              <a:t>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39112" y="5193792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"/>
              </a:rPr>
              <a:t>[Site Name]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0208" y="4983480"/>
            <a:ext cx="9875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6E8B91"/>
                </a:solidFill>
                <a:latin typeface="Aptos"/>
                <a:spc val="75"/>
              </a:rPr>
              <a:t>PREPARED 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0208" y="5193792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"/>
              </a:rPr>
              <a:t>Ahmed Al-Mansoury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0208" y="5449824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9BEC3"/>
                </a:solidFill>
                <a:latin typeface="Aptos"/>
              </a:rPr>
              <a:t>EHS 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6281928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E8B91"/>
                </a:solidFill>
                <a:latin typeface="Aptos"/>
                <a:spc val="55"/>
              </a:rPr>
              <a:t>FOR MANAGEMENT REVIEW  •  INSERT FIELD PHOTOS BEFORE ISSUE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7272" y="6272784"/>
            <a:ext cx="978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E8B91"/>
                </a:solidFill>
                <a:latin typeface="Aptos"/>
                <a:spc val="80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EXECUTIVE SUMMARY /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B5E2"/>
                </a:solidFill>
                <a:latin typeface="Aptos"/>
                <a:spc val="100"/>
              </a:rPr>
              <a:t>WHY THIS AUDIT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170432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AFB"/>
                </a:solidFill>
                <a:latin typeface="Aptos Display"/>
              </a:rPr>
              <a:t>Night work demands visible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73936"/>
            <a:ext cx="9966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BEC3"/>
                </a:solidFill>
                <a:latin typeface="Aptos"/>
              </a:rPr>
              <a:t>Concrete pouring compresses people, plant and temporary works into a low-light operating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3703320" cy="134416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688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85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761488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AFB"/>
                </a:solidFill>
                <a:latin typeface="Aptos Display"/>
              </a:rPr>
              <a:t>Night shift concrete pouring activities inspection.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30752"/>
            <a:ext cx="3703320" cy="134416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986784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85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270248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Confirm EHS compliance, structural safety and personnel protection during night operations.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128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5"/>
              </a:rPr>
              <a:t>CONTROL LENSES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2532888"/>
            <a:ext cx="384048" cy="384048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642616"/>
            <a:ext cx="384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D171B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52374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AFB"/>
                </a:solidFill>
                <a:latin typeface="Aptos Display"/>
              </a:rPr>
              <a:t>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5117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9BEC3"/>
                </a:solidFill>
                <a:latin typeface="Aptos"/>
              </a:rPr>
              <a:t>PPE, competence &amp; safe movement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63440" y="3081528"/>
            <a:ext cx="6812280" cy="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663440" y="3337560"/>
            <a:ext cx="384048" cy="384048"/>
          </a:xfrm>
          <a:prstGeom prst="ellipse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47288"/>
            <a:ext cx="384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D171B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32841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AFB"/>
                </a:solidFill>
                <a:latin typeface="Aptos Display"/>
              </a:rPr>
              <a:t>PLANT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55848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9BEC3"/>
                </a:solidFill>
                <a:latin typeface="Aptos"/>
              </a:rPr>
              <a:t>Pump stability &amp; tool handling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63440" y="3886200"/>
            <a:ext cx="6812280" cy="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663440" y="4142232"/>
            <a:ext cx="384048" cy="384048"/>
          </a:xfrm>
          <a:prstGeom prst="ellipse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251960"/>
            <a:ext cx="384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D171B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13308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AFB"/>
                </a:solidFill>
                <a:latin typeface="Aptos Display"/>
              </a:rPr>
              <a:t>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9BEC3"/>
                </a:solidFill>
                <a:latin typeface="Aptos"/>
              </a:rPr>
              <a:t>Lighting, waste &amp; housekeeping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63440" y="4690872"/>
            <a:ext cx="6812280" cy="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663440" y="5184648"/>
            <a:ext cx="6812280" cy="841248"/>
          </a:xfrm>
          <a:prstGeom prst="roundRect">
            <a:avLst/>
          </a:prstGeom>
          <a:solidFill>
            <a:srgbClr val="1B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5184648"/>
            <a:ext cx="50292" cy="841248"/>
          </a:xfrm>
          <a:prstGeom prst="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7" y="5349240"/>
            <a:ext cx="6446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0"/>
              </a:rPr>
              <a:t>CONTROL MESSAGE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7" y="5550408"/>
            <a:ext cx="6428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High-risk controls must be verified in the field — not assumed from the method statement.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OBSERVATION 01  /  CORRECTIVE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32104"/>
            <a:ext cx="393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B5E2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8869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9BEC3"/>
                </a:solidFill>
                <a:latin typeface="Aptos"/>
                <a:spc val="90"/>
              </a:rPr>
              <a:t>FIELD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859536"/>
            <a:ext cx="1078992" cy="246888"/>
          </a:xfrm>
          <a:prstGeom prst="round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918971"/>
            <a:ext cx="987551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5FAFB"/>
                </a:solidFill>
                <a:latin typeface="Aptos"/>
                <a:spc val="70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07592"/>
            <a:ext cx="6537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AFB"/>
                </a:solidFill>
                <a:latin typeface="Aptos Display"/>
              </a:rPr>
              <a:t>Personal Protective Equipment (PPE)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01952"/>
            <a:ext cx="6217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55"/>
              </a:rPr>
              <a:t>CONTROL GAP  •  NIGHT CONCRETE POURING OPERATION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6080760" cy="116128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5059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70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697480"/>
            <a:ext cx="5541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5FAFB"/>
                </a:solidFill>
                <a:latin typeface="Aptos Display"/>
              </a:rPr>
              <a:t>Personnel were observed inside the active site without full mandatory PPE.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21024"/>
            <a:ext cx="6080760" cy="1307592"/>
          </a:xfrm>
          <a:prstGeom prst="roundRect">
            <a:avLst/>
          </a:prstGeom>
          <a:solidFill>
            <a:srgbClr val="1B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50292" cy="1307592"/>
          </a:xfrm>
          <a:prstGeom prst="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5715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0"/>
              </a:rPr>
              <a:t>KEY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86784"/>
            <a:ext cx="5696712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Why is full PPE not being worn during hazardous night operations?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1307592"/>
            <a:ext cx="4846320" cy="3621024"/>
          </a:xfrm>
          <a:prstGeom prst="roundRect">
            <a:avLst/>
          </a:prstGeom>
          <a:solidFill>
            <a:srgbClr val="162429"/>
          </a:solidFill>
          <a:ln w="1651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99448" y="1453895"/>
            <a:ext cx="0" cy="3328417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22592" y="3118104"/>
            <a:ext cx="4553712" cy="0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098280" y="2916936"/>
            <a:ext cx="402336" cy="40233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49156" y="3067812"/>
            <a:ext cx="100584" cy="100584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1453895"/>
            <a:ext cx="932688" cy="201168"/>
          </a:xfrm>
          <a:prstGeom prst="rect">
            <a:avLst/>
          </a:prstGeom>
          <a:solidFill>
            <a:srgbClr val="0D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1495044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B5E2"/>
                </a:solidFill>
                <a:latin typeface="Aptos"/>
                <a:spc val="55"/>
              </a:rPr>
              <a:t>FIELD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2999232"/>
            <a:ext cx="44439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[ INSERT PHOTO HERE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17720"/>
            <a:ext cx="44805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C3"/>
                </a:solidFill>
                <a:latin typeface="Aptos"/>
              </a:rPr>
              <a:t>Personnel without PPE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065776"/>
            <a:ext cx="4754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6E8B91"/>
                </a:solidFill>
                <a:latin typeface="Aptos"/>
                <a:spc val="45"/>
              </a:rPr>
              <a:t>REPLACE WITH SITE PHOTO BEFORE ISSUE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30952"/>
            <a:ext cx="6080760" cy="749808"/>
          </a:xfrm>
          <a:prstGeom prst="roundRect">
            <a:avLst/>
          </a:prstGeom>
          <a:solidFill>
            <a:srgbClr val="6E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77256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04A4A"/>
                </a:solidFill>
                <a:latin typeface="Aptos"/>
                <a:spc val="75"/>
              </a:rPr>
              <a:t>ACTION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60136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5FAFB"/>
                </a:solidFill>
                <a:latin typeface="Aptos Display"/>
              </a:rPr>
              <a:t>100% mandatory PPE compliance for all personnel on site at all times.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6217920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Site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217920"/>
            <a:ext cx="2606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Before next entry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OBSERVATION 02  /  CORRECTIVE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32104"/>
            <a:ext cx="393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B5E2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8869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9BEC3"/>
                </a:solidFill>
                <a:latin typeface="Aptos"/>
                <a:spc val="90"/>
              </a:rPr>
              <a:t>FIELD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859536"/>
            <a:ext cx="1078992" cy="246888"/>
          </a:xfrm>
          <a:prstGeom prst="round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918971"/>
            <a:ext cx="987551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5FAFB"/>
                </a:solidFill>
                <a:latin typeface="Aptos"/>
                <a:spc val="70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07592"/>
            <a:ext cx="6537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AFB"/>
                </a:solidFill>
                <a:latin typeface="Aptos Display"/>
              </a:rPr>
              <a:t>Access Routes Within Concrete Pouring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01952"/>
            <a:ext cx="6217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55"/>
              </a:rPr>
              <a:t>CONTROL GAP  •  NIGHT CONCRETE POURING OPERATION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6080760" cy="116128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5059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70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697480"/>
            <a:ext cx="5541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5FAFB"/>
                </a:solidFill>
                <a:latin typeface="Aptos Display"/>
              </a:rPr>
              <a:t>No safe, unobstructed access route was provided for workers moving between work areas.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21024"/>
            <a:ext cx="6080760" cy="1307592"/>
          </a:xfrm>
          <a:prstGeom prst="roundRect">
            <a:avLst/>
          </a:prstGeom>
          <a:solidFill>
            <a:srgbClr val="1B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50292" cy="1307592"/>
          </a:xfrm>
          <a:prstGeom prst="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5715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0"/>
              </a:rPr>
              <a:t>KEY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86784"/>
            <a:ext cx="5696712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How can workers navigate safely across the pouring area without a defined route?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1307592"/>
            <a:ext cx="4846320" cy="3621024"/>
          </a:xfrm>
          <a:prstGeom prst="roundRect">
            <a:avLst/>
          </a:prstGeom>
          <a:solidFill>
            <a:srgbClr val="162429"/>
          </a:solidFill>
          <a:ln w="1651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99448" y="1453895"/>
            <a:ext cx="0" cy="3328417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22592" y="3118104"/>
            <a:ext cx="4553712" cy="0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098280" y="2916936"/>
            <a:ext cx="402336" cy="40233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49156" y="3067812"/>
            <a:ext cx="100584" cy="100584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1453895"/>
            <a:ext cx="932688" cy="201168"/>
          </a:xfrm>
          <a:prstGeom prst="rect">
            <a:avLst/>
          </a:prstGeom>
          <a:solidFill>
            <a:srgbClr val="0D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1495044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B5E2"/>
                </a:solidFill>
                <a:latin typeface="Aptos"/>
                <a:spc val="55"/>
              </a:rPr>
              <a:t>FIELD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2999232"/>
            <a:ext cx="44439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[ INSERT PHOTO HERE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17720"/>
            <a:ext cx="44805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C3"/>
                </a:solidFill>
                <a:latin typeface="Aptos"/>
              </a:rPr>
              <a:t>Poor / missing access area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065776"/>
            <a:ext cx="4754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6E8B91"/>
                </a:solidFill>
                <a:latin typeface="Aptos"/>
                <a:spc val="45"/>
              </a:rPr>
              <a:t>REPLACE WITH SITE PHOTO BEFORE ISSUE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30952"/>
            <a:ext cx="6080760" cy="749808"/>
          </a:xfrm>
          <a:prstGeom prst="roundRect">
            <a:avLst/>
          </a:prstGeom>
          <a:solidFill>
            <a:srgbClr val="6E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77256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04A4A"/>
                </a:solidFill>
                <a:latin typeface="Aptos"/>
                <a:spc val="75"/>
              </a:rPr>
              <a:t>ACTION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60136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5FAFB"/>
                </a:solidFill>
                <a:latin typeface="Aptos Display"/>
              </a:rPr>
              <a:t>Establish clear, safe and illuminated walkways across the pouring zone immediately.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6217920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Main Contractor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217920"/>
            <a:ext cx="2606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Immediate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OBSERVATION 03  /  CORRECTIVE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32104"/>
            <a:ext cx="393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B5E2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8869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9BEC3"/>
                </a:solidFill>
                <a:latin typeface="Aptos"/>
                <a:spc val="90"/>
              </a:rPr>
              <a:t>FIELD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859536"/>
            <a:ext cx="1078992" cy="246888"/>
          </a:xfrm>
          <a:prstGeom prst="round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918971"/>
            <a:ext cx="987551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5FAFB"/>
                </a:solidFill>
                <a:latin typeface="Aptos"/>
                <a:spc val="70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07592"/>
            <a:ext cx="6537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AFB"/>
                </a:solidFill>
                <a:latin typeface="Aptos Display"/>
              </a:rPr>
              <a:t>Manual Operation of Concrete Vibrator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01952"/>
            <a:ext cx="6217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55"/>
              </a:rPr>
              <a:t>CONTROL GAP  •  NIGHT CONCRETE POURING OPERATION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6080760" cy="116128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5059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70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697480"/>
            <a:ext cx="5541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5FAFB"/>
                </a:solidFill>
                <a:latin typeface="Aptos Display"/>
              </a:rPr>
              <a:t>A hazard was observed during manual movement and handling of the vibrator while actively operating.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21024"/>
            <a:ext cx="6080760" cy="1307592"/>
          </a:xfrm>
          <a:prstGeom prst="roundRect">
            <a:avLst/>
          </a:prstGeom>
          <a:solidFill>
            <a:srgbClr val="1B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50292" cy="1307592"/>
          </a:xfrm>
          <a:prstGeom prst="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5715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0"/>
              </a:rPr>
              <a:t>KEY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86784"/>
            <a:ext cx="5696712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Is manual movement of an operating vibrator without proper risk controls acceptable?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1307592"/>
            <a:ext cx="4846320" cy="3621024"/>
          </a:xfrm>
          <a:prstGeom prst="roundRect">
            <a:avLst/>
          </a:prstGeom>
          <a:solidFill>
            <a:srgbClr val="162429"/>
          </a:solidFill>
          <a:ln w="1651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99448" y="1453895"/>
            <a:ext cx="0" cy="3328417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22592" y="3118104"/>
            <a:ext cx="4553712" cy="0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098280" y="2916936"/>
            <a:ext cx="402336" cy="40233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49156" y="3067812"/>
            <a:ext cx="100584" cy="100584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1453895"/>
            <a:ext cx="932688" cy="201168"/>
          </a:xfrm>
          <a:prstGeom prst="rect">
            <a:avLst/>
          </a:prstGeom>
          <a:solidFill>
            <a:srgbClr val="0D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1495044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B5E2"/>
                </a:solidFill>
                <a:latin typeface="Aptos"/>
                <a:spc val="55"/>
              </a:rPr>
              <a:t>FIELD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2999232"/>
            <a:ext cx="44439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[ INSERT PHOTO HERE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17720"/>
            <a:ext cx="44805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C3"/>
                </a:solidFill>
                <a:latin typeface="Aptos"/>
              </a:rPr>
              <a:t>Concrete vibrator operation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065776"/>
            <a:ext cx="4754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6E8B91"/>
                </a:solidFill>
                <a:latin typeface="Aptos"/>
                <a:spc val="45"/>
              </a:rPr>
              <a:t>REPLACE WITH SITE PHOTO BEFORE ISSUE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30952"/>
            <a:ext cx="6080760" cy="749808"/>
          </a:xfrm>
          <a:prstGeom prst="roundRect">
            <a:avLst/>
          </a:prstGeom>
          <a:solidFill>
            <a:srgbClr val="6E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77256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04A4A"/>
                </a:solidFill>
                <a:latin typeface="Aptos"/>
                <a:spc val="75"/>
              </a:rPr>
              <a:t>ACTION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60136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5FAFB"/>
                </a:solidFill>
                <a:latin typeface="Aptos Display"/>
              </a:rPr>
              <a:t>Enforce safe handling procedures and ergonomics for vibrator operators.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6217920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Concrete Subcontractor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217920"/>
            <a:ext cx="2606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Before next pour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OBSERVATION 04  /  CORRECTIVE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32104"/>
            <a:ext cx="393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B5E2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8869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9BEC3"/>
                </a:solidFill>
                <a:latin typeface="Aptos"/>
                <a:spc val="90"/>
              </a:rPr>
              <a:t>FIELD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859536"/>
            <a:ext cx="1225296" cy="246888"/>
          </a:xfrm>
          <a:prstGeom prst="round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918971"/>
            <a:ext cx="113385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5FAFB"/>
                </a:solidFill>
                <a:latin typeface="Aptos"/>
                <a:spc val="70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07592"/>
            <a:ext cx="6537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AFB"/>
                </a:solidFill>
                <a:latin typeface="Aptos Display"/>
              </a:rPr>
              <a:t>Concrete Pump Setup &amp; Outrigger Clearance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01952"/>
            <a:ext cx="6217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55"/>
              </a:rPr>
              <a:t>CONTROL GAP  •  NIGHT CONCRETE POURING OPERATION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6080760" cy="116128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5059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70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697480"/>
            <a:ext cx="5541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5FAFB"/>
                </a:solidFill>
                <a:latin typeface="Aptos Display"/>
              </a:rPr>
              <a:t>Required outrigger clearance was not achieved per the approved setup plan; setback from the pit edge was insufficient.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21024"/>
            <a:ext cx="6080760" cy="1307592"/>
          </a:xfrm>
          <a:prstGeom prst="roundRect">
            <a:avLst/>
          </a:prstGeom>
          <a:solidFill>
            <a:srgbClr val="1B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50292" cy="1307592"/>
          </a:xfrm>
          <a:prstGeom prst="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5715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0"/>
              </a:rP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86784"/>
            <a:ext cx="5696712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Potential equipment instability, overturning and structural collapse.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1307592"/>
            <a:ext cx="4846320" cy="3621024"/>
          </a:xfrm>
          <a:prstGeom prst="roundRect">
            <a:avLst/>
          </a:prstGeom>
          <a:solidFill>
            <a:srgbClr val="162429"/>
          </a:solidFill>
          <a:ln w="1651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99448" y="1453895"/>
            <a:ext cx="0" cy="3328417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22592" y="3118104"/>
            <a:ext cx="4553712" cy="0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098280" y="2916936"/>
            <a:ext cx="402336" cy="40233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49156" y="3067812"/>
            <a:ext cx="100584" cy="100584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1453895"/>
            <a:ext cx="932688" cy="201168"/>
          </a:xfrm>
          <a:prstGeom prst="rect">
            <a:avLst/>
          </a:prstGeom>
          <a:solidFill>
            <a:srgbClr val="0D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1495044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B5E2"/>
                </a:solidFill>
                <a:latin typeface="Aptos"/>
                <a:spc val="55"/>
              </a:rPr>
              <a:t>FIELD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2999232"/>
            <a:ext cx="44439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[ INSERT PHOTO HERE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17720"/>
            <a:ext cx="44805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C3"/>
                </a:solidFill>
                <a:latin typeface="Aptos"/>
              </a:rPr>
              <a:t>Pump outrigger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065776"/>
            <a:ext cx="4754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6E8B91"/>
                </a:solidFill>
                <a:latin typeface="Aptos"/>
                <a:spc val="45"/>
              </a:rPr>
              <a:t>REPLACE WITH SITE PHOTO BEFORE ISSUE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30952"/>
            <a:ext cx="6080760" cy="749808"/>
          </a:xfrm>
          <a:prstGeom prst="roundRect">
            <a:avLst/>
          </a:prstGeom>
          <a:solidFill>
            <a:srgbClr val="6E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77256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04A4A"/>
                </a:solidFill>
                <a:latin typeface="Aptos"/>
                <a:spc val="75"/>
              </a:rPr>
              <a:t>ACTION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60136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5FAFB"/>
                </a:solidFill>
                <a:latin typeface="Aptos Display"/>
              </a:rPr>
              <a:t>Immediately relocate / re-set the pump with fully extended outriggers and safe setback from the excavation edge.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6217920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Pump Supervisor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217920"/>
            <a:ext cx="2606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STOP / re-set 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OBSERVATION 05  /  CORRECTIVE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32104"/>
            <a:ext cx="393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B5E2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8869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9BEC3"/>
                </a:solidFill>
                <a:latin typeface="Aptos"/>
                <a:spc val="90"/>
              </a:rPr>
              <a:t>FIELD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859536"/>
            <a:ext cx="1225296" cy="246888"/>
          </a:xfrm>
          <a:prstGeom prst="round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918971"/>
            <a:ext cx="113385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5FAFB"/>
                </a:solidFill>
                <a:latin typeface="Aptos"/>
                <a:spc val="70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07592"/>
            <a:ext cx="6537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AFB"/>
                </a:solidFill>
                <a:latin typeface="Aptos Display"/>
              </a:rPr>
              <a:t>Concrete Mixer Drivers’ Qualification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01952"/>
            <a:ext cx="6217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55"/>
              </a:rPr>
              <a:t>CONTROL GAP  •  NIGHT CONCRETE POURING OPERATION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6080760" cy="116128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5059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70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697480"/>
            <a:ext cx="5541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5FAFB"/>
                </a:solidFill>
                <a:latin typeface="Aptos Display"/>
              </a:rPr>
              <a:t>None of the concrete mixer operators possessed a valid driving license or third-party competency certificate.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21024"/>
            <a:ext cx="6080760" cy="1307592"/>
          </a:xfrm>
          <a:prstGeom prst="roundRect">
            <a:avLst/>
          </a:prstGeom>
          <a:solidFill>
            <a:srgbClr val="1B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50292" cy="1307592"/>
          </a:xfrm>
          <a:prstGeom prst="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5715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0"/>
              </a:rPr>
              <a:t>CONTROL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86784"/>
            <a:ext cx="5696712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Unverified drivers create an immediate authorization and road-vehicle interface exposure.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1307592"/>
            <a:ext cx="4846320" cy="3621024"/>
          </a:xfrm>
          <a:prstGeom prst="roundRect">
            <a:avLst/>
          </a:prstGeom>
          <a:solidFill>
            <a:srgbClr val="162429"/>
          </a:solidFill>
          <a:ln w="1651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99448" y="1453895"/>
            <a:ext cx="0" cy="3328417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22592" y="3118104"/>
            <a:ext cx="4553712" cy="0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098280" y="2916936"/>
            <a:ext cx="402336" cy="40233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49156" y="3067812"/>
            <a:ext cx="100584" cy="100584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1453895"/>
            <a:ext cx="932688" cy="201168"/>
          </a:xfrm>
          <a:prstGeom prst="rect">
            <a:avLst/>
          </a:prstGeom>
          <a:solidFill>
            <a:srgbClr val="0D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1495044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B5E2"/>
                </a:solidFill>
                <a:latin typeface="Aptos"/>
                <a:spc val="55"/>
              </a:rPr>
              <a:t>FIELD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2999232"/>
            <a:ext cx="44439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[ INSERT PHOTO HERE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17720"/>
            <a:ext cx="44805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C3"/>
                </a:solidFill>
                <a:latin typeface="Aptos"/>
              </a:rPr>
              <a:t>Mixer truck / verification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065776"/>
            <a:ext cx="4754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6E8B91"/>
                </a:solidFill>
                <a:latin typeface="Aptos"/>
                <a:spc val="45"/>
              </a:rPr>
              <a:t>REPLACE WITH SITE PHOTO BEFORE ISSUE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30952"/>
            <a:ext cx="6080760" cy="749808"/>
          </a:xfrm>
          <a:prstGeom prst="roundRect">
            <a:avLst/>
          </a:prstGeom>
          <a:solidFill>
            <a:srgbClr val="6E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77256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04A4A"/>
                </a:solidFill>
                <a:latin typeface="Aptos"/>
                <a:spc val="75"/>
              </a:rPr>
              <a:t>ACTION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60136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5FAFB"/>
                </a:solidFill>
                <a:latin typeface="Aptos Display"/>
              </a:rPr>
              <a:t>Stop unauthorized drivers. Validate and collect third-party certificates and valid licenses before site entry.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6217920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Transport Contractor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217920"/>
            <a:ext cx="2606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Before site entry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OBSERVATION 06  /  CORRECTIVE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32104"/>
            <a:ext cx="393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B5E2"/>
                </a:solidFill>
                <a:latin typeface="Aptos Display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8869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9BEC3"/>
                </a:solidFill>
                <a:latin typeface="Aptos"/>
                <a:spc val="90"/>
              </a:rPr>
              <a:t>FIELD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859536"/>
            <a:ext cx="1078992" cy="246888"/>
          </a:xfrm>
          <a:prstGeom prst="round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918971"/>
            <a:ext cx="987551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5FAFB"/>
                </a:solidFill>
                <a:latin typeface="Aptos"/>
                <a:spc val="70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07592"/>
            <a:ext cx="6537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AFB"/>
                </a:solidFill>
                <a:latin typeface="Aptos Display"/>
              </a:rPr>
              <a:t>Improper Concrete Waste Disposal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01952"/>
            <a:ext cx="6217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55"/>
              </a:rPr>
              <a:t>CONTROL GAP  •  NIGHT CONCRETE POURING OPERATION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6080760" cy="116128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5059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70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697480"/>
            <a:ext cx="5541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5FAFB"/>
                </a:solidFill>
                <a:latin typeface="Aptos Display"/>
              </a:rPr>
              <a:t>Leftover concrete was repeatedly discharged directly onto the ground instead of designated sheets or disposal pits.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21024"/>
            <a:ext cx="6080760" cy="1307592"/>
          </a:xfrm>
          <a:prstGeom prst="roundRect">
            <a:avLst/>
          </a:prstGeom>
          <a:solidFill>
            <a:srgbClr val="1B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50292" cy="1307592"/>
          </a:xfrm>
          <a:prstGeom prst="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5715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0"/>
              </a:rPr>
              <a:t>ENVIRONMENTAL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86784"/>
            <a:ext cx="5696712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Uncontrolled discharge contaminates the work area and defeats the approved waste route.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1307592"/>
            <a:ext cx="2340864" cy="3621024"/>
          </a:xfrm>
          <a:prstGeom prst="roundRect">
            <a:avLst/>
          </a:prstGeom>
          <a:solidFill>
            <a:srgbClr val="162429"/>
          </a:solidFill>
          <a:ln w="1651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40879" y="1472184"/>
            <a:ext cx="2011681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79" y="1472184"/>
            <a:ext cx="2011681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46719" y="1453895"/>
            <a:ext cx="0" cy="3328417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22592" y="3118104"/>
            <a:ext cx="2048256" cy="0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45551" y="2916936"/>
            <a:ext cx="402336" cy="40233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96427" y="3067812"/>
            <a:ext cx="100584" cy="100584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1453895"/>
            <a:ext cx="932688" cy="201168"/>
          </a:xfrm>
          <a:prstGeom prst="rect">
            <a:avLst/>
          </a:prstGeom>
          <a:solidFill>
            <a:srgbClr val="0D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1495044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B5E2"/>
                </a:solidFill>
                <a:latin typeface="Aptos"/>
                <a:spc val="55"/>
              </a:rPr>
              <a:t>FIELD EVIDENCE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2999232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[ INSERT PHOTO HERE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17720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C3"/>
                </a:solidFill>
                <a:latin typeface="Aptos"/>
              </a:rPr>
              <a:t>Dumped concrete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81744" y="1307592"/>
            <a:ext cx="2340864" cy="3621024"/>
          </a:xfrm>
          <a:prstGeom prst="roundRect">
            <a:avLst/>
          </a:prstGeom>
          <a:solidFill>
            <a:srgbClr val="162429"/>
          </a:solidFill>
          <a:ln w="1651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546336" y="1472184"/>
            <a:ext cx="2011680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546336" y="1472184"/>
            <a:ext cx="2011680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552176" y="1453895"/>
            <a:ext cx="0" cy="3328417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28048" y="3118104"/>
            <a:ext cx="2048256" cy="0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351007" y="2916936"/>
            <a:ext cx="402336" cy="40233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01884" y="3067812"/>
            <a:ext cx="100584" cy="100584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28048" y="1453895"/>
            <a:ext cx="932688" cy="201168"/>
          </a:xfrm>
          <a:prstGeom prst="rect">
            <a:avLst/>
          </a:prstGeom>
          <a:solidFill>
            <a:srgbClr val="0D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82912" y="1495044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B5E2"/>
                </a:solidFill>
                <a:latin typeface="Aptos"/>
                <a:spc val="55"/>
              </a:rPr>
              <a:t>FIELD EVIDENCE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2912" y="2999232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[ INSERT PHOTO HERE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4624" y="4617720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C3"/>
                </a:solidFill>
                <a:latin typeface="Aptos"/>
              </a:rPr>
              <a:t>Designated wash-out 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065776"/>
            <a:ext cx="4754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6E8B91"/>
                </a:solidFill>
                <a:latin typeface="Aptos"/>
                <a:spc val="45"/>
              </a:rPr>
              <a:t>REPLACE WITH SITE PHOTO BEFORE ISSUE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330952"/>
            <a:ext cx="6080760" cy="749808"/>
          </a:xfrm>
          <a:prstGeom prst="roundRect">
            <a:avLst/>
          </a:prstGeom>
          <a:solidFill>
            <a:srgbClr val="6C4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477256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3C45D"/>
                </a:solidFill>
                <a:latin typeface="Aptos"/>
                <a:spc val="75"/>
              </a:rPr>
              <a:t>ACTION REQUIRED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660136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5FAFB"/>
                </a:solidFill>
                <a:latin typeface="Aptos Display"/>
              </a:rPr>
              <a:t>Stop illegal dumping immediately. Use polythene sheets and designated wash-out areas for every load.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OWNER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6217920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Environmental Lead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6432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CLOSE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6217920"/>
            <a:ext cx="2606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Same shift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OBSERVATION 07  /  CORRECTIVE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32104"/>
            <a:ext cx="393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B5E2"/>
                </a:solidFill>
                <a:latin typeface="Aptos Display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8869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9BEC3"/>
                </a:solidFill>
                <a:latin typeface="Aptos"/>
                <a:spc val="90"/>
              </a:rPr>
              <a:t>FIELD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859536"/>
            <a:ext cx="1078992" cy="246888"/>
          </a:xfrm>
          <a:prstGeom prst="round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918971"/>
            <a:ext cx="987551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5FAFB"/>
                </a:solidFill>
                <a:latin typeface="Aptos"/>
                <a:spc val="70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07592"/>
            <a:ext cx="6537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AFB"/>
                </a:solidFill>
                <a:latin typeface="Aptos Display"/>
              </a:rPr>
              <a:t>Temporary Lighting Cable Joint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01952"/>
            <a:ext cx="6217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55"/>
              </a:rPr>
              <a:t>CONTROL GAP  •  NIGHT CONCRETE POURING OPERATION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6080760" cy="1161288"/>
          </a:xfrm>
          <a:prstGeom prst="roundRect">
            <a:avLst/>
          </a:prstGeom>
          <a:solidFill>
            <a:srgbClr val="1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5059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B5E2"/>
                </a:solidFill>
                <a:latin typeface="Aptos"/>
                <a:spc val="70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697480"/>
            <a:ext cx="5541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5FAFB"/>
                </a:solidFill>
                <a:latin typeface="Aptos Display"/>
              </a:rPr>
              <a:t>Lighting cables contained exposed / temporary joints, creating severe electrical and trip hazards during night shift.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21024"/>
            <a:ext cx="6080760" cy="1307592"/>
          </a:xfrm>
          <a:prstGeom prst="roundRect">
            <a:avLst/>
          </a:prstGeom>
          <a:solidFill>
            <a:srgbClr val="1B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50292" cy="1307592"/>
          </a:xfrm>
          <a:prstGeom prst="rect">
            <a:avLst/>
          </a:prstGeom>
          <a:solidFill>
            <a:srgbClr val="F3C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5715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3C45D"/>
                </a:solidFill>
                <a:latin typeface="Aptos"/>
                <a:spc val="80"/>
              </a:rP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86784"/>
            <a:ext cx="5696712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Low-light conditions amplify both electric shock and trip potential at the workface.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1307592"/>
            <a:ext cx="4846320" cy="3621024"/>
          </a:xfrm>
          <a:prstGeom prst="roundRect">
            <a:avLst/>
          </a:prstGeom>
          <a:solidFill>
            <a:srgbClr val="162429"/>
          </a:solidFill>
          <a:ln w="1651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79" y="1472184"/>
            <a:ext cx="4517137" cy="3291840"/>
          </a:xfrm>
          <a:prstGeom prst="line">
            <a:avLst/>
          </a:prstGeom>
          <a:ln w="889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99448" y="1453895"/>
            <a:ext cx="0" cy="3328417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22592" y="3118104"/>
            <a:ext cx="4553712" cy="0"/>
          </a:xfrm>
          <a:prstGeom prst="line">
            <a:avLst/>
          </a:prstGeom>
          <a:ln w="762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098280" y="2916936"/>
            <a:ext cx="402336" cy="402336"/>
          </a:xfrm>
          <a:prstGeom prst="ellipse">
            <a:avLst/>
          </a:prstGeom>
          <a:noFill/>
          <a:ln w="12700"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49156" y="3067812"/>
            <a:ext cx="100584" cy="100584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1453895"/>
            <a:ext cx="932688" cy="201168"/>
          </a:xfrm>
          <a:prstGeom prst="rect">
            <a:avLst/>
          </a:prstGeom>
          <a:solidFill>
            <a:srgbClr val="0D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1495044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B5E2"/>
                </a:solidFill>
                <a:latin typeface="Aptos"/>
                <a:spc val="55"/>
              </a:rPr>
              <a:t>FIELD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2999232"/>
            <a:ext cx="44439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AFB"/>
                </a:solidFill>
                <a:latin typeface="Aptos Display"/>
              </a:rPr>
              <a:t>[ INSERT PHOTO HERE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17720"/>
            <a:ext cx="44805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C3"/>
                </a:solidFill>
                <a:latin typeface="Aptos"/>
              </a:rPr>
              <a:t>Exposed cable joint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065776"/>
            <a:ext cx="4754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6E8B91"/>
                </a:solidFill>
                <a:latin typeface="Aptos"/>
                <a:spc val="45"/>
              </a:rPr>
              <a:t>REPLACE WITH SITE PHOTO BEFORE ISSUE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30952"/>
            <a:ext cx="6080760" cy="749808"/>
          </a:xfrm>
          <a:prstGeom prst="roundRect">
            <a:avLst/>
          </a:prstGeom>
          <a:solidFill>
            <a:srgbClr val="6E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77256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04A4A"/>
                </a:solidFill>
                <a:latin typeface="Aptos"/>
                <a:spc val="75"/>
              </a:rPr>
              <a:t>ACTION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60136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5FAFB"/>
                </a:solidFill>
                <a:latin typeface="Aptos Display"/>
              </a:rPr>
              <a:t>Repair and properly insulate all joints using industrial-grade weather-proof connectors.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6217920"/>
            <a:ext cx="2148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Electrical Contractor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6236208"/>
            <a:ext cx="411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E8B91"/>
                </a:solidFill>
                <a:latin typeface="Aptos"/>
                <a:spc val="70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217920"/>
            <a:ext cx="2606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5FAFB"/>
                </a:solidFill>
                <a:latin typeface="Aptos"/>
              </a:rPr>
              <a:t>Before night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B5E2"/>
                </a:solidFill>
                <a:latin typeface="Aptos"/>
                <a:spc val="90"/>
              </a:rPr>
              <a:t>EHS / NIGHT SHIFT</a:t>
            </a:r>
          </a:p>
        </p:txBody>
      </p:sp>
      <p:pic>
        <p:nvPicPr>
          <p:cNvPr id="4" name="Picture 3" descr="siemens_ener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173736"/>
            <a:ext cx="1325880" cy="30175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8912" y="612648"/>
            <a:ext cx="11320272" cy="0"/>
          </a:xfrm>
          <a:prstGeom prst="line">
            <a:avLst/>
          </a:prstGeom>
          <a:ln w="10160">
            <a:solidFill>
              <a:srgbClr val="28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80"/>
              </a:rPr>
              <a:t>SUMMARY / IMMEDIATE 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510528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8B91"/>
                </a:solidFill>
                <a:latin typeface="Aptos"/>
                <a:spc val="60"/>
              </a:rPr>
              <a:t>SIEMENS ENERGY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3C45D"/>
                </a:solidFill>
                <a:latin typeface="Aptos"/>
                <a:spc val="100"/>
              </a:rPr>
              <a:t>CLOSE THE GAP BEFORE THE NEXT POUR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170432"/>
            <a:ext cx="9784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AFB"/>
                </a:solidFill>
                <a:latin typeface="Aptos Display"/>
              </a:rPr>
              <a:t>Summary &amp; immediate action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73936"/>
            <a:ext cx="95097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BEC3"/>
                </a:solidFill>
                <a:latin typeface="Aptos"/>
              </a:rPr>
              <a:t>One accountable owner. One verified closure. No repeat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8558784" cy="393192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267712"/>
            <a:ext cx="2377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5FAFB"/>
                </a:solidFill>
                <a:latin typeface="Aptos"/>
                <a:spc val="50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" y="2267712"/>
            <a:ext cx="31638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5FAFB"/>
                </a:solidFill>
                <a:latin typeface="Aptos"/>
                <a:spc val="50"/>
              </a:rPr>
              <a:t>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267712"/>
            <a:ext cx="9509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5FAFB"/>
                </a:solidFill>
                <a:latin typeface="Aptos"/>
                <a:spc val="50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267712"/>
            <a:ext cx="19019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5FAFB"/>
                </a:solidFill>
                <a:latin typeface="Aptos"/>
                <a:spc val="50"/>
              </a:rPr>
              <a:t>RESPONSIBLE PARTY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2267712"/>
            <a:ext cx="15727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5FAFB"/>
                </a:solidFill>
                <a:latin typeface="Aptos"/>
                <a:spc val="50"/>
              </a:rPr>
              <a:t>CLOSURE DEADLINE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42032"/>
            <a:ext cx="8558784" cy="429768"/>
          </a:xfrm>
          <a:prstGeom prst="rect">
            <a:avLst/>
          </a:prstGeom>
          <a:solidFill>
            <a:srgbClr val="162A30"/>
          </a:solidFill>
          <a:ln w="6350">
            <a:solidFill>
              <a:srgbClr val="28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688336"/>
            <a:ext cx="2377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AFB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" y="2688336"/>
            <a:ext cx="31638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FAFB"/>
                </a:solidFill>
                <a:latin typeface="Aptos"/>
              </a:rPr>
              <a:t>PPE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688336"/>
            <a:ext cx="9509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3C45D"/>
                </a:solidFill>
                <a:latin typeface="Aptos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2688336"/>
            <a:ext cx="19019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Site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2688336"/>
            <a:ext cx="15727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Before next entry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8558784" cy="429768"/>
          </a:xfrm>
          <a:prstGeom prst="rect">
            <a:avLst/>
          </a:prstGeom>
          <a:solidFill>
            <a:srgbClr val="122328"/>
          </a:solidFill>
          <a:ln w="6350">
            <a:solidFill>
              <a:srgbClr val="28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118104"/>
            <a:ext cx="2377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AFB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" y="3118104"/>
            <a:ext cx="31638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FAFB"/>
                </a:solidFill>
                <a:latin typeface="Aptos"/>
              </a:rPr>
              <a:t>Safe access / 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3118104"/>
            <a:ext cx="9509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3C45D"/>
                </a:solidFill>
                <a:latin typeface="Aptos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3118104"/>
            <a:ext cx="19019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Main Contractor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118104"/>
            <a:ext cx="15727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Immediate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01568"/>
            <a:ext cx="8558784" cy="429768"/>
          </a:xfrm>
          <a:prstGeom prst="rect">
            <a:avLst/>
          </a:prstGeom>
          <a:solidFill>
            <a:srgbClr val="162A30"/>
          </a:solidFill>
          <a:ln w="6350">
            <a:solidFill>
              <a:srgbClr val="28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547872"/>
            <a:ext cx="2377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AFB"/>
                </a:solidFill>
                <a:latin typeface="Apto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399" y="3547872"/>
            <a:ext cx="31638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FAFB"/>
                </a:solidFill>
                <a:latin typeface="Aptos"/>
              </a:rPr>
              <a:t>Concrete vibrator handling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3547872"/>
            <a:ext cx="9509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3C45D"/>
                </a:solidFill>
                <a:latin typeface="Aptos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8" y="3547872"/>
            <a:ext cx="19019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Concrete Subcontractor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3547872"/>
            <a:ext cx="15727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Before next pour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31336"/>
            <a:ext cx="8558784" cy="429768"/>
          </a:xfrm>
          <a:prstGeom prst="rect">
            <a:avLst/>
          </a:prstGeom>
          <a:solidFill>
            <a:srgbClr val="122328"/>
          </a:solidFill>
          <a:ln w="6350">
            <a:solidFill>
              <a:srgbClr val="28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977640"/>
            <a:ext cx="2377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AFB"/>
                </a:solidFill>
                <a:latin typeface="Apto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9" y="3977640"/>
            <a:ext cx="31638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FAFB"/>
                </a:solidFill>
                <a:latin typeface="Aptos"/>
              </a:rPr>
              <a:t>Pump outrigger clearance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4528" y="3977640"/>
            <a:ext cx="9509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04A4A"/>
                </a:solidFill>
                <a:latin typeface="Aptos"/>
              </a:rPr>
              <a:t>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3977640"/>
            <a:ext cx="19019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Pump Supervisor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0064" y="3977640"/>
            <a:ext cx="15727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STOP / re-set now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61104"/>
            <a:ext cx="8558784" cy="429768"/>
          </a:xfrm>
          <a:prstGeom prst="rect">
            <a:avLst/>
          </a:prstGeom>
          <a:solidFill>
            <a:srgbClr val="162A30"/>
          </a:solidFill>
          <a:ln w="6350">
            <a:solidFill>
              <a:srgbClr val="28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407408"/>
            <a:ext cx="2377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AFB"/>
                </a:solidFill>
                <a:latin typeface="Apto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399" y="4407408"/>
            <a:ext cx="31638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FAFB"/>
                </a:solidFill>
                <a:latin typeface="Aptos"/>
              </a:rPr>
              <a:t>Driver licensing &amp; competency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24528" y="4407408"/>
            <a:ext cx="9509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04A4A"/>
                </a:solidFill>
                <a:latin typeface="Aptos"/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4407408"/>
            <a:ext cx="19019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Transport Contractor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4407408"/>
            <a:ext cx="15727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Before site entry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90872"/>
            <a:ext cx="8558784" cy="429768"/>
          </a:xfrm>
          <a:prstGeom prst="rect">
            <a:avLst/>
          </a:prstGeom>
          <a:solidFill>
            <a:srgbClr val="122328"/>
          </a:solidFill>
          <a:ln w="6350">
            <a:solidFill>
              <a:srgbClr val="28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4837176"/>
            <a:ext cx="2377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AFB"/>
                </a:solidFill>
                <a:latin typeface="Apto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399" y="4837176"/>
            <a:ext cx="31638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FAFB"/>
                </a:solidFill>
                <a:latin typeface="Aptos"/>
              </a:rPr>
              <a:t>Concrete waste disposal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24528" y="4837176"/>
            <a:ext cx="9509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3C45D"/>
                </a:solidFill>
                <a:latin typeface="Aptos"/>
              </a:rPr>
              <a:t>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21808" y="4837176"/>
            <a:ext cx="19019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Environmental Lead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70064" y="4837176"/>
            <a:ext cx="15727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Same shift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120640"/>
            <a:ext cx="8558784" cy="429768"/>
          </a:xfrm>
          <a:prstGeom prst="rect">
            <a:avLst/>
          </a:prstGeom>
          <a:solidFill>
            <a:srgbClr val="162A30"/>
          </a:solidFill>
          <a:ln w="6350">
            <a:solidFill>
              <a:srgbClr val="28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5266944"/>
            <a:ext cx="2377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AFB"/>
                </a:solidFill>
                <a:latin typeface="Aptos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99" y="5266944"/>
            <a:ext cx="31638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FAFB"/>
                </a:solidFill>
                <a:latin typeface="Aptos"/>
              </a:rPr>
              <a:t>Lighting cable joints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24528" y="5266944"/>
            <a:ext cx="9509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3C45D"/>
                </a:solidFill>
                <a:latin typeface="Aptos"/>
              </a:rPr>
              <a:t>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1808" y="5266944"/>
            <a:ext cx="19019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Electrical Contractor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0064" y="5266944"/>
            <a:ext cx="15727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5FAFB"/>
                </a:solidFill>
                <a:latin typeface="Aptos"/>
              </a:rPr>
              <a:t>Before night work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815584"/>
            <a:ext cx="11155680" cy="493776"/>
          </a:xfrm>
          <a:prstGeom prst="roundRect">
            <a:avLst/>
          </a:prstGeom>
          <a:solidFill>
            <a:srgbClr val="6E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" y="5980176"/>
            <a:ext cx="1417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04A4A"/>
                </a:solidFill>
                <a:latin typeface="Aptos"/>
                <a:spc val="70"/>
              </a:rPr>
              <a:t>MANAGEMENT DECISION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40280" y="5925312"/>
            <a:ext cx="9006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AFB"/>
                </a:solidFill>
                <a:latin typeface="Aptos Display"/>
              </a:rPr>
              <a:t>Release the next night pour only after critical controls are verified and evidence is attached.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EHS Site Inspection Report – Night Concrete Pouring Operation</dc:title>
  <dc:subject>Key observations, compliance gaps and corrective actions</dc:subject>
  <dc:creator>Ahmed Al-Mansoury, EHS Manager</dc:creator>
  <cp:keywords>EHS, night shift, concrete pouring, audit, findings, Siemens Energy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