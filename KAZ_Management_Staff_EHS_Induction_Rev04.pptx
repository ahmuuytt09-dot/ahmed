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1" r:id="rId62"/>
    <p:sldId id="312" r:id="rId63"/>
    <p:sldId id="313" r:id="rId64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16" r:id="rId67"/>
    <p:sldId id="272" r:id="rId18"/>
    <p:sldId id="273" r:id="rId19"/>
    <p:sldId id="274" r:id="rId20"/>
    <p:sldId id="275" r:id="rId21"/>
    <p:sldId id="276" r:id="rId22"/>
    <p:sldId id="314" r:id="rId65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15" r:id="rId66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slide" Target="slides/slide43.xml"/><Relationship Id="rId41" Type="http://schemas.openxmlformats.org/officeDocument/2006/relationships/slide" Target="slides/slide44.xml"/><Relationship Id="rId42" Type="http://schemas.openxmlformats.org/officeDocument/2006/relationships/slide" Target="slides/slide45.xml"/><Relationship Id="rId43" Type="http://schemas.openxmlformats.org/officeDocument/2006/relationships/slide" Target="slides/slide46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0.xml"/><Relationship Id="rId48" Type="http://schemas.openxmlformats.org/officeDocument/2006/relationships/slide" Target="slides/slide51.xml"/><Relationship Id="rId49" Type="http://schemas.openxmlformats.org/officeDocument/2006/relationships/slide" Target="slides/slide53.xml"/><Relationship Id="rId50" Type="http://schemas.openxmlformats.org/officeDocument/2006/relationships/slide" Target="slides/slide54.xml"/><Relationship Id="rId51" Type="http://schemas.openxmlformats.org/officeDocument/2006/relationships/slide" Target="slides/slide55.xml"/><Relationship Id="rId52" Type="http://schemas.openxmlformats.org/officeDocument/2006/relationships/slide" Target="slides/slide56.xml"/><Relationship Id="rId53" Type="http://schemas.openxmlformats.org/officeDocument/2006/relationships/slide" Target="slides/slide57.xml"/><Relationship Id="rId54" Type="http://schemas.openxmlformats.org/officeDocument/2006/relationships/slide" Target="slides/slide58.xml"/><Relationship Id="rId55" Type="http://schemas.openxmlformats.org/officeDocument/2006/relationships/slide" Target="slides/slide59.xml"/><Relationship Id="rId56" Type="http://schemas.openxmlformats.org/officeDocument/2006/relationships/slide" Target="slides/slide60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openxmlformats.org/officeDocument/2006/relationships/slide" Target="slides/slide10.xml"/><Relationship Id="rId63" Type="http://schemas.openxmlformats.org/officeDocument/2006/relationships/slide" Target="slides/slide11.xml"/><Relationship Id="rId64" Type="http://schemas.openxmlformats.org/officeDocument/2006/relationships/slide" Target="slides/slide12.xml"/><Relationship Id="rId65" Type="http://schemas.openxmlformats.org/officeDocument/2006/relationships/slide" Target="slides/slide25.xml"/><Relationship Id="rId66" Type="http://schemas.openxmlformats.org/officeDocument/2006/relationships/slide" Target="slides/slide52.xml"/><Relationship Id="rId67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14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participants, confirm fire exits and assembly point for the training room, and state that attendance is recorded. Introduce yourself and the EHS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01 — Introduction and Objectives. How this session runs, what you will learn and what is recorded. This chapter covers: Session format, Learning objectives, Validity,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emergency arrangements of the training venue aloud. Confirm the assembly point location and the site emergency line before starting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six chapters quickly. Point out that the operators' own rule set is issued separately and that the knowledge check comes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each objective to the participant's own role — managers and staff are expected to lead, verify and coach, not only comply.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that supervisors will be checked for valid induction, PSI and task certificates. Underline that the card is not a work permit.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02 — EHS Leadership and Responsibilities. The Siemens EHS target and who is accountable for what on this site. This chapter covers: Zero Harm, EHS Target, Leadership, Everyone,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vision slide. Connect the EHS Plan target to the daily reality: every task planned, every control verified, every person home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group for one example of intervening on an unsafe act. Reinforce that interventions are expected and will never be penalised.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audience for this induction. Ask each manager to commit to one visible action within the next 7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duty to report. Remind the group that honest reporting is protected by the just-culture approach: no blame for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 subcontractor managers of the documentation they must keep current; the EHS team audits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03 — The Project, the Site and Daily Rules. Where you are working, how the site is organised and the rules that always apply. This chapter covers: Project scope, Site layout, Base camp, EHS organisation, General rules, Stop Work Authority, Risk assessment, Daily routine.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live-plant context: the greatest single risk on this project is electrical. Every activity needs operational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plot plan from the project drawing set when presenting. Walk the group to their nearest assembly point after the session, if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the approved photograph of the base camp / main office before issuing this deck (right-click the placeholder and choose Change Picture). Walk the group through the layout: main office, clinic, canteen, laundry and the camp assembly point. Confirm the camp supervisor's name and the camp emergency number during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real people behind each role and their contact numbers. Participants should know who to call for each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Repeat the two absolutes: no permit = no work; no EHS supervision = no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the site rule list available as a handout. Point out that hours and rest days are monitored. VERIFY BEFORE PRESENTING: Rev02 stated 06:00–15:00, but the KAZ Project EHS Plan Rev 00 (§7.2, 03.03.2026) states 08:00–17:00 — confirm the agreed site hours with the Site Manager and correct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important empowerment message in the deck. Ask each participant to state one situation in which they would stop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RA (planned), SJA (task) and LMRA (moment). Use a real job from the site as the example. The LMRA method and SE form 000480 are explained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 typical day of a subcontractor crew, step by step, so the routine is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04 — Permit to Work and Electrical Safety. The control system for hazardous work and the rules that keep the plant safe. This chapter covers: Permit to Work, Lock-Out / Tag-Out, Electrical rules, Arc flash, Live plant.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permit is a contract between the issuer and the holder. Removing or bypassing a permit condition is a dismissible offence.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participants where to obtain each permit and who signs it. Confirm the current validity rules with the project PTW procedure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isolation certificate and lockbox as physical props if available. Explain the personal lock principle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highest-risk topic of the project. Slow down here and check understanding with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for the presenter: insert the values approved by the Siemens Energy EHSMIP and the client before delivering this slide. Generic or imperial values from other sites must not be used —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our responsibility and the client's operational responsibility, and how both are coordinated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05 — High-Risk Activities and Occupational Health. The activities that cause the most serious injuries and how each one is controlled. This chapter covers: Work at height, Lifting, Excavation, Confined space, Hot work, Tools, Manual handling, PPE, Heat stress, First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who has a valid working-at-height certificate. Verify harness inspection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Lifting is a major hazard on this project because of the transformer and steel structure erection. Confirm the wind limit with the project lifting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excavations can also be confined spaces depending on risk assessment — but not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rescue rule: the instinct to help is the biggest killer. Call the rescue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fire-watch duration and extinguisher requirements from the project PTW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common source of hand injuries. Ask the group which tools are most frequently misused on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this to the heat stress session: dehydration and fatigue make manual handling injuries far more likely.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PPE is the last line of defence. Remind everyone that PPE is provided free of charge and damaged PPE must be replaced, not repaired.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current WBGT thresholds, work-rest tables and Ramadan arrangements before presenting.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number of trained first aiders in each shift and area, and the current site clinic arrangements.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06 — Environment, Emergency and Security. Protecting the environment, responding to emergencies, security and the consequences of breaking the rules. This chapter covers: Environment, Waste, Fire, Emergency, Incident reporting, Security, Driving, Penalties.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where spill kits and SDS are kept, and how the electronic substance register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actual bin colours and locations on site. Ask each supervisor to confirm their crews know where the hazardous waste store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previous deck's error: Class D requires special metal powder, not DCP. Never use water on energised electrical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assembly point locations and the identity of area marshals for the audience's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previous deck's error: a fatality is never a Level 2 locally-managed event. Confirm the current notification matrix with the project notification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IMPORTANT: replace the placeholder entries with live numbers and verify them weekly. The previous deck quoted 911, which is not an official emergency number in Iraq.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practical example of a near miss report that prevented an accident. Encourage reporting rather than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recent lesson learned from the project or from Siemens Energy safety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visitor process and the material gate pass. Security incidents follow the same reporting route as EHS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Adapt the route and rest requirements to the actual Basrah–site conditions. Report all road incidents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current penalty matrix with the site security instruction before presenting; penalties must be applied consistently to employees and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check individually, mark it immediately, and retrain anyone below 80% before site access. Keep the answer sheets in the training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Collect signatures before participants leave. File the register with the training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positively, thank the participants, and remind them of the induction card and the acknowledgement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corporate EHS Policy (Version 4, December 2024), Annex 1 of SE Standard 000050, signed by the full SE Executive Board — CEO Christian Bruch, CFO Maria Ferraro and the board members. It covers four commitment blocks: the four Zero-Harm principles; protecting people and the environment; embedding the principles through leadership, competent employees and role-modelling; and sustaining the culture through engagement, consultation, partnership with customers and continuous improvement. The full policy text must be displayed in the EHS office and training room. Stress 'Speak up - don't walk by': everyone on this site is empowered to stop unsafe work.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governance chain: SE Standard 000050 (V3) defines EHS roles and responsibilities and aligns with the Zero Harm Framework (Standard 000118). The site EHS system mirrors ISO 45001 / ISO 14001. Highlight what reaches the worker: risk assessment before every activity, elimination of life-threatening hazards, Enablon reporting (Standard 000051), competency, emergency preparedness and consultation.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responsibility ladder from the Executive Board down to every worker, per SE Standard 000050 section 2. Stress that accountability flows downward but duties exist at every level; temporary and contractor workers carry the same employee duties. Then map the ladder to the KAZ organisation chart on slide 20.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Based on the SE LMRA form 000480 (V2). Stress the escalation rule: any question that cannot be answered YES or N/A means DO NOT START — state the measures and report to the direct supervisor and the EHS specialist. The form is signed by team leader, workers and client representative. It verifies controls at the workface; it never replaces the RA, SJA or the permit.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Format follows the Siemens Energy site alarm card. All names and numbers must be the KAZ-specific ones from the Emergency Contacts slide — the reference alarm card in the SIEMENS EHS DOC folder belongs to another (Turkish) project and its data must NOT be used. Verify that a current card is posted at every work area.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model is taken from 'camp Model (21).pdf'. Walk the participants through the facilities: parking area on the left connected by the access road; the muster point is marked 'Master point'; smoking area; offices (SE, MoE &amp; BGC, MIAL engineers); MIAL and laborer restaurants and meeting rooms; workshop shed, containers and steel area; DG beside the toilets; gates at left, right and bottom. Confirm the current layout at site; the site plot plan is posted at the entrance, offices and assembly points (slide 18).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1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1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1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1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16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17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over_switchyard_960x540_rg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83600" y="279400"/>
            <a:ext cx="3403600" cy="111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52x76_rg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355600"/>
            <a:ext cx="3200400" cy="965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3581400"/>
            <a:ext cx="1219200" cy="50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10363200" cy="60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Management &amp; Staff EHS Induction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93260"/>
            <a:ext cx="103632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FD8D8"/>
                </a:solidFill>
                <a:latin typeface="Calibri"/>
              </a:rPr>
              <a:t>KAZ Power Plant Upgrade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742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9D4DE"/>
                </a:solidFill>
                <a:latin typeface="Calibri"/>
              </a:rPr>
              <a:t>Khor Al-Zubair Gas Turbine Power Plant · Basrah, Iraq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536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Client: Ministry of Electricity (MoE) &amp; Basrah Gas Company (BGC)   ·   Principal Contractor: Siemens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203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Subcontractor: Al-Mial 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791200"/>
            <a:ext cx="10363200" cy="431800"/>
          </a:xfrm>
          <a:prstGeom prst="rect">
            <a:avLst/>
          </a:prstGeom>
          <a:solidFill>
            <a:srgbClr val="12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5791200"/>
            <a:ext cx="50800" cy="43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200" y="5892800"/>
            <a:ext cx="1003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754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DBE"/>
                </a:solidFill>
                <a:latin typeface="Calibri"/>
              </a:rPr>
              <a:t>KAZ-EHS-IND-001 · Rev. 04 · For review and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6375400"/>
            <a:ext cx="492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9AADBE"/>
                </a:solidFill>
                <a:latin typeface="Calibri"/>
              </a:rPr>
              <a:t>Restricted · © Siemens Energy · Siemens Energy is a trademark licensed by Siemens 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Session format  ·  Learning objectives  ·  Validity  · 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04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 of 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How This Session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Emergency instructions for the training room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an emergency occurs during this induction: stop, follow the exit signs and go to the nearest assembly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Mobile phones on silent — keep your phone available for emergencies.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Smoking is prohibited except in the designated smoking area, and never in red / restricted zones.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approx. 75 minutes, including the knowledge check and questions.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4434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Emergency numbers are on slide 52 — know them before you leave this room.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 of 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COURSE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668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Six chapters — about 75 minutes, including the knowledge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76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18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3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3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35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77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7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EHS Policy, the governing Standard and who is accountable for what on this site.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6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18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03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03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35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77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77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76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1800" y="4881033"/>
            <a:ext cx="40767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1800" y="5338233"/>
            <a:ext cx="4076700" cy="60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03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03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35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7700" y="4881033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7700" y="5211233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 of 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At the end of this induction you will be able to: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State the Siemens EHS target and the EHS Policy commitments, and explain what they mean for your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Describe your personal responsibilities and the authority you hold to stop unsafe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Apply the general site rules and select the correct PPE for your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 risk assessment, complete an LMRA and know when an SJA is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Explain how the Permit to Work and LOTO systems operate on this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Recognise the electrical, height, lifting, excavation, confined-space and hot-work hazards of KAZ.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Respond correctly to a fire, an emergency, an injury, a spill or a security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439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67804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incidents, near misses and unsafe conditions within the required timeframes.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 of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Validity, Assessment and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This induction is part of your site authorisation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Validity: 12 months from the date of attendance; renewal is required on expiry.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Re-induction is required after a serious incident or when the hazards of your work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Knowledge check: 11 questions — pass mark 80% (9 correct). Below 80% you are retrained before site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attendance and signature are recorded in the site training register.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must also complete Personal Safety Instruction (PSI) and, for high-risk activities, the Siemens Energy Safe Start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induction card must be carried and shown on request — it does not replace the Permit to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Minimum age for site access: 18 years.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 of 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SE EHS Policy, the governing Standard, the Zero Harm target and who is accountable on this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Zero Harm  ·  EHS Policy  ·  Standard 000050  ·  Leadership  ·  Everyone  ·  Contractors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04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7 of 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Siemens EHS Target — Our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Derived from the KAZ Project EHS Plan (Section 5)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Our standard for EHS is excellence — it must exceed customer expectations.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project will promote a Zero-Harm culture that prevents damage to people, the environment and equipment.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Project target: zero harm — measured as Zero H1 = ZERO (no lost-time injuries).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Where EHS, progress and finances appear to conflict, EHS always prevails.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are conditions of every activity — never a trade-off against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1049"/>
            <a:ext cx="67310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Zero Harm is not a slogan: it is the way we plan, verify and behave on this site.</a:t>
            </a:r>
          </a:p>
        </p:txBody>
      </p:sp>
      <p:pic>
        <p:nvPicPr>
          <p:cNvPr id="20" name="Picture 19" descr="02_zero_harm_team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Zero Harm — we take care of each other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8 of 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Zero Harm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Principles · Behaviours · Essentials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Principles: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037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20974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Zero incidents is achievable.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93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3876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— no compromises.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841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6777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take care of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7434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296799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Behaviours: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19144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312794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Take the time to assess risk — plan and organise every job before you start.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093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6029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Talk about safety before the work and again during the shift.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995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389318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If a task cannot be done safely, or conditions change — stop and re-assess.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8973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6200" y="418338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Follow the rules and procedures, including site-specific rules and PPE.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47992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200" y="447357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Intervene when you see risk — never walk by.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7012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600" y="476377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Essentials: Stop principle · safe systems of work · competency · risk assessment · permit to work · PPE · emergency preparedness.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9 of 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Siemens Energy EHS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Signed by the Executive Board · Version 4 · December 2024 · Annex 1 to SE Standard 000050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Siemens Energy EHS Policy (V4, December 2024) is signed by the SE Executive Board and binds every SE unit, project and affiliated company — guided by our values: Caring, Agility, Respect and Accountability.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Four principles drive our Zero Harm culture: Zero Harm is achievable · we do not compromise · we take care of each other · we develop locally and share globally.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identify, assess and manage hazards and risks; we prevent injury and ill health; we report and investigate all incidents to prevent reoccurrence.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Speak up — don't walk by: every employee is empowered to stop any unsafe behaviour or situation.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7647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77647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protect people, the environment, energy and natural resources — and promote health and well-being.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096511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comply with legislation, regulations and standards, working in partnership with our customers on EHS — on this site the stricter of Iraqi law and SE requirements always applies.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6344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Managers own EHS decisions in their areas; employees are trained, qualified and competent, responsible for their own safety and that of others — and everyone acts as a role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engage and communicate with employees, subcontractors, suppliers and stakeholders on EHS, and the policy is reviewed and continuously improved with full Executive Board support.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10 of 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EHS Governance — SE Standard 000050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Where the rules of this induction come from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This induction implements SE Standard 000050 (V3) 'EHS Principles and Core Responsibilities' — valid worldwide for all Siemens Energy units and affiliated companies.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Standard defines EHS roles and responsibilities and the governance of EHS, aligned with the Zero Harm Framework (Standard 000118).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EHS management systems across SE follow ISO 45001 (occupational health and safety) and ISO 14001 (environment) — our site system uses the same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All work activities are risk-assessed before they start; hazards that threaten life or the environment must be eliminated before work begins or continues.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All incidents are reported in the SE EHS reporting tool (Enablon) — Standard 000051 'EHS Reporting'.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Everyone must be trained, qualified and competent; awareness of the Zero Harm Principles, Behaviours and Essentials is mandatory.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plans are established, exercised and evaluated — drills are part of site life.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Consultation and participation: your feedback on safety is required, two-way and protected — speak to your supervisor or EHS.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11 of 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Core Responsibilities by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From the Executive Board to every worker — SE Standard 000050, Section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Executive Board — owns the EHS policy, monitors implementation and reviews EHS performance; EHS is integrated into strategic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Senior management (n-1) — implements EHS management systems, provides resources, ensures legal compliance and delegates EHS roles to competent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(n-2) — accountable for EHS processes and procedures, incident investigation and root cause analysis, and performance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Entity and Global Functions — apply the EHS Policy on projects: hazard identification, risk assessment, training, consultation and 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EQS / EHS function — governance, targets, performance monitoring, competency and investigation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Country EHS Lead / Regional Hub — legal compliance, KPI reporting and best-practice sharing.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6344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Employees (including temporary workers) — care for yourself and others, report hazards and near misses, follow risk assessments, comply with law and SE requirements, protect the environment.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 this site the chain becomes: Project Director → EHSMIP → Contractor EHS → Supervisors → You (see slide 21).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12 of 61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Leadership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For managers, engineers and supervisors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Own EHS in your area — you are accountable for the people and the tasks you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Provide the resources: competent people, correct tools, valid PPE, adequate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Verify compliance — check permits, certificates, controls and housekeeping every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Lead visibly: safety walks, toolbox talks, safety stand-downs and recognition of good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Make EHS the first agenda item in every formal meeting and record it in the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any work you consider unsafe, and support anyone who stops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Ensure incidents and near misses are reported and investigated — and lessons are applied.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13 of 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Everyone's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to employees, contractors and visitors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Take care of your own health and safety and that of everyone around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Comply with site rules, permits, method statements and instructions.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hazards, incidents, near misses, unsafe acts and unsafe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and maintain PPE correctly; never work with defective equipment.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Attend inductions, PSI, toolbox talks and task-specific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work under the influence of alcohol or drugs — random testing is enforced.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the environment: prevent spills, segregate waste, conserve energy and water.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725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62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Participate in risk assessments for your own tasks — you know the job best.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14 of 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Contractor &amp; Subcontractor Obligations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How we work together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contractor works to its own EHS system, enriched with Siemens Energy, Client and project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contractor appoints a competent Contractor EHS Representative.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Contractors provide: risk assessments, method statements, permits, competency certificates and equipment certificates.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Monthly man-hours and incident data are submitted to the EHS Department.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stop work, suspend, exclude or ban individuals for EHS violations — at the contractor's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Where local legal requirements differ from Siemens Energy requirements, the stricter requirement applies.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15 of 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Project scope  ·  Site layout  ·  Base camp  ·  EHS organisation  ·  General rules  ·  Stop Work Authority  ·  Risk assessment  ·  Daily routine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04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16 of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KAZ Power Plant Upgrade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Modernisation and expansion of the existing 400/132/11 kV Air Insulated Switchgear (AIS) facilities.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New 400 kV and 132 kV bays: circuit breakers, disconnectors, earthing switches, current and voltage transformers, surge arresters and busbar extensions.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Civil works: foundations, earthing grid enhancement, steel structures, cable trenches and ducts.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Electrical works: control, protection, metering, telecom and SCADA/DAS interfacing.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Activities: installation, testing, commissioning and trial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13.5 months. Client: MoE &amp; BGC. Principal Contractor: Siemens Energy.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89145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Critical context: the works are executed inside a LIVE power plant — coordination with MoE Operations is mandatory for every activity.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17 of 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Site Layout and Emergency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location before you start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work area, mobilisation and laydown area, warehouses, camp and offices — shown on the site plot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layer you must know: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Assembly points (Muster points) for your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First-aid points, site clinic and the route to the nearest hospital.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points, extinguishers and eyewash stations.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Emergency exits and the route for fire, ambulance and emergency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6524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5889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Red zones: high-voltage areas where access is restricted and controlled.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100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2037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plot plan is posted at the site entrance, offices and assembly points — check it on your first day.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18 of 61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Base Camp and Site Offices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main office, the camp and the facilities you will use — layout on the next slide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**Main office block** — project management, EHS office, document control, meeting rooms and the site clinic.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3620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287270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**Base camp** — accommodation, canteen, prayer room, laundry and recreation areas. Camp rules apply at all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28290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21940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**Camp and office safety:** keep escape routes and extinguishers clear; no cooking, no smoking and no unauthorised electrical appliances inside rooms or offices.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5844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79494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**Utilities** — potable water points, generators and UPS areas, waste collection points and the sewage / grey-water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20515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14165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**Housekeeping** — bins are provided in every block; report damage, leaks, pests or a faulty air conditioner to the camp supervisor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78070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71720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**Transport** — only approved site buses and drivers; report to the camp marshal before boarding and never leave site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35624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629274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**Emergency at the camp** — the camp assembly point is marked, and the clinic, first aiders and security gate are manned at all times.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3073400"/>
            <a:ext cx="1016000" cy="736600"/>
          </a:xfrm>
          <a:prstGeom prst="rect">
            <a:avLst/>
          </a:prstGeom>
          <a:noFill/>
          <a:ln w="17780">
            <a:solidFill>
              <a:srgbClr val="9FB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45600" y="3175000"/>
            <a:ext cx="812800" cy="533400"/>
          </a:xfrm>
          <a:prstGeom prst="rect">
            <a:avLst/>
          </a:prstGeom>
          <a:solidFill>
            <a:srgbClr val="E7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0400" y="39878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2263A"/>
                </a:solidFill>
                <a:latin typeface="Calibri"/>
              </a:rPr>
              <a:t>INSERT SITE PHOTOGRAPH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00" y="4216400"/>
            <a:ext cx="27432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Right-click the frame in PowerPoint
then choose Change Picture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6400" y="5156200"/>
            <a:ext cx="3251200" cy="55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8000" y="5219700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Base camp and main office — insert site photograph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19 of 61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Project EHS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Who is responsible for what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Director / Site Manager — overall responsibility for EHS performance of the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EHS Manager in Projects (EHSMIP) — governance, audits, verification and stop-work authority.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 EHS Manager and EHS Officers — daily supervision, permits, inspections and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Area Authority / MoE Operations — authorises work in live operational areas.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Authorized Electrical Person (AEP) / Isolation Authority — energy isolation, LOTO and energisation.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First aiders, fire wardens and gas testers — appointed and posted in every area.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Rule: No EHS supervision = No work.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21 of 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9028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Several organisations share this site (MoE, BGC, Siemens Energy, contractors) — coordinate and look out for each other (SE 'Zebra site' principle).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from the moment you enter the gate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site induction and PSI before starting any work — and carry your induction 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without a valid Permit to Work; no work without EHS supervision.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an LMRA before every task and attend the daily toolbox talk.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and understand the risk assessment and method statement for your task — ask if anything is unclear.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the mandatory minimum PPE at all times (slide 43).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Stay within your authorised area — never enter red or restricted zones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your workplace clean and tidy — 'Clean everything, always.'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84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221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near miss, unsafe act, unsafe condition and incident.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22 of 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Working hours, competency and behaviour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Working hours: 08:00–17:00, six days a week (KAZ EHS Plan §7.2); subcontractor hours must be approved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Maximum 11 hours daytime / 7.5 hours night work, excluding breaks; one rest day in every seven. No fatigue working or driving.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competent, certified persons operate plant, equipment and electrical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horseplay, no sleeping on site, no unauthorised removal of materials (Material Gate Pass required).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Zero tolerance: alcohol, drugs, weapons, fighting, harassment and theft.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Photography and video recording on site are prohibited without written authorisation from the Site EHS/Security Manager.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514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450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to the site medic any illness, injury or medication that could affect your work.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23 of 61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Stop Work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You are empowered — and expected — to use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Anyone — employee, contractor or visitor — may stop any task where there is imminent danger, a rule violation, a missing control or a change in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How to apply it: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1. Stop the activity.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2. Intervene with the people involved — calmly and respectfully.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3. Escalate to the supervisor or area authority.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4. Verify and implement the required controls.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65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8588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5. Restart only when authorised.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554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41490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6. Record the event and give positive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4563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43928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will not be punished, prosecuted or harassed for stopping work — this is a Siemens Energy commitment.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24 of 61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Risk Assessment · SJA · LMRA · Management of Change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Risk assessment (RA): prepared before work starts and communicated to the team. Read it, follow the controls, never work outside its scope.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Safe Job Analysis (SJA): required for high-risk or non-routine tasks; prepared with the crew before work starts.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Last Minute Risk Assessment (LMRA): a short check before every task — What can hurt me? What has changed? Are the controls in place? The method and the form are on the next slide.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Hierarchy of controls: eliminate · substitute · engineering controls · administrative controls · PPE (PPE is the last line of defence).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17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554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of Change: if the method, equipment, people or conditions change, stop work and revise the assessment.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25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561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After any incident or high-potential near miss, the risk assessment is reviewed and updated.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25 of 61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LMRA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last check before touching the work — SE form 000480 (V2)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LMRA is the last check before touching the job — completed by the crew at the workface on SE form 000480 (V2), signed by team leader, workers and (where applicable) client representative.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rule: every question is answered YES or N/A. If you cannot answer YES or N/A — do not start: state the required measures and report to your direct supervisor and the EHS specialist.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Basics: client safety briefing received · an authorised, competent supervisor is assigned · minimum PPE plus task-specific PPE is appropriate and complete.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Height and electricity: fall controls and inspected ladders and scaffolding · safe approach distances respected · the five safety rules applied for de-energised work · operational earthing in place.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Equipment: certified lifting gear and operators · tools inspected · a suitable extinguisher at hand.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Area: the work zone is demarcated with signs and barriers · slip, trip, fall and open-gap hazards controlled · vehicle routes checked for pits, ducts and ground failure.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Look around: identify nearby activities that could interfere with your work, and record any other chemical, mechanical or physical hazards together with the measures taken.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772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772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LMRA verifies at the workface that every control is in place — it never replaces the RA, SJA or permit.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26 of 61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Daily Safety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Start of shift · during work · end of shift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Start of shift: toolbox talk → LMRA → permit verification → PPE and equipment pre-use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During work: supervision present, barriers and signage in place, housekeeping maintained, no lone working on high-risk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End of shift: close and endorse permits, restore isolations per the LOTO register, secure the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Shift handover for isolated work: joint re-verification of permit conditions, isolation status and zero-energy state, signed by all parties.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 change of plan during the shift is briefed to the crew and, where required, re-approved.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27 of 61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Permit to Work  ·  Lock-Out / Tag-Out  ·  Electrical rules  ·  Arc flash  ·  Live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04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28 of 61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System, roles and principles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permit = no work. The PTW system is administered and controlled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work on live or operational plant and client-controlled areas, the MoE/BGC permit system and its Area/Isolation Authority take precedence.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3725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27375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Roles: Permit Issuer (SE) · Permit Holder (contractor supervisor) · Area Authority (operations) · Isolation Authority / AEP · EHS Reviewer · Authorized Gas Tester.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081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3446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Every permit requires: approved JSA / method statement, controls verified on site, briefed working party, valid certificates and inspections.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478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7415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EHS reviews and audits permits; technical approval belongs to the Area Authority; isolation authority belongs to the AEP.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1558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30923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outside the scope, time or conditions stated on the permit.</a:t>
            </a:r>
          </a:p>
        </p:txBody>
      </p:sp>
      <p:pic>
        <p:nvPicPr>
          <p:cNvPr id="21" name="Picture 20" descr="03_ptw_loto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No permit — no work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29 of 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types and validity on this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61711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584" y="2057400"/>
            <a:ext cx="368401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General Cold Work Permit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584" y="2451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Cold Work Permit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584" y="2755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Hot Work &amp; Commissioning Permit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584" y="3060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Energy Isolation (LOTO) Permit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584" y="3365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Hot Work Permit (welding, cutting, grinding)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6584" y="36703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Excavation &amp; Trenching Permit (over 30 cm)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6584" y="3975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Lifting Permit (all lifts; engineered plan for critical lifts)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6584" y="4279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 at Height Permit (1.8 m and above)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6584" y="4584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Confined Space Entry Permit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6584" y="4889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30 of 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Lock-Out / Tag-Out and Energy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Control every energy source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Cover all energy sources: electrical, mechanical, pneumatic, hydraulic, thermal and stored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Sequence: notify → isolate → lock and tag → release stored energy → verify zero energy →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worker applies their own personal lock; keys are controlled in the lockbox by the AEP.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PTW validity and LOTO validity are managed separately — permit expiry never releases an isolation.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the AEP de-isolates, through the controlled de-isolation process and the key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47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884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remove another person's lock or tag — this is a dismissible offence.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Test before touch: prove the tester, prove dead, and prove the tester again.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31 of 61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Electrical Safety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golden rule of this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Treat every electrical circuit as live until proven dead.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7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80895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Isolate the source and apply LOTO before starting any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155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091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an Authorized Electrical Person may isolate, de-isolate or energise.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832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9768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Verify absence of voltage with an approved, calibrated tester — prove the tester before and after.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509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5445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insulated tools rated for the voltage; inspect them before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86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1122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Maintain safe approach distances at all times; respect barriers, interlocks and signage.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62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6799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on live equipment unless formally authorised and only under an Electrical Hot Work / Commissioning Permit.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47639"/>
            <a:ext cx="6731000" cy="248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GOLDEN RULE: ISOLATE — LOCK OUT — TAG OUT — TEST BEFORE TOUCH.</a:t>
            </a:r>
          </a:p>
        </p:txBody>
      </p:sp>
      <p:pic>
        <p:nvPicPr>
          <p:cNvPr id="24" name="Picture 23" descr="04_arc_flash_pp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Arc-rated PPE and approach boundary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32 of 61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Arc Flash and Safe Approach Distances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Boundaries must be approved for this site — do not use generic values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Nominal voltage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1304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Minimum approach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0" y="2057400"/>
            <a:ext cx="161137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Arc flash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8376" y="2057400"/>
            <a:ext cx="306222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11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1304" y="24511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24511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8376" y="24511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Limited / restricted approach per NFPA 70E and client rules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8829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946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132 kV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304" y="2946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3000" y="2946400"/>
            <a:ext cx="161137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8376" y="2946400"/>
            <a:ext cx="306222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Client operational rules apply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400 kV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1304" y="32512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32512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8376" y="32512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Highest risk on this site — client operational rules apply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683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6830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7465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within 30 m of HV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304" y="37465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Agreement with plant owner + physical demarcation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3000" y="37465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8376" y="37465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Mandatory before any activity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178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1955800"/>
            <a:ext cx="10363200" cy="22225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33 of 61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Working in a Live Power 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Coordination with MoE Operations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 near or on live systems is governed by the client's operational rules in addition to 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nominated Operations Manager is responsible for the installation; a Switching Supervisor controls switching.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starts without: agreed method, permit, isolation and the operational authority's confirmation that the plant condition is safe.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Maintain physical demarcation between live and work areas; never breach a barrier or open a panel without authorisation.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17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554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all work during thunderstorms — cranes, lifts, scaffolding and installation work are suspended (lightning and induced voltage).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25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561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contact with a conductor, any flash and any damaged insulation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0730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0095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touch an electric-shock casualty before the supply is isolated.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34 of 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481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FFFFFF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Work at height  ·  Lifting  ·  Excavation  ·  Confined space  ·  Hot work  ·  Tools  ·  Manual handling  ·  PPE  ·  Heat stress  ·  First 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04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35 of 61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 at Height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Fall protection from 1.8 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Fall protection is required from 1.8 m, or wherever a fall hazard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approved scaffolding, work platforms or MEWPs — with guardrails and toe boards.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Harness with double lanyard and shock absorber, 100% tie-off to a certified anchor point (above 22 kN).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Scaffolding: erected and altered only by certified scaffolders; green tag valid; inspected before each shift and after any alteration. Never work on a red-tagged scaffold.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691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627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Ladders: short-duration work only, secured, three points of contact, no loads carried.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367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304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 the area below, tether tools, protect openings and edges, and never work at several levels without protection.</a:t>
            </a:r>
          </a:p>
        </p:txBody>
      </p:sp>
      <p:pic>
        <p:nvPicPr>
          <p:cNvPr id="21" name="Picture 20" descr="05_work_at_heigh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100% tie-off to certified anchor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36 of 61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Lifting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lift is planned and permitted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All lifts require a permit; critical lifts require a detailed engineered lifting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Critical lifts include: loads above 75% of rated capacity, multi-crane lifts, lifts over live plant, and non-routine rigging.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certified cranes and lifting tackle (third-party certificates), competent operators, riggers and banksmen.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Outriggers fully extended on timber pads on firm, verified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Exclusion zone barricaded — nobody under the load, no side pulls, no shock loading.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lifting when wind exceeds 32 km/h or in poor visibility.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56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9193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Taglines for load control; the banksman is the only person who signals the operator.</a:t>
            </a:r>
          </a:p>
        </p:txBody>
      </p:sp>
      <p:pic>
        <p:nvPicPr>
          <p:cNvPr id="23" name="Picture 22" descr="06_lifting_oper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Exclusion zone · taglines · banksman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37 of 61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Excavation and Trenching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required beyond 30 cm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permit is required for any ground penetration deeper than 30 cm.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Obtain the signed underground utility clearance before digging; hand-dig trial pits near services and the earthing grid.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Protective systems — shoring, benching or sloping — are mandatory for excavations deeper than 1.2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Spoil heaps set back at least 1.0 m from the edge; materials and plant kept away from the crest.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Barricade, sign and light all excavations; access ladders every 7.5 m for emergency egress.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Inspect after rain or any ground movement; never enter an unprotected trench.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508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5873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competent banksman controls plant movement around the excavation.</a:t>
            </a:r>
          </a:p>
        </p:txBody>
      </p:sp>
      <p:pic>
        <p:nvPicPr>
          <p:cNvPr id="23" name="Picture 22" descr="07_excav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Shoring · barriers · access ladder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38 of 61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Confined Space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· gas test · attendant · rescue plan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Entry only with a Confined Space Entry Permit, trained entrants and attendants, and a rescue plan in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Atmospheric testing before entry and continuously during the work: oxygen, LEL, H2S and CO, by an Authorized Gas Tester.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Ventilation and isolation (LOTO) in place before entry.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22624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16274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attendant remains at the entry at all times and maintains communication with the entrant.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031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78396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enter to rescue without breathing apparatus and the rescue team — most confined-space fatalities are would-be rescuers.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Classification as a confined space is based on risk assessment of the actual conditions.</a:t>
            </a:r>
          </a:p>
        </p:txBody>
      </p:sp>
      <p:pic>
        <p:nvPicPr>
          <p:cNvPr id="21" name="Picture 20" descr="08_confined_spac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Gas monitoring · attendant · tripod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39 of 61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Hot Work and Fire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Sparks and flames are controlled, permitted activities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Hot Work Permit required for welding, cutting, grinding, soldering, thermal spraying or any activity producing sparks, flames or heat above 100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60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9685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Certified welder or cutter; PPE and screens to protect others.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3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8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blanket containment and at least 10 m clearance of combustible materials.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2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7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dedicated Fire Watch is present during the work and for 30 minutes after it 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1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60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Minimum two extinguishers and a fire blanket at the work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cylinders secured upright, caps fitted, oxygen and fuel gas stored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56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9193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test required near fuel, chemical or potentially flammable areas — never hot work in a flammable atmosphere.</a:t>
            </a:r>
          </a:p>
        </p:txBody>
      </p:sp>
      <p:pic>
        <p:nvPicPr>
          <p:cNvPr id="23" name="Picture 22" descr="09_hot_work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Fire watch · containment · 10 m clearance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40 of 61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Hand and Power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right tool, inspected, used correctly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the right tool for the job; inspect before use; remove defective tools from service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Portable electrical tools: 30 mA RCD protection, undamaged armoured cables, earthing verified, no taped joints.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Angle grinders: guard in place, correct disc for the material, never over-speed a disc.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a full face shield (EN 166) plus safety glasses and gloves for grinding and cutting.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Secure the workpiece; never cut towards your body; keep hands clear of the cutting 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47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884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loose clothing, no jewellery, no rings; tie back long hair.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use compressed air to clean clothing or skin.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41 of 61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Manual Handling and Ergonomics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Plan the lift, not just the job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Assess the load: weight, size, grip, centre of gravity, distance and destination.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mechanical aids or ask for help — team lifts need a leader and clear commands.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Lift technique: bend the knees, keep the load close, no twisting while lifting.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Plan breaks and vary tasks to reduce repetition and strain.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pain early — discomfort today becomes an injury tomorrow.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Consider the environment: heat, uneven ground and confined spaces all increase the risk.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42 of 61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Personal Protective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Mandatory minimum on site — additional PPE per task risk assessment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326948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PPE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888" y="2057400"/>
            <a:ext cx="65857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 on this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helmet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888" y="2451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with chin strap; replaced after impact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Flame-retardant coverall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888" y="2755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visibility class 1 (high-visibility)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footwear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4888" y="3060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S3 / S1P, toe protection and puncture resistance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glasses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888" y="3365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ANSI/EN certified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Protective gloves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4888" y="3670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task-specific (electrical, chemical, cut-resistant)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Hearing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4888" y="3975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above 85 dB(A) or where indicated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Arc-rated PPE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4888" y="4279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For electrical work — Category 2/4, face shield, insulated gloves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Full-body harness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4888" y="4584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Working at height — double lanyard with shock absorber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Respiratory 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4888" y="4889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Where dust or vapour is identified — face-fit tested (e.g. FFP3)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51308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1400" y="5194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High-visibility vest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4888" y="5194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in areas with mobile plant and vehicle movement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5435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14400" y="1955800"/>
            <a:ext cx="10363200" cy="34798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43 of 61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Heat Stress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Our most predictable environmental hazard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Heat stress is managed by WBGT monitoring — monitoring starts when ambient temperature exceeds 40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Published work / rest cycles apply for light, moderate and heavy work; follow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Acclimatisation: new arrivals and anyone returning from leave start with reduced workload and increased rest.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Drink water regularly — about 1.0 to 1.2 litres per hour for light work in high heat. Use oral rehydration salts.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Shaded, ventilated rest areas and chilled drinking water are provided — use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Lone working is prohibited on high-risk tasks — use the buddy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508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5873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Warning signs: headache, dizziness, cramps, nausea, confusion, hot dry skin, fainting. Heat stroke is a medical emergency — cool the casualty and call the medic immediately.</a:t>
            </a:r>
          </a:p>
        </p:txBody>
      </p:sp>
      <p:pic>
        <p:nvPicPr>
          <p:cNvPr id="23" name="Picture 22" descr="10_heat_stress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Shade · hydration · work-rest cycles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44 of 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First Aid and Medical Emergency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nearest help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Know: your nearest first-aid point, the site medic, the emergency number and the route to the nearest hospital.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Do not move a casualty unless there is immediate danger to life.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 shock: do not touch the casualty before the supply is isolated.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the airway open; start CPR / AED if the casualty is not breathing and you are trained.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Preserve the incident scene; do not disturb equipment involved in the incident.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Meet the ambulance at the main gate and escort it to the casualty.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injury — including first-aid cases — to the EHS Department and the site medic.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2139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Fitness for work: a valid medical certificate is required; report any condition or medication that affects your ability to work safely. Mental health matters — stress, fatigue and personal problems affect safety; support is available from your supervisor and the site medic.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45 of 61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Environment  ·  Waste  ·  Fire  ·  Emergency  ·  Incident reporting  ·  Security  ·  Driving  ·  Penalties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04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46 of 61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Environmental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Prevent pollution — it is part of every task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spill of oil, fuel, chemical or concrete washwater to soil, drains or watercourses.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drip trays, secondary containment, funnels and spill kits; keep spill kits stocked and accessible.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Dust suppression on unpaved roads and during cutting, grinding or excavation.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Control noise and vibration through plant selection and work methods; respect site noise limits.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Chemicals: no substance on site without a Safety Data Sheet (SDS) and registration in the electronic substance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Asbestos and PCBs are prohibited on site — report any suspected material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9549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58914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flora, fauna and heritage: no uncontrolled clearing, no hunting, no littering.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030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93395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environmental incidents (spills, leaks, uncontrolled emissions) immediately — they are EHS incidents.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47 of 61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Waste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Segregate at source — every day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Segregate waste: general · recyclable (metal, cable, paper, plastic) · hazardous · construction and demolition waste.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(oils, filters, batteries, chemicals, e-waste) is stored in labelled, covered, bunded areas.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leaves site only with MOTAT records and a licensed transporter.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burn waste, never mix hazardous with general waste, never dump into trenches or open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Material and waste removal requires a Material Gate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Keep waste areas tidy, marked and away from drains; report overflowing or damaged bins.</a:t>
            </a:r>
          </a:p>
        </p:txBody>
      </p:sp>
      <p:pic>
        <p:nvPicPr>
          <p:cNvPr id="21" name="Picture 20" descr="12_waste_managemen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Segregated bins · bunded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48 of 61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Fire Safety and Firefighting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Classes, extinguishers and the PASS method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A — wood, paper, cloth, rubber, plastics → water or foam (DCP is acceptable but less effective).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0130"/>
            <a:ext cx="20320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03780"/>
            <a:ext cx="65278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B — gasoline, kerosene, paint, propane → foam, DCP, CO2.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3017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2382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C — energised electrical equipment → CO2 or clean agent, plus de-energise the supply. Never use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81350"/>
            <a:ext cx="203200" cy="693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175000"/>
            <a:ext cx="6527800" cy="718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D — metals such as magnesium, titanium and sodium → special metal powder (graphite or sodium chloride). Never water or standard DCP.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63670"/>
            <a:ext cx="20320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57320"/>
            <a:ext cx="65278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K / F — cooking oils and fats → wet chemical (camp kitchen).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8371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7736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PASS method: Pull the pin · Aim at the base of the fire · Squeeze the handle · Sweep side to 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3489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2854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For CO2 extinguishers hold the insulated horn, never the metal parts.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8607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537972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Only fight a small fire if you are trained and have a clear escape route. Otherwise raise the alarm and evacuate. Always alarm first.</a:t>
            </a:r>
          </a:p>
        </p:txBody>
      </p:sp>
      <p:pic>
        <p:nvPicPr>
          <p:cNvPr id="25" name="Picture 24" descr="13_fire_extinguisher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Aim at the base · keep an escape route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49 of 61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Response and Evacuation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Alarm · assembly · head count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 evacuation: stop the job, isolate your equipment, proceed to the nearest assembly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to your area marshal for the head count; report any missing person immediately.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use vehicles; do not block emergency routes; keep the gate clear for emergency 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leave or return to the area until instructed by the emergency controller.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security incidents (threat, intrusion, civil disturbance) follow the same assembly principle and the security team's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04484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398134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wardens sweep their areas, including visitors and subcontractor crews.</a:t>
            </a:r>
          </a:p>
        </p:txBody>
      </p:sp>
      <p:pic>
        <p:nvPicPr>
          <p:cNvPr id="23" name="Picture 22" descr="11_emergency_assembl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Assembly point · roll call · clear routes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50 of 61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Classification and 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the level — and who to tell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14041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9512" y="2057400"/>
            <a:ext cx="46167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0215" y="2057400"/>
            <a:ext cx="35803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245110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9512" y="245110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Minor injury or health effect, minor damage or minor environmental impact, manageable on site with site resources.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0215" y="245110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Supervisor → EHS → Site Manager (verbal immediately, written within 24 hours)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14400" y="288290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1400" y="294640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9512" y="294640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Significant event manageable locally with support from the Company or local authorities — major injury, local damage, local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0215" y="294640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EHS → SE EHSMIP → Project Director + Client (immediately)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5750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41400" y="363855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9512" y="363855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Major event or crisis beyond the contractor's control, with broader implications, requiring Company / corporate resources.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0215" y="363855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Project Director → SE Corporate / Regional Hub + Client (immediately)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0703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407035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1400" y="413385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Escalate immediately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9512" y="413385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Life-threatening injury, fatality, high-potential incident, major environmental release, security crisis — never treated as a locally managed event.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0215" y="413385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Verbal immediately · written within 24 hours · investigation report within 7 days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476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4400" y="1955800"/>
            <a:ext cx="10363200" cy="28067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51 of 61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Posted at every assembly point, office and camp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544576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1159" y="2057400"/>
            <a:ext cx="440944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Number /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EHS control room / emergency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1159" y="2451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 (24/7)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UHF radio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1159" y="2755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Channel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medic / first aiders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1159" y="3060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Contractor emergency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159" y="3365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0785-285-7404 · 0786-162-9706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Siemens Energy emergency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1159" y="36703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+90 533 625 9494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Ambulance (Iraq)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1159" y="3975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122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Civil Defence / Fire (Iraq)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1159" y="4279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Police (Iraq)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1159" y="4584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104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Nearest hospital / medevac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1159" y="4889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52 of 61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Site Alarm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notification card you must know before you need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alarm card is your personal emergency notification card — posted in every work area, office, camp and vehicle; know it before you need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Inform in all cases: every accident and every severe injury is reported immediately through the site central emergency line (numbers on slide 52).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Start your message with where you are — location, area and nearest landmark — then what happened, how many are hurt and what dangers remain.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notification chain: site emergency line → your supervisor → control room → EHS; where needed, the Site Manager, Project Manager and client contacts are informed.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 your nearest first-aid station, AED and the site medic before your first day of work — not after the first casualty.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9028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External emergencies: ambulance 122 · fire 115 · police 104 — always inform the site control room as well.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Serious injuries: the hospital route and any special treatment are organised by the EHS Department — never transport a casualty alone.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772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772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Names and numbers on the card must stay current — report any change to the EHS Department immediately.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53 of 61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12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12263A"/>
                </a:solidFill>
                <a:latin typeface="Calibri"/>
              </a:rPr>
              <a:t>Incident, Near Miss and Unsafe Condition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3441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Report immediately — reporting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immediately: all injuries (including first aid), near misses, unsafe acts, unsafe conditions, property damage, environmental releases and security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through your supervisor and the EHS Department; incidents are recorded in the Siemens Energy EHS reporting tool (Enablon).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Timelines: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0517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329882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Verbal notification — immediately.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537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58902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Written notification — within 24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855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8792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Investigation report — within 7 days (unless an extension is agreed).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757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41694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Corrective action status — reported weekly until closed.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659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596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formal investigation team is formed by the Contractor, the Company and subcontractors; root causes and actions are documented.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66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50603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withhold information, alter the scene or delay reporting. Honest reporting carries no blame.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54 of 61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from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event makes the site safer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Lessons Learned and safety alerts are issued after incidents and high-potential near misses.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lesson triggers a risk assessment review, a toolbox talk and verification that controls are effective.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conduct Eye on Safety reviews and its own investigations.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you are involved in or witness a serious incident: preserve the scene, cooperate fully and provide a written statement.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5196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Share your experience — it prevents the next accident.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55 of 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8456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64845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Investigations classify errors, mistakes, violations and consequences — the purpose is learning and prevention, not blame.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Security and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Everyone is searched — everyone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Site and camps are protected by the Iraqi Police and site security; persons, belongings, vehicles and deliveries may be searched on entry and exit.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603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968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Wear your Site ID / Gate Pass visibly at all times; access without it is refused.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3725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27375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Visitors: pre-approval 24 hours in advance, photo ID deposited at the gate, escorted by a host at all times; no work, no plant operation, no photography.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081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3446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immediately: unauthorised access, theft, suspicious persons or vehicles, security breaches or threats.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0850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50215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Lost or damaged ID card must be reported; a replacement fee applies.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619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06984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Security personnel are authorised to carry weapons — cooperate calmly and follow their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4388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63753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resist or interfere with security checks; the minimum age for site access is 18 years.</a:t>
            </a:r>
          </a:p>
        </p:txBody>
      </p:sp>
      <p:pic>
        <p:nvPicPr>
          <p:cNvPr id="23" name="Picture 22" descr="14_security_journe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Access control · vehicle search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56 of 61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Driving Safety and Journey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road is our highest-risk journey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Seat belts for all occupants, in every vehicle, at all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 Iraqi driving licence for the vehicle class; only authorised drivers and vehicles.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Site speed limit: 5 km/h. Obey traffic signs, signals and marshals.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mobile phone use while driving — including hands-free. No other distractions.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Reverse parking only in designated areas; reversing requires a trained banksman.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Daily pre-use checks and valid third-party inspection certificates for all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Journey management: plan the route, rest at least every two hours, no night driving without approval, no driving when tired.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84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221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Driving is restricted in adverse weather — fog, heavy rain and dust storms.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57 of 61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Violations and Penalties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Consequences are applied consistently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096" y="2057400"/>
            <a:ext cx="244043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1st offence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7528" y="2057400"/>
            <a:ext cx="223316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2nd offence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4696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3rd offence /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Speeding (over 5 km/h)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096" y="24511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Warning + 2-day vehicle 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7528" y="24511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1-week vehicle and driver 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4696" y="24511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6924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7559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PPE non-compliance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3096" y="2755900"/>
            <a:ext cx="244043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written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7528" y="2755900"/>
            <a:ext cx="2233168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Contractor 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4696" y="27559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ID cancellation and site removal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Red zone / LOTO breach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3096" y="32512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+ 1-week suspension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7528" y="32512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4696" y="32512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expulsion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49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4925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5560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Lost or damaged ID 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3096" y="35560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Replacement fee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7528" y="35560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4696" y="35560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3797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41400" y="38608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Positive alcohol / drugs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3096" y="38608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Immediate permanent site 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7528" y="38608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4696" y="38608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41021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14400" y="41021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1400" y="41656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material removal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43096" y="41656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Confiscation and investigation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7528" y="41656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4696" y="41656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4406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41400" y="4470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photography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3096" y="44704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Media deletion and warning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7528" y="44704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4696" y="4470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4711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14400" y="1955800"/>
            <a:ext cx="10363200" cy="27559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58 of 61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11 questions — pass mark 80% (9 correct)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1. What is the site speed limit, and when is a banksman required?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2. At what height does fall protection become mandatory?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3. When is a protective system required for an excavation?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4. Which gases are tested before confined space entry?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5. What is the maximum wind speed for lifting operations?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6. Which extinguisher would you use on an energised electrical panel fire?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7. What are the reporting deadlines for an incident?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725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62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8. What must you do before touching any electrical conductor?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173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5110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9. What are the official emergency numbers in Iraq?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6219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600" y="485584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10. What happens if you stop work because you believe it is unsafe?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59 of 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09666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203316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11. According to the Siemens Energy EHS Policy, what are the four principles that drive our Zero Harm culture?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Induction Card and Acknowledgement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Before you leave this room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Collect your numbered induction card — valid 12 months, must be carried and shown on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Sign the attendance and acknowledgement register.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card does not replace the Permit to Work, PSI, Safe Start or task-specific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767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793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Acknowledgement: 'I attended the KAZ Management &amp; Staff EHS Induction, I understood its content, and I accept that compliance with safety rules, permits and Stop Work Authority is a condition of my access to this site.'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content gaps or unclear points to the EHS Department — this induction is reviewed regularly.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60 of 61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304800"/>
            <a:ext cx="32004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36x68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00" y="381000"/>
            <a:ext cx="2997200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59000"/>
            <a:ext cx="10414000" cy="1115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Everyone Goes Home Safely — Every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62959"/>
            <a:ext cx="10414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FD8D8"/>
                </a:solidFill>
                <a:latin typeface="Calibri"/>
              </a:rPr>
              <a:t>Zero Harm · We take care of each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255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Questions? Contact the EHS Department — UHF Channel 1 / Site EHS control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1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Thank you for your attention and for the work you do safely.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30800"/>
            <a:ext cx="10363200" cy="508000"/>
          </a:xfrm>
          <a:prstGeom prst="rect">
            <a:avLst/>
          </a:prstGeom>
          <a:solidFill>
            <a:srgbClr val="1B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800" y="5257800"/>
            <a:ext cx="1005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42000"/>
            <a:ext cx="10363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D8D8"/>
                </a:solidFill>
                <a:latin typeface="Calibri"/>
              </a:rPr>
              <a:t>No task is so urgent that it cannot be done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51600"/>
            <a:ext cx="1036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C93A8"/>
                </a:solidFill>
                <a:latin typeface="Calibri"/>
              </a:rPr>
              <a:t>KAZ-EHS-IND-001 · Rev. 04 · Restricted   ·   Subcontractor: Al-Mial Company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Camp and Offices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camp model — parking, gates, offices, restaurants, workshop and muster point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04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20 of 61</a:t>
            </a:r>
          </a:p>
        </p:txBody>
      </p:sp>
      <p:pic>
        <p:nvPicPr>
          <p:cNvPr id="30" name="Picture 29" descr="camp_model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10360152" cy="332152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4400" y="53492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A88"/>
                </a:solidFill>
                <a:latin typeface="Calibri"/>
              </a:rPr>
              <a:t>Parking area · muster point (marked 'Master point' on the drawing) · smoking area · SE, MoE &amp; BGC and MIAL offices · MIAL and laborer restaurants · meeting rooms · workshop shed · containers · steel area · toilets · DG · gates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9840</Words>
  <Application>Microsoft Office PowerPoint</Application>
  <PresentationFormat>Widescreen</PresentationFormat>
  <Paragraphs>1115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Aljassem</dc:creator>
  <cp:keywords/>
  <dc:description>generated using python-pptx</dc:description>
  <cp:lastModifiedBy>Ahmed Aljassem</cp:lastModifiedBy>
  <cp:revision>1</cp:revision>
  <dcterms:created xsi:type="dcterms:W3CDTF">2013-01-27T09:14:16Z</dcterms:created>
  <dcterms:modified xsi:type="dcterms:W3CDTF">2026-09-16T19:40:54Z</dcterms:modified>
  <cp:category/>
</cp:coreProperties>
</file>