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11274552" cy="73152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2743200" cy="274320"/>
          </a:xfrm>
          <a:prstGeom prst="rect">
            <a:avLst/>
          </a:prstGeom>
          <a:noFill/>
        </p:spPr>
        <p:txBody>
          <a:bodyPr wrap="square">
            <a:spAutoFit/>
          </a:bodyPr>
          <a:lstStyle/>
          <a:p>
            <a:pPr algn="l">
              <a:defRPr sz="1400" b="1">
                <a:solidFill>
                  <a:srgbClr val="0E2F3E"/>
                </a:solidFill>
                <a:latin typeface="Calibri"/>
              </a:defRPr>
            </a:pPr>
            <a:r>
              <a:t>SIEMENS ENERGY</a:t>
            </a:r>
          </a:p>
        </p:txBody>
      </p:sp>
      <p:sp>
        <p:nvSpPr>
          <p:cNvPr id="5" name="TextBox 4"/>
          <p:cNvSpPr txBox="1"/>
          <p:nvPr/>
        </p:nvSpPr>
        <p:spPr>
          <a:xfrm>
            <a:off x="548640" y="594360"/>
            <a:ext cx="4572000" cy="274320"/>
          </a:xfrm>
          <a:prstGeom prst="rect">
            <a:avLst/>
          </a:prstGeom>
          <a:noFill/>
        </p:spPr>
        <p:txBody>
          <a:bodyPr wrap="square">
            <a:spAutoFit/>
          </a:bodyPr>
          <a:lstStyle/>
          <a:p>
            <a:pPr algn="l">
              <a:defRPr sz="900" b="0">
                <a:solidFill>
                  <a:srgbClr val="616161"/>
                </a:solidFill>
                <a:latin typeface="Calibri"/>
              </a:defRPr>
            </a:pPr>
            <a:r>
              <a:t>KAZ Power Plant Upgrade Project | Zero Harm Culture</a:t>
            </a:r>
          </a:p>
        </p:txBody>
      </p:sp>
      <p:sp>
        <p:nvSpPr>
          <p:cNvPr id="6" name="TextBox 5"/>
          <p:cNvSpPr txBox="1"/>
          <p:nvPr/>
        </p:nvSpPr>
        <p:spPr>
          <a:xfrm>
            <a:off x="9144000" y="320040"/>
            <a:ext cx="2560320" cy="548640"/>
          </a:xfrm>
          <a:prstGeom prst="rect">
            <a:avLst/>
          </a:prstGeom>
          <a:noFill/>
        </p:spPr>
        <p:txBody>
          <a:bodyPr wrap="square">
            <a:spAutoFit/>
          </a:bodyPr>
          <a:lstStyle/>
          <a:p>
            <a:pPr algn="r">
              <a:defRPr sz="1000" b="1">
                <a:solidFill>
                  <a:srgbClr val="E30613"/>
                </a:solidFill>
                <a:latin typeface="Calibri"/>
              </a:defRPr>
            </a:pPr>
            <a:r>
              <a:t>CONFIDENTIAL</a:t>
            </a:r>
            <a:br/>
            <a:r>
              <a:t>Management Eyes Only</a:t>
            </a:r>
          </a:p>
        </p:txBody>
      </p:sp>
      <p:sp>
        <p:nvSpPr>
          <p:cNvPr id="7" name="Rectangle 6"/>
          <p:cNvSpPr/>
          <p:nvPr/>
        </p:nvSpPr>
        <p:spPr>
          <a:xfrm>
            <a:off x="457200" y="1371600"/>
            <a:ext cx="73152" cy="109728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10515600" cy="640080"/>
          </a:xfrm>
          <a:prstGeom prst="rect">
            <a:avLst/>
          </a:prstGeom>
          <a:noFill/>
        </p:spPr>
        <p:txBody>
          <a:bodyPr wrap="square">
            <a:spAutoFit/>
          </a:bodyPr>
          <a:lstStyle/>
          <a:p>
            <a:pPr algn="l">
              <a:defRPr sz="2800" b="1">
                <a:solidFill>
                  <a:srgbClr val="212121"/>
                </a:solidFill>
                <a:latin typeface="Calibri"/>
              </a:defRPr>
            </a:pPr>
            <a:r>
              <a:t>Subcontractor EHS Non-Compliance Report</a:t>
            </a:r>
          </a:p>
        </p:txBody>
      </p:sp>
      <p:sp>
        <p:nvSpPr>
          <p:cNvPr id="9" name="TextBox 8"/>
          <p:cNvSpPr txBox="1"/>
          <p:nvPr/>
        </p:nvSpPr>
        <p:spPr>
          <a:xfrm>
            <a:off x="731520" y="2011680"/>
            <a:ext cx="10515600" cy="457200"/>
          </a:xfrm>
          <a:prstGeom prst="rect">
            <a:avLst/>
          </a:prstGeom>
          <a:noFill/>
        </p:spPr>
        <p:txBody>
          <a:bodyPr wrap="square">
            <a:spAutoFit/>
          </a:bodyPr>
          <a:lstStyle/>
          <a:p>
            <a:pPr algn="l">
              <a:defRPr sz="1600" b="1">
                <a:solidFill>
                  <a:srgbClr val="0E2F3E"/>
                </a:solidFill>
                <a:latin typeface="Calibri"/>
              </a:defRPr>
            </a:pPr>
            <a:r>
              <a:t>Field Operations Safety Violations - Subcontractor</a:t>
            </a:r>
          </a:p>
        </p:txBody>
      </p:sp>
      <p:sp>
        <p:nvSpPr>
          <p:cNvPr id="10" name="TextBox 9"/>
          <p:cNvSpPr txBox="1"/>
          <p:nvPr/>
        </p:nvSpPr>
        <p:spPr>
          <a:xfrm>
            <a:off x="731520" y="2468880"/>
            <a:ext cx="10515600" cy="365760"/>
          </a:xfrm>
          <a:prstGeom prst="rect">
            <a:avLst/>
          </a:prstGeom>
          <a:noFill/>
        </p:spPr>
        <p:txBody>
          <a:bodyPr wrap="square">
            <a:spAutoFit/>
          </a:bodyPr>
          <a:lstStyle/>
          <a:p>
            <a:pPr algn="l">
              <a:defRPr sz="1200" b="0">
                <a:solidFill>
                  <a:srgbClr val="616161"/>
                </a:solidFill>
                <a:latin typeface="Calibri"/>
              </a:defRPr>
            </a:pPr>
            <a:r>
              <a:t>Operational Compliance &amp; Risk Assessment | Executive Management Review</a:t>
            </a:r>
          </a:p>
        </p:txBody>
      </p:sp>
      <p:sp>
        <p:nvSpPr>
          <p:cNvPr id="11" name="Rectangle 10"/>
          <p:cNvSpPr/>
          <p:nvPr/>
        </p:nvSpPr>
        <p:spPr>
          <a:xfrm>
            <a:off x="457200" y="3017520"/>
            <a:ext cx="5029200" cy="2011680"/>
          </a:xfrm>
          <a:prstGeom prst="rect">
            <a:avLst/>
          </a:prstGeom>
          <a:solidFill>
            <a:srgbClr val="F9F9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017520"/>
            <a:ext cx="4846320" cy="274320"/>
          </a:xfrm>
          <a:prstGeom prst="rect">
            <a:avLst/>
          </a:prstGeom>
          <a:noFill/>
        </p:spPr>
        <p:txBody>
          <a:bodyPr wrap="square">
            <a:spAutoFit/>
          </a:bodyPr>
          <a:lstStyle/>
          <a:p>
            <a:pPr algn="l">
              <a:defRPr sz="1100" b="1">
                <a:solidFill>
                  <a:srgbClr val="0E2F3E"/>
                </a:solidFill>
                <a:latin typeface="Calibri"/>
              </a:defRPr>
            </a:pPr>
            <a:r>
              <a:t>Report Information</a:t>
            </a:r>
          </a:p>
        </p:txBody>
      </p:sp>
      <p:sp>
        <p:nvSpPr>
          <p:cNvPr id="13" name="TextBox 12"/>
          <p:cNvSpPr txBox="1"/>
          <p:nvPr/>
        </p:nvSpPr>
        <p:spPr>
          <a:xfrm>
            <a:off x="548640" y="3291840"/>
            <a:ext cx="4846320" cy="1645920"/>
          </a:xfrm>
          <a:prstGeom prst="rect">
            <a:avLst/>
          </a:prstGeom>
          <a:noFill/>
        </p:spPr>
        <p:txBody>
          <a:bodyPr wrap="square">
            <a:spAutoFit/>
          </a:bodyPr>
          <a:lstStyle/>
          <a:p>
            <a:pPr algn="l">
              <a:defRPr sz="850" b="0">
                <a:solidFill>
                  <a:srgbClr val="212121"/>
                </a:solidFill>
                <a:latin typeface="Calibri"/>
              </a:defRPr>
            </a:pPr>
            <a:r>
              <a:t>Reference: SE-EHS-NC-2026-EXEC-EN</a:t>
            </a:r>
            <a:br/>
            <a:r>
              <a:t>Date: September 2026</a:t>
            </a:r>
            <a:br/>
            <a:r>
              <a:t>Prepared by: EHS Manager - Siemens Energy</a:t>
            </a:r>
            <a:br/>
            <a:r>
              <a:t>Classification: Confidential - Management Review &amp; Decision</a:t>
            </a:r>
            <a:br/>
            <a:br/>
            <a:r>
              <a:t>Standards: ISO 45001:2018, ISO 14001:2015, OSHA 29 CFR 1926</a:t>
            </a:r>
            <a:br/>
            <a:r>
              <a:t>Siemens Energy EHS Principles &amp; Life Saving Rules</a:t>
            </a:r>
            <a:br/>
            <a:r>
              <a:t>Project EHS Plan &amp; Traffic Management Plan</a:t>
            </a:r>
            <a:br/>
            <a:br/>
            <a:r>
              <a:t>Distribution: Project Director, Construction Manager, Commercial Manager, QA/QC Manager, Subcontractor Top Management</a:t>
            </a:r>
            <a:br/>
            <a:br/>
            <a:r>
              <a:t>Design: Executive &amp; Modern - Pure White #FFFFFF background with Red #E30613 / Amber #FFB900 warning highlights</a:t>
            </a:r>
          </a:p>
        </p:txBody>
      </p:sp>
      <p:sp>
        <p:nvSpPr>
          <p:cNvPr id="14" name="Rectangle 13"/>
          <p:cNvSpPr/>
          <p:nvPr/>
        </p:nvSpPr>
        <p:spPr>
          <a:xfrm>
            <a:off x="5943600" y="3017520"/>
            <a:ext cx="5760720" cy="2011680"/>
          </a:xfrm>
          <a:prstGeom prst="rect">
            <a:avLst/>
          </a:prstGeom>
          <a:solidFill>
            <a:srgbClr val="FFFFFF"/>
          </a:solidFill>
          <a:ln w="1905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3017520"/>
            <a:ext cx="5577840" cy="274320"/>
          </a:xfrm>
          <a:prstGeom prst="rect">
            <a:avLst/>
          </a:prstGeom>
          <a:noFill/>
        </p:spPr>
        <p:txBody>
          <a:bodyPr wrap="square">
            <a:spAutoFit/>
          </a:bodyPr>
          <a:lstStyle/>
          <a:p>
            <a:pPr algn="l">
              <a:defRPr sz="1100" b="1">
                <a:solidFill>
                  <a:srgbClr val="0E2F3E"/>
                </a:solidFill>
                <a:latin typeface="Calibri"/>
              </a:defRPr>
            </a:pPr>
            <a:r>
              <a:t>Design &amp; Usage Instructions - Executive White Format</a:t>
            </a:r>
          </a:p>
        </p:txBody>
      </p:sp>
      <p:sp>
        <p:nvSpPr>
          <p:cNvPr id="16" name="TextBox 15"/>
          <p:cNvSpPr txBox="1"/>
          <p:nvPr/>
        </p:nvSpPr>
        <p:spPr>
          <a:xfrm>
            <a:off x="6035040" y="3291840"/>
            <a:ext cx="5577840" cy="1645920"/>
          </a:xfrm>
          <a:prstGeom prst="rect">
            <a:avLst/>
          </a:prstGeom>
          <a:noFill/>
        </p:spPr>
        <p:txBody>
          <a:bodyPr wrap="square">
            <a:spAutoFit/>
          </a:bodyPr>
          <a:lstStyle/>
          <a:p>
            <a:pPr algn="l">
              <a:defRPr sz="800" b="0">
                <a:solidFill>
                  <a:srgbClr val="212121"/>
                </a:solidFill>
                <a:latin typeface="Calibri"/>
              </a:defRPr>
            </a:pPr>
            <a:r>
              <a:t>Executive Design:</a:t>
            </a:r>
            <a:br/>
            <a:r>
              <a:t>• Background: Pure White #FFFFFF / Light Grey #F5F5F7</a:t>
            </a:r>
            <a:br/>
            <a:r>
              <a:t>• Text: Dark #212121 / Grey #616161</a:t>
            </a:r>
            <a:br/>
            <a:r>
              <a:t>• Warning: Red #E30613 (CRITICAL) / Amber #FFB900 (HIGH)</a:t>
            </a:r>
            <a:br/>
            <a:r>
              <a:t>• Accent: Teal #009999 / Dark Petrol #0E2F3E</a:t>
            </a:r>
            <a:br/>
            <a:br/>
            <a:r>
              <a:t>Each Slide Structure (4 Boxes):</a:t>
            </a:r>
            <a:br/>
            <a:r>
              <a:t>1. Violation Title - Top header with ID and Risk badge</a:t>
            </a:r>
            <a:br/>
            <a:r>
              <a:t>2. Technical Description - 5 points with location/date fields</a:t>
            </a:r>
            <a:br/>
            <a:r>
              <a:t>3. Risk Assessment - Impact and regulatory breach</a:t>
            </a:r>
            <a:br/>
            <a:r>
              <a:t>4. Corrective Action - 5 numbered actions - owner &amp; deadline</a:t>
            </a:r>
            <a:br/>
            <a:r>
              <a:t>5. Photo Evidence Area - Large dedicated box [Insert Violation Photo Here]</a:t>
            </a:r>
            <a:br/>
            <a:br/>
            <a:r>
              <a:t>How to Add Photos:</a:t>
            </a:r>
            <a:br/>
            <a:r>
              <a:t>• Drag &amp; drop your approved site photo into large right-side box</a:t>
            </a:r>
            <a:br/>
            <a:r>
              <a:t>• Box will auto-fit photo - no resizing needed</a:t>
            </a:r>
            <a:br/>
            <a:r>
              <a:t>• Add 2 photos: Overview + Close-up + After Correction photo</a:t>
            </a:r>
            <a:br/>
            <a:r>
              <a:t>• Fill Photo Details: Date, Time, Location, GPS, Taken by</a:t>
            </a:r>
            <a:br/>
            <a:br/>
            <a:r>
              <a:t>All slides include:</a:t>
            </a:r>
            <a:br/>
            <a:r>
              <a:t>• [Insert Violation Photo Here] placeholder - clear and visible</a:t>
            </a:r>
            <a:br/>
            <a:r>
              <a:t>• Fig number, photo label, details field</a:t>
            </a:r>
            <a:br/>
            <a:r>
              <a:t>• Standard reference footer</a:t>
            </a:r>
          </a:p>
        </p:txBody>
      </p:sp>
      <p:sp>
        <p:nvSpPr>
          <p:cNvPr id="17" name="Rectangle 16"/>
          <p:cNvSpPr/>
          <p:nvPr/>
        </p:nvSpPr>
        <p:spPr>
          <a:xfrm>
            <a:off x="457200" y="5303520"/>
            <a:ext cx="11274552" cy="822960"/>
          </a:xfrm>
          <a:prstGeom prst="rect">
            <a:avLst/>
          </a:prstGeom>
          <a:solidFill>
            <a:srgbClr val="FFEBEB"/>
          </a:solidFill>
          <a:ln w="190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303520"/>
            <a:ext cx="11064240" cy="182880"/>
          </a:xfrm>
          <a:prstGeom prst="rect">
            <a:avLst/>
          </a:prstGeom>
          <a:noFill/>
        </p:spPr>
        <p:txBody>
          <a:bodyPr wrap="square">
            <a:spAutoFit/>
          </a:bodyPr>
          <a:lstStyle/>
          <a:p>
            <a:pPr algn="l">
              <a:defRPr sz="1000" b="1">
                <a:solidFill>
                  <a:srgbClr val="E30613"/>
                </a:solidFill>
                <a:latin typeface="Calibri"/>
              </a:defRPr>
            </a:pPr>
            <a:r>
              <a:t>Executive Statement:</a:t>
            </a:r>
          </a:p>
        </p:txBody>
      </p:sp>
      <p:sp>
        <p:nvSpPr>
          <p:cNvPr id="19" name="TextBox 18"/>
          <p:cNvSpPr txBox="1"/>
          <p:nvPr/>
        </p:nvSpPr>
        <p:spPr>
          <a:xfrm>
            <a:off x="548640" y="5532120"/>
            <a:ext cx="11064240" cy="548640"/>
          </a:xfrm>
          <a:prstGeom prst="rect">
            <a:avLst/>
          </a:prstGeom>
          <a:noFill/>
        </p:spPr>
        <p:txBody>
          <a:bodyPr wrap="square">
            <a:spAutoFit/>
          </a:bodyPr>
          <a:lstStyle/>
          <a:p>
            <a:pPr algn="l">
              <a:defRPr sz="900" b="0">
                <a:solidFill>
                  <a:srgbClr val="212121"/>
                </a:solidFill>
                <a:latin typeface="Calibri"/>
              </a:defRPr>
            </a:pPr>
            <a:r>
              <a:t>This report documents critical, systemic EHS non-compliances observed during site inspections of subcontractor field operations. Findings indicate fundamental breakdown of subcontractor EHS management system and direct threat to our Zero Harm commitment, project schedule, and legal compliance. Immediate management intervention is required. The cost of inaction far exceeds the cost of intervention.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4008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548640"/>
          </a:xfrm>
          <a:prstGeom prst="rect">
            <a:avLst/>
          </a:prstGeom>
          <a:noFill/>
        </p:spPr>
        <p:txBody>
          <a:bodyPr wrap="square">
            <a:spAutoFit/>
          </a:bodyPr>
          <a:lstStyle/>
          <a:p>
            <a:pPr algn="l">
              <a:defRPr sz="1800" b="1">
                <a:solidFill>
                  <a:srgbClr val="212121"/>
                </a:solidFill>
                <a:latin typeface="Calibri"/>
              </a:defRPr>
            </a:pPr>
            <a:r>
              <a:t>Final Recommendations &amp; Corrective Action Plan - Management Decision Required</a:t>
            </a:r>
          </a:p>
        </p:txBody>
      </p:sp>
      <p:sp>
        <p:nvSpPr>
          <p:cNvPr id="5" name="Rectangle 4"/>
          <p:cNvSpPr/>
          <p:nvPr/>
        </p:nvSpPr>
        <p:spPr>
          <a:xfrm>
            <a:off x="274320" y="914400"/>
            <a:ext cx="3749039" cy="36576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914400"/>
            <a:ext cx="3749039" cy="365760"/>
          </a:xfrm>
          <a:prstGeom prst="rect">
            <a:avLst/>
          </a:prstGeom>
          <a:noFill/>
        </p:spPr>
        <p:txBody>
          <a:bodyPr wrap="square">
            <a:spAutoFit/>
          </a:bodyPr>
          <a:lstStyle/>
          <a:p>
            <a:pPr algn="ctr">
              <a:defRPr sz="1100" b="1">
                <a:solidFill>
                  <a:srgbClr val="FFFFFF"/>
                </a:solidFill>
                <a:latin typeface="Calibri"/>
              </a:defRPr>
            </a:pPr>
            <a:r>
              <a:t>🔴 IMMEDIATE (0-24 HOURS)</a:t>
            </a:r>
          </a:p>
        </p:txBody>
      </p:sp>
      <p:sp>
        <p:nvSpPr>
          <p:cNvPr id="7" name="Rectangle 6"/>
          <p:cNvSpPr/>
          <p:nvPr/>
        </p:nvSpPr>
        <p:spPr>
          <a:xfrm>
            <a:off x="274320" y="1280160"/>
            <a:ext cx="3749039" cy="347472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80160"/>
            <a:ext cx="3566160" cy="3474720"/>
          </a:xfrm>
          <a:prstGeom prst="rect">
            <a:avLst/>
          </a:prstGeom>
          <a:noFill/>
        </p:spPr>
        <p:txBody>
          <a:bodyPr wrap="square">
            <a:spAutoFit/>
          </a:bodyPr>
          <a:lstStyle/>
          <a:p>
            <a:pPr algn="l">
              <a:defRPr sz="850" b="0">
                <a:solidFill>
                  <a:srgbClr val="212121"/>
                </a:solidFill>
                <a:latin typeface="Calibri"/>
              </a:defRPr>
            </a:pPr>
            <a:r>
              <a:t>• STOP WORK all critical violations (PTW, Excavation, Diesel, Leaking Equipment)</a:t>
            </a:r>
            <a:br/>
            <a:r>
              <a:t>• Secure hazardous areas - hard barricade + fire watch + 15m exclusion zone</a:t>
            </a:r>
            <a:br/>
            <a:r>
              <a:t>• Remove all non-inducted personnel - 100% gate verification from next shift</a:t>
            </a:r>
            <a:br/>
            <a:r>
              <a:t>• Ground all leaking equipment - Tag DO NOT USE - remove keys</a:t>
            </a:r>
            <a:br/>
            <a:r>
              <a:t>• Issue formal NCR Level 1 &amp; 2 + contractual warning letter</a:t>
            </a:r>
            <a:br/>
            <a:r>
              <a:t>• Convene Emergency EHS Meeting - Subcontractor MD/PM within 24h</a:t>
            </a:r>
            <a:br/>
            <a:br/>
            <a:r>
              <a:t>PHOTO BOX: [Insert photo of stop work / secured area]</a:t>
            </a:r>
            <a:br/>
            <a:br/>
            <a:r>
              <a:t>DECISION REQUIRED: Approve Stop-Work Authority to EHS</a:t>
            </a:r>
            <a:br/>
            <a:br/>
            <a:r>
              <a:t>Standard: ISO 45001 Cl 8.1.2, SE EHS General Requirements</a:t>
            </a:r>
          </a:p>
        </p:txBody>
      </p:sp>
      <p:sp>
        <p:nvSpPr>
          <p:cNvPr id="9" name="Rectangle 8"/>
          <p:cNvSpPr/>
          <p:nvPr/>
        </p:nvSpPr>
        <p:spPr>
          <a:xfrm>
            <a:off x="4206240" y="914400"/>
            <a:ext cx="3749039" cy="36576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914400"/>
            <a:ext cx="3749039" cy="365760"/>
          </a:xfrm>
          <a:prstGeom prst="rect">
            <a:avLst/>
          </a:prstGeom>
          <a:noFill/>
        </p:spPr>
        <p:txBody>
          <a:bodyPr wrap="square">
            <a:spAutoFit/>
          </a:bodyPr>
          <a:lstStyle/>
          <a:p>
            <a:pPr algn="ctr">
              <a:defRPr sz="1100" b="1">
                <a:solidFill>
                  <a:srgbClr val="000000"/>
                </a:solidFill>
                <a:latin typeface="Calibri"/>
              </a:defRPr>
            </a:pPr>
            <a:r>
              <a:t>🟡 SHORT-TERM (1-7 DAYS)</a:t>
            </a:r>
          </a:p>
        </p:txBody>
      </p:sp>
      <p:sp>
        <p:nvSpPr>
          <p:cNvPr id="11" name="Rectangle 10"/>
          <p:cNvSpPr/>
          <p:nvPr/>
        </p:nvSpPr>
        <p:spPr>
          <a:xfrm>
            <a:off x="4206240" y="1280160"/>
            <a:ext cx="3749039" cy="347472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280160"/>
            <a:ext cx="3566160" cy="3474720"/>
          </a:xfrm>
          <a:prstGeom prst="rect">
            <a:avLst/>
          </a:prstGeom>
          <a:noFill/>
        </p:spPr>
        <p:txBody>
          <a:bodyPr wrap="square">
            <a:spAutoFit/>
          </a:bodyPr>
          <a:lstStyle/>
          <a:p>
            <a:pPr algn="l">
              <a:defRPr sz="850" b="0">
                <a:solidFill>
                  <a:srgbClr val="212121"/>
                </a:solidFill>
                <a:latin typeface="Calibri"/>
              </a:defRPr>
            </a:pPr>
            <a:r>
              <a:t>• Full PTW System Audit + Re-Training - all supervisors certified - 80% pass mark</a:t>
            </a:r>
            <a:br/>
            <a:r>
              <a:t>• Compliant diesel storage - 110% bund + impervious floor + fire extinguishers + signage</a:t>
            </a:r>
            <a:br/>
            <a:r>
              <a:t>• Reinstate traffic signage - retro-reflective + pedestrian segregation + flagmen + radar</a:t>
            </a:r>
            <a:br/>
            <a:r>
              <a:t>• Waste management system - color-coded skips + labeling + focal point + training</a:t>
            </a:r>
            <a:br/>
            <a:r>
              <a:t>• Excavation compliance - hard barricades + ladders every 7.5m + competent person checks</a:t>
            </a:r>
            <a:br/>
            <a:r>
              <a:t>• PPE Campaign + BBS Launch - daily checks + scorecard + incentives</a:t>
            </a:r>
            <a:br/>
            <a:r>
              <a:t>• EHS Directives Log - daily sign-off by Subcontractor PM + SE EHS Manager</a:t>
            </a:r>
            <a:br/>
            <a:br/>
            <a:r>
              <a:t>PHOTO BOX: [Insert after-correction photos - compliant state]</a:t>
            </a:r>
            <a:br/>
            <a:br/>
            <a:r>
              <a:t>DECISION: Approve $15k cost - back-charge to subcontractor</a:t>
            </a:r>
          </a:p>
        </p:txBody>
      </p:sp>
      <p:sp>
        <p:nvSpPr>
          <p:cNvPr id="13" name="Rectangle 12"/>
          <p:cNvSpPr/>
          <p:nvPr/>
        </p:nvSpPr>
        <p:spPr>
          <a:xfrm>
            <a:off x="8138160" y="914400"/>
            <a:ext cx="3749039" cy="36576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914400"/>
            <a:ext cx="3749039" cy="365760"/>
          </a:xfrm>
          <a:prstGeom prst="rect">
            <a:avLst/>
          </a:prstGeom>
          <a:noFill/>
        </p:spPr>
        <p:txBody>
          <a:bodyPr wrap="square">
            <a:spAutoFit/>
          </a:bodyPr>
          <a:lstStyle/>
          <a:p>
            <a:pPr algn="ctr">
              <a:defRPr sz="1100" b="1">
                <a:solidFill>
                  <a:srgbClr val="FFFFFF"/>
                </a:solidFill>
                <a:latin typeface="Calibri"/>
              </a:defRPr>
            </a:pPr>
            <a:r>
              <a:t>🟢 STRATEGIC (7-30 DAYS) - CULTURE FIX</a:t>
            </a:r>
          </a:p>
        </p:txBody>
      </p:sp>
      <p:sp>
        <p:nvSpPr>
          <p:cNvPr id="15" name="Rectangle 14"/>
          <p:cNvSpPr/>
          <p:nvPr/>
        </p:nvSpPr>
        <p:spPr>
          <a:xfrm>
            <a:off x="8138160" y="1280160"/>
            <a:ext cx="3749039" cy="347472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280160"/>
            <a:ext cx="3566160" cy="3474720"/>
          </a:xfrm>
          <a:prstGeom prst="rect">
            <a:avLst/>
          </a:prstGeom>
          <a:noFill/>
        </p:spPr>
        <p:txBody>
          <a:bodyPr wrap="square">
            <a:spAutoFit/>
          </a:bodyPr>
          <a:lstStyle/>
          <a:p>
            <a:pPr algn="l">
              <a:defRPr sz="850" b="0">
                <a:solidFill>
                  <a:srgbClr val="212121"/>
                </a:solidFill>
                <a:latin typeface="Calibri"/>
              </a:defRPr>
            </a:pPr>
            <a:r>
              <a:t>• Contractual Enforcement: Penalty matrix linked to EHS KPIs (TRIR, NCR closure, PTW compliance) - deduction from invoice</a:t>
            </a:r>
            <a:br/>
            <a:r>
              <a:t>• Leadership Accountability: Replace non-performing supervisors - CV + EHS competency + interview by SE</a:t>
            </a:r>
            <a:br/>
            <a:r>
              <a:t>• System Upgrade: QR/Biometric induction tracking + digital PTW system + equipment checklist app</a:t>
            </a:r>
            <a:br/>
            <a:r>
              <a:t>• KPI &amp; Scorecard: Weekly EHS compliance dashboard Red/Amber/Green to Top Management</a:t>
            </a:r>
            <a:br/>
            <a:r>
              <a:t>• Independent Audit: 3rd party EHS audit of subcontractor system - ISO 45001/14001 gap analysis</a:t>
            </a:r>
            <a:br/>
            <a:r>
              <a:t>• Zero Harm Commitment: Re-sign Life Saving Rules - Subcontractor Top Management visible commitment in townhall</a:t>
            </a:r>
            <a:br/>
            <a:r>
              <a:t>• Contingency: Prepare demobilization / replacement plan if no sustained improvement</a:t>
            </a:r>
            <a:br/>
            <a:br/>
            <a:r>
              <a:t>PHOTO BOX: [Insert dashboard / training photos]</a:t>
            </a:r>
            <a:br/>
            <a:br/>
            <a:r>
              <a:t>DECISION: Authorize partial termination if critical violations recur</a:t>
            </a:r>
          </a:p>
        </p:txBody>
      </p:sp>
      <p:sp>
        <p:nvSpPr>
          <p:cNvPr id="17" name="Rectangle 16"/>
          <p:cNvSpPr/>
          <p:nvPr/>
        </p:nvSpPr>
        <p:spPr>
          <a:xfrm>
            <a:off x="274320" y="5029200"/>
            <a:ext cx="11612880" cy="1554480"/>
          </a:xfrm>
          <a:prstGeom prst="rect">
            <a:avLst/>
          </a:prstGeom>
          <a:solidFill>
            <a:srgbClr val="F9F9FA"/>
          </a:solidFill>
          <a:ln w="25400">
            <a:solidFill>
              <a:srgbClr val="0E2F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5029200"/>
            <a:ext cx="11430000" cy="274320"/>
          </a:xfrm>
          <a:prstGeom prst="rect">
            <a:avLst/>
          </a:prstGeom>
          <a:noFill/>
        </p:spPr>
        <p:txBody>
          <a:bodyPr wrap="square">
            <a:spAutoFit/>
          </a:bodyPr>
          <a:lstStyle/>
          <a:p>
            <a:pPr algn="l">
              <a:defRPr sz="1200" b="1">
                <a:solidFill>
                  <a:srgbClr val="0E2F3E"/>
                </a:solidFill>
                <a:latin typeface="Calibri"/>
              </a:defRPr>
            </a:pPr>
            <a:r>
              <a:t>✅ MANAGEMENT DECISION MATRIX - REQUIRED TODAY</a:t>
            </a:r>
          </a:p>
        </p:txBody>
      </p:sp>
      <p:sp>
        <p:nvSpPr>
          <p:cNvPr id="19" name="TextBox 18"/>
          <p:cNvSpPr txBox="1"/>
          <p:nvPr/>
        </p:nvSpPr>
        <p:spPr>
          <a:xfrm>
            <a:off x="365760" y="5349240"/>
            <a:ext cx="11430000" cy="1097280"/>
          </a:xfrm>
          <a:prstGeom prst="rect">
            <a:avLst/>
          </a:prstGeom>
          <a:noFill/>
        </p:spPr>
        <p:txBody>
          <a:bodyPr wrap="square">
            <a:spAutoFit/>
          </a:bodyPr>
          <a:lstStyle/>
          <a:p>
            <a:pPr algn="l">
              <a:defRPr sz="850" b="0">
                <a:solidFill>
                  <a:srgbClr val="212121"/>
                </a:solidFill>
                <a:latin typeface="Calibri"/>
              </a:defRPr>
            </a:pPr>
            <a:r>
              <a:t>1. Approve IMMEDIATE Stop-Work Authority to EHS for Critical Violations [ ] Yes [ ] No</a:t>
            </a:r>
            <a:br/>
            <a:r>
              <a:t>2. Authorize Formal Contractual Warning &amp; Penalty Enforcement [ ] Yes [ ] No</a:t>
            </a:r>
            <a:br/>
            <a:r>
              <a:t>3. Mandate Subcontractor Top Management Presence On-Site within 48h [ ] Yes [ ] No</a:t>
            </a:r>
            <a:br/>
            <a:r>
              <a:t>4. Approve Budget for Additional EHS Controls (Bunded Storage, Signage, Barricades) - Back-charge to Subcontractor [ ] Yes [ ] No</a:t>
            </a:r>
            <a:br/>
            <a:r>
              <a:t>5. Endorse Zero Tolerance Policy: 3 Strikes = Removal - Communicate in Townhall [ ] Yes [ ] No</a:t>
            </a:r>
            <a:br/>
            <a:br/>
            <a:r>
              <a:t>Signature: _________________  Project Director  Date: _______  |  Signature: _________________  Construction Manager  Date: _______  |  Signature: _________________  EHS Manager  Date: _______</a:t>
            </a:r>
            <a:br/>
            <a:br/>
            <a:r>
              <a:t>Closing Statement: Zero Harm is Non-Negotiable. Cost of inaction far exceeds cost of intervention. Request Top Management endorsement.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