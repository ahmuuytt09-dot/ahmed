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2743200" cy="38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2743200" cy="365760"/>
          </a:xfrm>
          <a:prstGeom prst="rect">
            <a:avLst/>
          </a:prstGeom>
          <a:noFill/>
        </p:spPr>
        <p:txBody>
          <a:bodyPr wrap="square">
            <a:spAutoFit/>
          </a:bodyPr>
          <a:lstStyle/>
          <a:p>
            <a:pPr algn="l">
              <a:defRPr sz="1400" b="1">
                <a:solidFill>
                  <a:srgbClr val="00BFBF"/>
                </a:solidFill>
                <a:latin typeface="Calibri"/>
              </a:defRPr>
            </a:pPr>
            <a:r>
              <a:t>SIEMENS ENERGY</a:t>
            </a:r>
          </a:p>
        </p:txBody>
      </p:sp>
      <p:sp>
        <p:nvSpPr>
          <p:cNvPr id="5" name="TextBox 4"/>
          <p:cNvSpPr txBox="1"/>
          <p:nvPr/>
        </p:nvSpPr>
        <p:spPr>
          <a:xfrm>
            <a:off x="8686800" y="274320"/>
            <a:ext cx="3200400" cy="365760"/>
          </a:xfrm>
          <a:prstGeom prst="rect">
            <a:avLst/>
          </a:prstGeom>
          <a:noFill/>
        </p:spPr>
        <p:txBody>
          <a:bodyPr wrap="square">
            <a:spAutoFit/>
          </a:bodyPr>
          <a:lstStyle/>
          <a:p>
            <a:pPr algn="r">
              <a:defRPr sz="1000" b="1">
                <a:solidFill>
                  <a:srgbClr val="FFB900"/>
                </a:solidFill>
                <a:latin typeface="Calibri"/>
              </a:defRPr>
            </a:pPr>
            <a:r>
              <a:t>CONFIDENTIAL</a:t>
            </a:r>
          </a:p>
        </p:txBody>
      </p:sp>
      <p:sp>
        <p:nvSpPr>
          <p:cNvPr id="6" name="TextBox 5"/>
          <p:cNvSpPr txBox="1"/>
          <p:nvPr/>
        </p:nvSpPr>
        <p:spPr>
          <a:xfrm>
            <a:off x="731520" y="1280160"/>
            <a:ext cx="10515600" cy="1645920"/>
          </a:xfrm>
          <a:prstGeom prst="rect">
            <a:avLst/>
          </a:prstGeom>
          <a:noFill/>
        </p:spPr>
        <p:txBody>
          <a:bodyPr wrap="square">
            <a:spAutoFit/>
          </a:bodyPr>
          <a:lstStyle/>
          <a:p>
            <a:pPr algn="l">
              <a:defRPr sz="3200" b="1">
                <a:solidFill>
                  <a:srgbClr val="FFFFFF"/>
                </a:solidFill>
                <a:latin typeface="Calibri"/>
              </a:defRPr>
            </a:pPr>
            <a:r>
              <a:t>SUBCONTRACTOR EHS NON-COMPLIANCE &amp; SAFETY VIOLATION REPORT</a:t>
            </a:r>
          </a:p>
        </p:txBody>
      </p:sp>
      <p:sp>
        <p:nvSpPr>
          <p:cNvPr id="7" name="TextBox 6"/>
          <p:cNvSpPr txBox="1"/>
          <p:nvPr/>
        </p:nvSpPr>
        <p:spPr>
          <a:xfrm>
            <a:off x="731520" y="2926080"/>
            <a:ext cx="7315200" cy="548640"/>
          </a:xfrm>
          <a:prstGeom prst="rect">
            <a:avLst/>
          </a:prstGeom>
          <a:noFill/>
        </p:spPr>
        <p:txBody>
          <a:bodyPr wrap="square">
            <a:spAutoFit/>
          </a:bodyPr>
          <a:lstStyle/>
          <a:p>
            <a:pPr algn="l">
              <a:defRPr sz="1800" b="0">
                <a:solidFill>
                  <a:srgbClr val="00BFBF"/>
                </a:solidFill>
                <a:latin typeface="Calibri"/>
              </a:defRPr>
            </a:pPr>
            <a:r>
              <a:t>KAZ Power Plant Upgrade Project | Siemens Energy</a:t>
            </a:r>
          </a:p>
        </p:txBody>
      </p:sp>
      <p:sp>
        <p:nvSpPr>
          <p:cNvPr id="8" name="Rectangle 7"/>
          <p:cNvSpPr/>
          <p:nvPr/>
        </p:nvSpPr>
        <p:spPr>
          <a:xfrm>
            <a:off x="731520" y="3566160"/>
            <a:ext cx="10515600"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40480"/>
            <a:ext cx="5486400" cy="1828800"/>
          </a:xfrm>
          <a:prstGeom prst="rect">
            <a:avLst/>
          </a:prstGeom>
          <a:noFill/>
        </p:spPr>
        <p:txBody>
          <a:bodyPr wrap="square">
            <a:spAutoFit/>
          </a:bodyPr>
          <a:lstStyle/>
          <a:p>
            <a:pPr algn="l">
              <a:defRPr sz="1100" b="0">
                <a:solidFill>
                  <a:srgbClr val="E6E6E6"/>
                </a:solidFill>
                <a:latin typeface="Calibri"/>
              </a:defRPr>
            </a:pPr>
            <a:r>
              <a:t>Classification: CONFIDENTIAL – MANAGEMENT EYES ONLY</a:t>
            </a:r>
            <a:br/>
            <a:r>
              <a:t>Date: September 2026</a:t>
            </a:r>
            <a:br/>
            <a:r>
              <a:t>Prepared by: EHS Manager – Siemens Energy</a:t>
            </a:r>
            <a:br/>
            <a:r>
              <a:t>Ref: SE-EHS-NC-2026-001 | ISO 45001:2018 &amp; ISO 14001:2015 Aligned</a:t>
            </a:r>
          </a:p>
        </p:txBody>
      </p:sp>
      <p:sp>
        <p:nvSpPr>
          <p:cNvPr id="10" name="Rectangle 9"/>
          <p:cNvSpPr/>
          <p:nvPr/>
        </p:nvSpPr>
        <p:spPr>
          <a:xfrm>
            <a:off x="7772400" y="3840480"/>
            <a:ext cx="3657600" cy="2011680"/>
          </a:xfrm>
          <a:prstGeom prst="rect">
            <a:avLst/>
          </a:prstGeom>
          <a:solidFill>
            <a:srgbClr val="143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3931920"/>
            <a:ext cx="3291840" cy="274320"/>
          </a:xfrm>
          <a:prstGeom prst="rect">
            <a:avLst/>
          </a:prstGeom>
          <a:noFill/>
        </p:spPr>
        <p:txBody>
          <a:bodyPr wrap="square">
            <a:spAutoFit/>
          </a:bodyPr>
          <a:lstStyle/>
          <a:p>
            <a:pPr algn="l">
              <a:defRPr sz="1000" b="1">
                <a:solidFill>
                  <a:srgbClr val="00BFBF"/>
                </a:solidFill>
                <a:latin typeface="Calibri"/>
              </a:defRPr>
            </a:pPr>
            <a:r>
              <a:t>VISUAL &amp; DESIGN SUGGESTION</a:t>
            </a:r>
          </a:p>
        </p:txBody>
      </p:sp>
      <p:sp>
        <p:nvSpPr>
          <p:cNvPr id="12" name="TextBox 11"/>
          <p:cNvSpPr txBox="1"/>
          <p:nvPr/>
        </p:nvSpPr>
        <p:spPr>
          <a:xfrm>
            <a:off x="7955279" y="4206240"/>
            <a:ext cx="3291840" cy="1463040"/>
          </a:xfrm>
          <a:prstGeom prst="rect">
            <a:avLst/>
          </a:prstGeom>
          <a:noFill/>
        </p:spPr>
        <p:txBody>
          <a:bodyPr wrap="square">
            <a:spAutoFit/>
          </a:bodyPr>
          <a:lstStyle/>
          <a:p>
            <a:pPr algn="l">
              <a:defRPr sz="900" b="0">
                <a:solidFill>
                  <a:srgbClr val="E6E6E6"/>
                </a:solidFill>
                <a:latin typeface="Calibri"/>
              </a:defRPr>
            </a:pPr>
            <a:r>
              <a:t>Full-bleed Deep Petrol background (#0E2F3E). Top-right placeholder for Siemens Energy logo (White). Center-aligned title in WHITE Bold 32pt, subtitle TEAL LIGHT 18pt. Amber horizontal rule (3pt) below title. Bottom footer: Light Grey thin line with disclaimer. Use high-contrast white typography. No imagery to maintain authority.</a:t>
            </a:r>
          </a:p>
        </p:txBody>
      </p:sp>
      <p:sp>
        <p:nvSpPr>
          <p:cNvPr id="13" name="TextBox 12"/>
          <p:cNvSpPr txBox="1"/>
          <p:nvPr/>
        </p:nvSpPr>
        <p:spPr>
          <a:xfrm>
            <a:off x="731520" y="6217920"/>
            <a:ext cx="10058400" cy="274320"/>
          </a:xfrm>
          <a:prstGeom prst="rect">
            <a:avLst/>
          </a:prstGeom>
          <a:noFill/>
        </p:spPr>
        <p:txBody>
          <a:bodyPr wrap="square">
            <a:spAutoFit/>
          </a:bodyPr>
          <a:lstStyle/>
          <a:p>
            <a:pPr algn="ctr">
              <a:defRPr sz="900" b="1">
                <a:solidFill>
                  <a:srgbClr val="FFB900"/>
                </a:solidFill>
                <a:latin typeface="Calibri"/>
              </a:defRPr>
            </a:pPr>
            <a:r>
              <a:t>Zero Harm | Safety is Non-Negotiable | Prepared for Top Management Review &amp;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01</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Unauthorized Work – Execution Without Approved Permit to Work (PTW)</a:t>
            </a:r>
          </a:p>
        </p:txBody>
      </p:sp>
      <p:sp>
        <p:nvSpPr>
          <p:cNvPr id="7" name="Rectangle 6"/>
          <p:cNvSpPr/>
          <p:nvPr/>
        </p:nvSpPr>
        <p:spPr>
          <a:xfrm>
            <a:off x="9326880" y="182880"/>
            <a:ext cx="25603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FFFFFF"/>
                </a:solidFill>
                <a:latin typeface="Calibri"/>
              </a:defRPr>
            </a:pPr>
            <a:r>
              <a:t>RISK: CRITICAL</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Subcontractor workforce observed executing high-risk activities (excavation &amp; mechanical works) without a valid, approved Permit to Work.</a:t>
            </a:r>
          </a:p>
          <a:p>
            <a:pPr>
              <a:spcAft>
                <a:spcPts val="800"/>
              </a:spcAft>
              <a:defRPr sz="1100">
                <a:solidFill>
                  <a:srgbClr val="FFFFFF"/>
                </a:solidFill>
                <a:latin typeface="Calibri"/>
              </a:defRPr>
            </a:pPr>
            <a:r>
              <a:t>• Direct violation of Siemens Energy Instruction: EHS General Requirements for Contractors (Sec 5.3 PTW) and KAZ Project EHS Plan Sec 7.2.</a:t>
            </a:r>
          </a:p>
          <a:p>
            <a:pPr>
              <a:spcAft>
                <a:spcPts val="800"/>
              </a:spcAft>
              <a:defRPr sz="1100">
                <a:solidFill>
                  <a:srgbClr val="FFFFFF"/>
                </a:solidFill>
                <a:latin typeface="Calibri"/>
              </a:defRPr>
            </a:pPr>
            <a:r>
              <a:t>• No evidence of Task Risk Assessment (TRA) review, energy isolation verification, or SIMOPS coordination.</a:t>
            </a:r>
          </a:p>
          <a:p>
            <a:pPr>
              <a:spcAft>
                <a:spcPts val="800"/>
              </a:spcAft>
              <a:defRPr sz="1100">
                <a:solidFill>
                  <a:srgbClr val="FFFFFF"/>
                </a:solidFill>
                <a:latin typeface="Calibri"/>
              </a:defRPr>
            </a:pPr>
            <a:r>
              <a:t>• PTW logbook not maintained; permits not displayed at work front as required.</a:t>
            </a:r>
          </a:p>
        </p:txBody>
      </p:sp>
      <p:sp>
        <p:nvSpPr>
          <p:cNvPr id="12" name="Rectangle 11"/>
          <p:cNvSpPr/>
          <p:nvPr/>
        </p:nvSpPr>
        <p:spPr>
          <a:xfrm>
            <a:off x="4297680" y="1280160"/>
            <a:ext cx="3566160" cy="1737360"/>
          </a:xfrm>
          <a:prstGeom prst="rect">
            <a:avLst/>
          </a:prstGeom>
          <a:solidFill>
            <a:srgbClr val="1A1A1A"/>
          </a:solidFill>
          <a:ln w="254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E30613"/>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Potential for fatality, uncontrolled release of hazardous energy, fire/explosion, and simultaneous operations (SIMOPS) conflict. Represents a total loss of control barrier – a leading indicator of major accident potential. Breach of ISO 45001 Cl. 8.1.2.</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IMMEDIATE STOP WORK order for all activities without PTW – enforce until full compliance verified.</a:t>
            </a:r>
          </a:p>
          <a:p>
            <a:pPr>
              <a:spcAft>
                <a:spcPts val="500"/>
              </a:spcAft>
              <a:defRPr sz="1050">
                <a:solidFill>
                  <a:srgbClr val="082430"/>
                </a:solidFill>
                <a:latin typeface="Calibri"/>
              </a:defRPr>
            </a:pPr>
            <a:r>
              <a:t>2. Mandatory re-training of all subcontractor supervision on Siemens Energy PTW System within 24 hours.</a:t>
            </a:r>
          </a:p>
          <a:p>
            <a:pPr>
              <a:spcAft>
                <a:spcPts val="500"/>
              </a:spcAft>
              <a:defRPr sz="1050">
                <a:solidFill>
                  <a:srgbClr val="082430"/>
                </a:solidFill>
                <a:latin typeface="Calibri"/>
              </a:defRPr>
            </a:pPr>
            <a:r>
              <a:t>3. Initiate formal NCR and contractual warning letter – Level 1.</a:t>
            </a:r>
          </a:p>
          <a:p>
            <a:pPr>
              <a:spcAft>
                <a:spcPts val="500"/>
              </a:spcAft>
              <a:defRPr sz="1050">
                <a:solidFill>
                  <a:srgbClr val="082430"/>
                </a:solidFill>
                <a:latin typeface="Calibri"/>
              </a:defRPr>
            </a:pPr>
            <a:r>
              <a:t>4. EHS to conduct full PTW system audit and spot-checks daily for next 14 days.</a:t>
            </a:r>
          </a:p>
          <a:p>
            <a:pPr>
              <a:spcAft>
                <a:spcPts val="500"/>
              </a:spcAft>
              <a:defRPr sz="1050">
                <a:solidFill>
                  <a:srgbClr val="082430"/>
                </a:solidFill>
                <a:latin typeface="Calibri"/>
              </a:defRPr>
            </a:pPr>
            <a:r>
              <a:t>5. Supervisor accountability: removal of non-compliant supervisors if recurrence observed.</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01.1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Layout: Left vertical accent bar in RED_CRITICAL (0.2 inch). Top header bar: DEEP_PETROL with TEAL_ACCENT line. Title in WHITE 24pt Bold. 3-column structure: Left = Non-Compliance Details (WHITE on dark), Center = Risk Level badge (RED background, WHITE text CRITICAL, icon ⚠), Right = Corrective Action (LIGHT_GREY background box with DARK_PETROL text). Use icons: document with X for PTW.</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01 | SE-EHS-NC-2026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02</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Site Access &amp; Onboarding – Personnel Without EHS Site Induction</a:t>
            </a:r>
          </a:p>
        </p:txBody>
      </p:sp>
      <p:sp>
        <p:nvSpPr>
          <p:cNvPr id="7" name="Rectangle 6"/>
          <p:cNvSpPr/>
          <p:nvPr/>
        </p:nvSpPr>
        <p:spPr>
          <a:xfrm>
            <a:off x="9326880" y="182880"/>
            <a:ext cx="25603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FFFFFF"/>
                </a:solidFill>
                <a:latin typeface="Calibri"/>
              </a:defRPr>
            </a:pPr>
            <a:r>
              <a:t>RISK: CRITICAL</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Multiple subcontractor personnel found on site and actively working without completing mandatory Siemens Energy EHS Site Induction.</a:t>
            </a:r>
          </a:p>
          <a:p>
            <a:pPr>
              <a:spcAft>
                <a:spcPts val="800"/>
              </a:spcAft>
              <a:defRPr sz="1100">
                <a:solidFill>
                  <a:srgbClr val="FFFFFF"/>
                </a:solidFill>
                <a:latin typeface="Calibri"/>
              </a:defRPr>
            </a:pPr>
            <a:r>
              <a:t>• No induction cards/stickers verified; onboarding register incomplete and not cross-checked at gate.</a:t>
            </a:r>
          </a:p>
          <a:p>
            <a:pPr>
              <a:spcAft>
                <a:spcPts val="800"/>
              </a:spcAft>
              <a:defRPr sz="1100">
                <a:solidFill>
                  <a:srgbClr val="FFFFFF"/>
                </a:solidFill>
                <a:latin typeface="Calibri"/>
              </a:defRPr>
            </a:pPr>
            <a:r>
              <a:t>• Violation of Project EHS Plan Sec 6.1 – Competency &amp; Training and local regulatory requirement.</a:t>
            </a:r>
          </a:p>
          <a:p>
            <a:pPr>
              <a:spcAft>
                <a:spcPts val="800"/>
              </a:spcAft>
              <a:defRPr sz="1100">
                <a:solidFill>
                  <a:srgbClr val="FFFFFF"/>
                </a:solidFill>
                <a:latin typeface="Calibri"/>
              </a:defRPr>
            </a:pPr>
            <a:r>
              <a:t>• Indicates systemic failure in access control and subcontractor self-verification process.</a:t>
            </a:r>
          </a:p>
        </p:txBody>
      </p:sp>
      <p:sp>
        <p:nvSpPr>
          <p:cNvPr id="12" name="Rectangle 11"/>
          <p:cNvSpPr/>
          <p:nvPr/>
        </p:nvSpPr>
        <p:spPr>
          <a:xfrm>
            <a:off x="4297680" y="1280160"/>
            <a:ext cx="3566160" cy="1737360"/>
          </a:xfrm>
          <a:prstGeom prst="rect">
            <a:avLst/>
          </a:prstGeom>
          <a:solidFill>
            <a:srgbClr val="1A1A1A"/>
          </a:solidFill>
          <a:ln w="254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E30613"/>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Workers unaware of site-specific hazards, emergency assembly points, muster procedures, and life-saving rules. High probability of unsafe acts, delayed emergency response, and regulatory non-compliance leading to project stoppage.</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Immediate removal of all non-inducted personnel from site.</a:t>
            </a:r>
          </a:p>
          <a:p>
            <a:pPr>
              <a:spcAft>
                <a:spcPts val="500"/>
              </a:spcAft>
              <a:defRPr sz="1050">
                <a:solidFill>
                  <a:srgbClr val="082430"/>
                </a:solidFill>
                <a:latin typeface="Calibri"/>
              </a:defRPr>
            </a:pPr>
            <a:r>
              <a:t>2. Implement 100% gate check – Security + EHS joint verification – no induction, no entry.</a:t>
            </a:r>
          </a:p>
          <a:p>
            <a:pPr>
              <a:spcAft>
                <a:spcPts val="500"/>
              </a:spcAft>
              <a:defRPr sz="1050">
                <a:solidFill>
                  <a:srgbClr val="082430"/>
                </a:solidFill>
                <a:latin typeface="Calibri"/>
              </a:defRPr>
            </a:pPr>
            <a:r>
              <a:t>3. Subcontractor to submit full manpower list vs induction records within 12 hours – gap closure plan.</a:t>
            </a:r>
          </a:p>
          <a:p>
            <a:pPr>
              <a:spcAft>
                <a:spcPts val="500"/>
              </a:spcAft>
              <a:defRPr sz="1050">
                <a:solidFill>
                  <a:srgbClr val="082430"/>
                </a:solidFill>
                <a:latin typeface="Calibri"/>
              </a:defRPr>
            </a:pPr>
            <a:r>
              <a:t>4. Introduce biometric/QR-based induction tracking system.</a:t>
            </a:r>
          </a:p>
          <a:p>
            <a:pPr>
              <a:spcAft>
                <a:spcPts val="500"/>
              </a:spcAft>
              <a:defRPr sz="1050">
                <a:solidFill>
                  <a:srgbClr val="082430"/>
                </a:solidFill>
                <a:latin typeface="Calibri"/>
              </a:defRPr>
            </a:pPr>
            <a:r>
              <a:t>5. Formal warning and cost back-charge for EHS re-induction sessions.</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02.1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Use ID badge / Access Denied icon. Risk badge RED_CRITICAL. Non-compliance box with AMBER left border (4pt) to highlight systemic failure. Add small footer note: 'Zero Tolerance: No Induction = No Work – Life Saving Rule #1'. Background DEEP_PETROL, content cards in slightly lighter #143D4E.</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02 | SE-EHS-NC-2026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03</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Initial PPE Non-Compliance – Failure to Wear Mandatory PPE</a:t>
            </a:r>
          </a:p>
        </p:txBody>
      </p:sp>
      <p:sp>
        <p:nvSpPr>
          <p:cNvPr id="7" name="Rectangle 6"/>
          <p:cNvSpPr/>
          <p:nvPr/>
        </p:nvSpPr>
        <p:spPr>
          <a:xfrm>
            <a:off x="9326880" y="182880"/>
            <a:ext cx="2560320" cy="64008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082430"/>
                </a:solidFill>
                <a:latin typeface="Calibri"/>
              </a:defRPr>
            </a:pPr>
            <a:r>
              <a:t>RISK: HIGH</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Direct observation: Workers operating without mandatory PPE – safety helmets not chin-strapped, safety glasses, gloves, and high-visibility vests.</a:t>
            </a:r>
          </a:p>
          <a:p>
            <a:pPr>
              <a:spcAft>
                <a:spcPts val="800"/>
              </a:spcAft>
              <a:defRPr sz="1100">
                <a:solidFill>
                  <a:srgbClr val="FFFFFF"/>
                </a:solidFill>
                <a:latin typeface="Calibri"/>
              </a:defRPr>
            </a:pPr>
            <a:r>
              <a:t>• Violation of Siemens Energy Life-Saving Rules and PPE Standard (EN/ANSI compliant) as per EHS Principles.</a:t>
            </a:r>
          </a:p>
          <a:p>
            <a:pPr>
              <a:spcAft>
                <a:spcPts val="800"/>
              </a:spcAft>
              <a:defRPr sz="1100">
                <a:solidFill>
                  <a:srgbClr val="FFFFFF"/>
                </a:solidFill>
                <a:latin typeface="Calibri"/>
              </a:defRPr>
            </a:pPr>
            <a:r>
              <a:t>• Subcontractor supervision present on site but failing to enforce.</a:t>
            </a:r>
          </a:p>
          <a:p>
            <a:pPr>
              <a:spcAft>
                <a:spcPts val="800"/>
              </a:spcAft>
              <a:defRPr sz="1100">
                <a:solidFill>
                  <a:srgbClr val="FFFFFF"/>
                </a:solidFill>
                <a:latin typeface="Calibri"/>
              </a:defRPr>
            </a:pPr>
            <a:r>
              <a:t>• PPE issued but not worn – behavioral and supervisory failure, not availability.</a:t>
            </a:r>
          </a:p>
        </p:txBody>
      </p:sp>
      <p:sp>
        <p:nvSpPr>
          <p:cNvPr id="12" name="Rectangle 11"/>
          <p:cNvSpPr/>
          <p:nvPr/>
        </p:nvSpPr>
        <p:spPr>
          <a:xfrm>
            <a:off x="4297680" y="1280160"/>
            <a:ext cx="3566160" cy="1737360"/>
          </a:xfrm>
          <a:prstGeom prst="rect">
            <a:avLst/>
          </a:prstGeom>
          <a:solidFill>
            <a:srgbClr val="2B2000"/>
          </a:solidFill>
          <a:ln w="25400">
            <a:solidFill>
              <a:srgbClr val="FF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FFB900"/>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Immediate risk of head injury, eye injury, hand lacerations, and struck-by incidents. Demonstrates weak safety culture and supervisory oversight. Repeat exposure significantly increases LTIFR/TRIR.</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On-the-spot correction and toolbox talk – documented with photographs.</a:t>
            </a:r>
          </a:p>
          <a:p>
            <a:pPr>
              <a:spcAft>
                <a:spcPts val="500"/>
              </a:spcAft>
              <a:defRPr sz="1050">
                <a:solidFill>
                  <a:srgbClr val="082430"/>
                </a:solidFill>
                <a:latin typeface="Calibri"/>
              </a:defRPr>
            </a:pPr>
            <a:r>
              <a:t>2. Issue Safety Observation Cards and formal EHS violation notice.</a:t>
            </a:r>
          </a:p>
          <a:p>
            <a:pPr>
              <a:spcAft>
                <a:spcPts val="500"/>
              </a:spcAft>
              <a:defRPr sz="1050">
                <a:solidFill>
                  <a:srgbClr val="082430"/>
                </a:solidFill>
                <a:latin typeface="Calibri"/>
              </a:defRPr>
            </a:pPr>
            <a:r>
              <a:t>3. Mandatory PPE compliance campaign – daily PPE checks by HSE Officers.</a:t>
            </a:r>
          </a:p>
          <a:p>
            <a:pPr>
              <a:spcAft>
                <a:spcPts val="500"/>
              </a:spcAft>
              <a:defRPr sz="1050">
                <a:solidFill>
                  <a:srgbClr val="082430"/>
                </a:solidFill>
                <a:latin typeface="Calibri"/>
              </a:defRPr>
            </a:pPr>
            <a:r>
              <a:t>4. Link PPE compliance to subcontractor KPI and payment milestone.</a:t>
            </a:r>
          </a:p>
          <a:p>
            <a:pPr>
              <a:spcAft>
                <a:spcPts val="500"/>
              </a:spcAft>
              <a:defRPr sz="1050">
                <a:solidFill>
                  <a:srgbClr val="082430"/>
                </a:solidFill>
                <a:latin typeface="Calibri"/>
              </a:defRPr>
            </a:pPr>
            <a:r>
              <a:t>5. Supervisor accountability briefing – 3 strikes removal policy communicated.</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03.1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Grid of PPE icons (helmet, glasses, gloves) with red X overlay for missing items. Risk badge AMBER with DARK_PETROL text (HIGH). Use split layout: left text, right photo placeholder with caption 'Insert Site Photo Evidence – Fig 3.1'. Highlight box: AMBER #FFB900 for attention.</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03 | SE-EHS-NC-2026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04</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Excavation Safety – Inadequate Hard Barricades &amp; Physical Protection</a:t>
            </a:r>
          </a:p>
        </p:txBody>
      </p:sp>
      <p:sp>
        <p:nvSpPr>
          <p:cNvPr id="7" name="Rectangle 6"/>
          <p:cNvSpPr/>
          <p:nvPr/>
        </p:nvSpPr>
        <p:spPr>
          <a:xfrm>
            <a:off x="9326880" y="182880"/>
            <a:ext cx="25603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FFFFFF"/>
                </a:solidFill>
                <a:latin typeface="Calibri"/>
              </a:defRPr>
            </a:pPr>
            <a:r>
              <a:t>RISK: CRITICAL</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Excavation zones &gt;1.2m depth observed without hard barricades; only loose warning tape used.</a:t>
            </a:r>
          </a:p>
          <a:p>
            <a:pPr>
              <a:spcAft>
                <a:spcPts val="800"/>
              </a:spcAft>
              <a:defRPr sz="1100">
                <a:solidFill>
                  <a:srgbClr val="FFFFFF"/>
                </a:solidFill>
                <a:latin typeface="Calibri"/>
              </a:defRPr>
            </a:pPr>
            <a:r>
              <a:t>• No edge protection, no safe access/egress (ladders), spoil pile within 1m of excavation edge.</a:t>
            </a:r>
          </a:p>
          <a:p>
            <a:pPr>
              <a:spcAft>
                <a:spcPts val="800"/>
              </a:spcAft>
              <a:defRPr sz="1100">
                <a:solidFill>
                  <a:srgbClr val="FFFFFF"/>
                </a:solidFill>
                <a:latin typeface="Calibri"/>
              </a:defRPr>
            </a:pPr>
            <a:r>
              <a:t>• Non-compliance with OSHA 29 CFR 1926 Subpart P and Siemens Energy Excavation Safety Standard.</a:t>
            </a:r>
          </a:p>
          <a:p>
            <a:pPr>
              <a:spcAft>
                <a:spcPts val="800"/>
              </a:spcAft>
              <a:defRPr sz="1100">
                <a:solidFill>
                  <a:srgbClr val="FFFFFF"/>
                </a:solidFill>
                <a:latin typeface="Calibri"/>
              </a:defRPr>
            </a:pPr>
            <a:r>
              <a:t>• Night-time visibility absent – no reflective markers or lighting.</a:t>
            </a:r>
          </a:p>
        </p:txBody>
      </p:sp>
      <p:sp>
        <p:nvSpPr>
          <p:cNvPr id="12" name="Rectangle 11"/>
          <p:cNvSpPr/>
          <p:nvPr/>
        </p:nvSpPr>
        <p:spPr>
          <a:xfrm>
            <a:off x="4297680" y="1280160"/>
            <a:ext cx="3566160" cy="1737360"/>
          </a:xfrm>
          <a:prstGeom prst="rect">
            <a:avLst/>
          </a:prstGeom>
          <a:solidFill>
            <a:srgbClr val="1A1A1A"/>
          </a:solidFill>
          <a:ln w="254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E30613"/>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High potential for fatal fall into excavation, cave-in engulfment, and personnel/vehicle fall. Excavation is classified as High-Risk activity with fatality history in industry. Regulatory violation may trigger authority intervention.</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IMMEDIATE hard barricading with scaffold tubes / concrete barriers around all open excavations.</a:t>
            </a:r>
          </a:p>
          <a:p>
            <a:pPr>
              <a:spcAft>
                <a:spcPts val="500"/>
              </a:spcAft>
              <a:defRPr sz="1050">
                <a:solidFill>
                  <a:srgbClr val="082430"/>
                </a:solidFill>
                <a:latin typeface="Calibri"/>
              </a:defRPr>
            </a:pPr>
            <a:r>
              <a:t>2. Provide compliant access ladders every 7.5m and keep spoil 1.5m+ away.</a:t>
            </a:r>
          </a:p>
          <a:p>
            <a:pPr>
              <a:spcAft>
                <a:spcPts val="500"/>
              </a:spcAft>
              <a:defRPr sz="1050">
                <a:solidFill>
                  <a:srgbClr val="082430"/>
                </a:solidFill>
                <a:latin typeface="Calibri"/>
              </a:defRPr>
            </a:pPr>
            <a:r>
              <a:t>3. Excavation permit re-validation with geotechnical check.</a:t>
            </a:r>
          </a:p>
          <a:p>
            <a:pPr>
              <a:spcAft>
                <a:spcPts val="500"/>
              </a:spcAft>
              <a:defRPr sz="1050">
                <a:solidFill>
                  <a:srgbClr val="082430"/>
                </a:solidFill>
                <a:latin typeface="Calibri"/>
              </a:defRPr>
            </a:pPr>
            <a:r>
              <a:t>4. Install reflective delineators and illumination for low-light hours.</a:t>
            </a:r>
          </a:p>
          <a:p>
            <a:pPr>
              <a:spcAft>
                <a:spcPts val="500"/>
              </a:spcAft>
              <a:defRPr sz="1050">
                <a:solidFill>
                  <a:srgbClr val="082430"/>
                </a:solidFill>
                <a:latin typeface="Calibri"/>
              </a:defRPr>
            </a:pPr>
            <a:r>
              <a:t>5. Competent person inspection checklist to be submitted daily before start of work.</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04.1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Diagram-style slide: Show cross-section of excavation with red highlights for missing barriers. Use RED_CRITICAL callout arrows. Risk badge RED. Include standard reference: 'Required: Hard Barricade per SE-GEN-EHS-007'. Photo placeholder box with red border.</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04 | SE-EHS-NC-2026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05</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Directives Non-Compliance – Failure to Follow Site EHS Instructions</a:t>
            </a:r>
          </a:p>
        </p:txBody>
      </p:sp>
      <p:sp>
        <p:nvSpPr>
          <p:cNvPr id="7" name="Rectangle 6"/>
          <p:cNvSpPr/>
          <p:nvPr/>
        </p:nvSpPr>
        <p:spPr>
          <a:xfrm>
            <a:off x="9326880" y="182880"/>
            <a:ext cx="2560320" cy="64008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082430"/>
                </a:solidFill>
                <a:latin typeface="Calibri"/>
              </a:defRPr>
            </a:pPr>
            <a:r>
              <a:t>RISK: HIGH</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Repeated failure to comply with verbal and written EHS instructions issued by Siemens Energy EHS team.</a:t>
            </a:r>
          </a:p>
          <a:p>
            <a:pPr>
              <a:spcAft>
                <a:spcPts val="800"/>
              </a:spcAft>
              <a:defRPr sz="1100">
                <a:solidFill>
                  <a:srgbClr val="FFFFFF"/>
                </a:solidFill>
                <a:latin typeface="Calibri"/>
              </a:defRPr>
            </a:pPr>
            <a:r>
              <a:t>• Toolbox Talks (TBT) not conducted, or conducted without documentation/attendance.</a:t>
            </a:r>
          </a:p>
          <a:p>
            <a:pPr>
              <a:spcAft>
                <a:spcPts val="800"/>
              </a:spcAft>
              <a:defRPr sz="1100">
                <a:solidFill>
                  <a:srgbClr val="FFFFFF"/>
                </a:solidFill>
                <a:latin typeface="Calibri"/>
              </a:defRPr>
            </a:pPr>
            <a:r>
              <a:t>• Previous NCRs and observation reports closed without evidence.</a:t>
            </a:r>
          </a:p>
          <a:p>
            <a:pPr>
              <a:spcAft>
                <a:spcPts val="800"/>
              </a:spcAft>
              <a:defRPr sz="1100">
                <a:solidFill>
                  <a:srgbClr val="FFFFFF"/>
                </a:solidFill>
                <a:latin typeface="Calibri"/>
              </a:defRPr>
            </a:pPr>
            <a:r>
              <a:t>• Demonstrates willful disregard for Project EHS Management System (ISO 45001 Cl. 7.3 &amp; 8.1).</a:t>
            </a:r>
          </a:p>
        </p:txBody>
      </p:sp>
      <p:sp>
        <p:nvSpPr>
          <p:cNvPr id="12" name="Rectangle 11"/>
          <p:cNvSpPr/>
          <p:nvPr/>
        </p:nvSpPr>
        <p:spPr>
          <a:xfrm>
            <a:off x="4297680" y="1280160"/>
            <a:ext cx="3566160" cy="1737360"/>
          </a:xfrm>
          <a:prstGeom prst="rect">
            <a:avLst/>
          </a:prstGeom>
          <a:solidFill>
            <a:srgbClr val="2B2000"/>
          </a:solidFill>
          <a:ln w="25400">
            <a:solidFill>
              <a:srgbClr val="FF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FFB900"/>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Erosion of EHS authority and safety culture. Creates precedent for further violations. If directives are optional, all critical controls (LOTO, Working at Height) are at risk of failure. Systemic cultural failure.</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Escalate to Project Management – formal letter to Subcontractor Top Management.</a:t>
            </a:r>
          </a:p>
          <a:p>
            <a:pPr>
              <a:spcAft>
                <a:spcPts val="500"/>
              </a:spcAft>
              <a:defRPr sz="1050">
                <a:solidFill>
                  <a:srgbClr val="082430"/>
                </a:solidFill>
                <a:latin typeface="Calibri"/>
              </a:defRPr>
            </a:pPr>
            <a:r>
              <a:t>2. Implement Daily EHS Directives Log – sign-off by Subcontractor PM and SE EHS Manager.</a:t>
            </a:r>
          </a:p>
          <a:p>
            <a:pPr>
              <a:spcAft>
                <a:spcPts val="500"/>
              </a:spcAft>
              <a:defRPr sz="1050">
                <a:solidFill>
                  <a:srgbClr val="082430"/>
                </a:solidFill>
                <a:latin typeface="Calibri"/>
              </a:defRPr>
            </a:pPr>
            <a:r>
              <a:t>3. Hold EHS Leadership stand-down meeting with all subcontractor foremen – documented commitment.</a:t>
            </a:r>
          </a:p>
          <a:p>
            <a:pPr>
              <a:spcAft>
                <a:spcPts val="500"/>
              </a:spcAft>
              <a:defRPr sz="1050">
                <a:solidFill>
                  <a:srgbClr val="082430"/>
                </a:solidFill>
                <a:latin typeface="Calibri"/>
              </a:defRPr>
            </a:pPr>
            <a:r>
              <a:t>4. Link non-compliance to contractual penalty clause.</a:t>
            </a:r>
          </a:p>
          <a:p>
            <a:pPr>
              <a:spcAft>
                <a:spcPts val="500"/>
              </a:spcAft>
              <a:defRPr sz="1050">
                <a:solidFill>
                  <a:srgbClr val="082430"/>
                </a:solidFill>
                <a:latin typeface="Calibri"/>
              </a:defRPr>
            </a:pPr>
            <a:r>
              <a:t>5. Weekly EHS compliance scorecard to be reviewed in project management meeting.</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05.1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Timeline of ignored directives: show 3-4 dated instruction vs non-compliance icons. Use AMBER warning icons. Title bar with 'Culture of Non-Compliance' in RED. Design: White text on DEEP_PETROL, central AMBER exclamation triangle.</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05 | SE-EHS-NC-2026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06</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Site Traffic &amp; Signage – Poor, Damaged, or Missing Safety Signage</a:t>
            </a:r>
          </a:p>
        </p:txBody>
      </p:sp>
      <p:sp>
        <p:nvSpPr>
          <p:cNvPr id="7" name="Rectangle 6"/>
          <p:cNvSpPr/>
          <p:nvPr/>
        </p:nvSpPr>
        <p:spPr>
          <a:xfrm>
            <a:off x="9326880" y="182880"/>
            <a:ext cx="2560320" cy="64008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082430"/>
                </a:solidFill>
                <a:latin typeface="Calibri"/>
              </a:defRPr>
            </a:pPr>
            <a:r>
              <a:t>RISK: HIGH</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Speed limit signs missing/damaged; no designated parking signage; pedestrian walkways not marked.</a:t>
            </a:r>
          </a:p>
          <a:p>
            <a:pPr>
              <a:spcAft>
                <a:spcPts val="800"/>
              </a:spcAft>
              <a:defRPr sz="1100">
                <a:solidFill>
                  <a:srgbClr val="FFFFFF"/>
                </a:solidFill>
                <a:latin typeface="Calibri"/>
              </a:defRPr>
            </a:pPr>
            <a:r>
              <a:t>• Vehicle-pedestrian interface unmanaged – no flagmen at high-risk intersections.</a:t>
            </a:r>
          </a:p>
          <a:p>
            <a:pPr>
              <a:spcAft>
                <a:spcPts val="800"/>
              </a:spcAft>
              <a:defRPr sz="1100">
                <a:solidFill>
                  <a:srgbClr val="FFFFFF"/>
                </a:solidFill>
                <a:latin typeface="Calibri"/>
              </a:defRPr>
            </a:pPr>
            <a:r>
              <a:t>• Violation of Project Traffic Management Plan and ISO 39001 Road Traffic Safety.</a:t>
            </a:r>
          </a:p>
          <a:p>
            <a:pPr>
              <a:spcAft>
                <a:spcPts val="800"/>
              </a:spcAft>
              <a:defRPr sz="1100">
                <a:solidFill>
                  <a:srgbClr val="FFFFFF"/>
                </a:solidFill>
                <a:latin typeface="Calibri"/>
              </a:defRPr>
            </a:pPr>
            <a:r>
              <a:t>• Observed speeding &gt;30 km/h in construction zone (limit 15 km/h).</a:t>
            </a:r>
          </a:p>
        </p:txBody>
      </p:sp>
      <p:sp>
        <p:nvSpPr>
          <p:cNvPr id="12" name="Rectangle 11"/>
          <p:cNvSpPr/>
          <p:nvPr/>
        </p:nvSpPr>
        <p:spPr>
          <a:xfrm>
            <a:off x="4297680" y="1280160"/>
            <a:ext cx="3566160" cy="1737360"/>
          </a:xfrm>
          <a:prstGeom prst="rect">
            <a:avLst/>
          </a:prstGeom>
          <a:solidFill>
            <a:srgbClr val="2B2000"/>
          </a:solidFill>
          <a:ln w="25400">
            <a:solidFill>
              <a:srgbClr val="FF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FFB900"/>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High risk of vehicle-pedestrian collision, equipment damage, and fatality. Poor signage indicates lack of site planning and increases liability in case of incident. Emergency vehicle access may be impeded.</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Immediate reinstatement of all traffic signs per approved Traffic Management Plan – retro-reflective grade.</a:t>
            </a:r>
          </a:p>
          <a:p>
            <a:pPr>
              <a:spcAft>
                <a:spcPts val="500"/>
              </a:spcAft>
              <a:defRPr sz="1050">
                <a:solidFill>
                  <a:srgbClr val="082430"/>
                </a:solidFill>
                <a:latin typeface="Calibri"/>
              </a:defRPr>
            </a:pPr>
            <a:r>
              <a:t>2. Establish dedicated pedestrian routes with hard segregation (Jersey barriers).</a:t>
            </a:r>
          </a:p>
          <a:p>
            <a:pPr>
              <a:spcAft>
                <a:spcPts val="500"/>
              </a:spcAft>
              <a:defRPr sz="1050">
                <a:solidFill>
                  <a:srgbClr val="082430"/>
                </a:solidFill>
                <a:latin typeface="Calibri"/>
              </a:defRPr>
            </a:pPr>
            <a:r>
              <a:t>3. Deploy trained flagmen and speed monitoring – radar gun checks.</a:t>
            </a:r>
          </a:p>
          <a:p>
            <a:pPr>
              <a:spcAft>
                <a:spcPts val="500"/>
              </a:spcAft>
              <a:defRPr sz="1050">
                <a:solidFill>
                  <a:srgbClr val="082430"/>
                </a:solidFill>
                <a:latin typeface="Calibri"/>
              </a:defRPr>
            </a:pPr>
            <a:r>
              <a:t>4. Conduct traffic safety campaign and driver re-induction.</a:t>
            </a:r>
          </a:p>
          <a:p>
            <a:pPr>
              <a:spcAft>
                <a:spcPts val="500"/>
              </a:spcAft>
              <a:defRPr sz="1050">
                <a:solidFill>
                  <a:srgbClr val="082430"/>
                </a:solidFill>
                <a:latin typeface="Calibri"/>
              </a:defRPr>
            </a:pPr>
            <a:r>
              <a:t>5. EHS + Logistics joint daily inspection of traffic controls.</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06.1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Map-style schematic placeholder: show site roads with missing signs marked in RED. Use icons for speed limit, parking, pedestrian. Risk badge AMBER. Visual suggestion: Before/After photo placeholders side by side.</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06 | SE-EHS-NC-2026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07</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Waste Management – Lack of Segregation &amp; Labeling</a:t>
            </a:r>
          </a:p>
        </p:txBody>
      </p:sp>
      <p:sp>
        <p:nvSpPr>
          <p:cNvPr id="7" name="Rectangle 6"/>
          <p:cNvSpPr/>
          <p:nvPr/>
        </p:nvSpPr>
        <p:spPr>
          <a:xfrm>
            <a:off x="9326880" y="182880"/>
            <a:ext cx="2560320" cy="64008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082430"/>
                </a:solidFill>
                <a:latin typeface="Calibri"/>
              </a:defRPr>
            </a:pPr>
            <a:r>
              <a:t>RISK: HIGH</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Waste containers observed without segregation – hazardous, recyclable, and general waste mixed.</a:t>
            </a:r>
          </a:p>
          <a:p>
            <a:pPr>
              <a:spcAft>
                <a:spcPts val="800"/>
              </a:spcAft>
              <a:defRPr sz="1100">
                <a:solidFill>
                  <a:srgbClr val="FFFFFF"/>
                </a:solidFill>
                <a:latin typeface="Calibri"/>
              </a:defRPr>
            </a:pPr>
            <a:r>
              <a:t>• No clear labeling, color-coding, or MSDS reference for hazardous waste bins.</a:t>
            </a:r>
          </a:p>
          <a:p>
            <a:pPr>
              <a:spcAft>
                <a:spcPts val="800"/>
              </a:spcAft>
              <a:defRPr sz="1100">
                <a:solidFill>
                  <a:srgbClr val="FFFFFF"/>
                </a:solidFill>
                <a:latin typeface="Calibri"/>
              </a:defRPr>
            </a:pPr>
            <a:r>
              <a:t>• Oil-contaminated rags and filters disposed in general waste – environmental violation.</a:t>
            </a:r>
          </a:p>
          <a:p>
            <a:pPr>
              <a:spcAft>
                <a:spcPts val="800"/>
              </a:spcAft>
              <a:defRPr sz="1100">
                <a:solidFill>
                  <a:srgbClr val="FFFFFF"/>
                </a:solidFill>
                <a:latin typeface="Calibri"/>
              </a:defRPr>
            </a:pPr>
            <a:r>
              <a:t>• Non-compliance with ISO 14001:2015 Cl. 8.1, Project Waste Management Plan, and local EPA regulations.</a:t>
            </a:r>
          </a:p>
        </p:txBody>
      </p:sp>
      <p:sp>
        <p:nvSpPr>
          <p:cNvPr id="12" name="Rectangle 11"/>
          <p:cNvSpPr/>
          <p:nvPr/>
        </p:nvSpPr>
        <p:spPr>
          <a:xfrm>
            <a:off x="4297680" y="1280160"/>
            <a:ext cx="3566160" cy="1737360"/>
          </a:xfrm>
          <a:prstGeom prst="rect">
            <a:avLst/>
          </a:prstGeom>
          <a:solidFill>
            <a:srgbClr val="2B2000"/>
          </a:solidFill>
          <a:ln w="25400">
            <a:solidFill>
              <a:srgbClr val="FF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FFB900"/>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Environmental pollution risk (soil/groundwater contamination), fire hazard from incompatible waste mixing, regulatory fine, and reputational damage to Siemens Energy. Potential for legal non-compliance.</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Immediate provision of color-coded, labeled waste skips (per SE Environmental Standard).</a:t>
            </a:r>
          </a:p>
          <a:p>
            <a:pPr>
              <a:spcAft>
                <a:spcPts val="500"/>
              </a:spcAft>
              <a:defRPr sz="1050">
                <a:solidFill>
                  <a:srgbClr val="082430"/>
                </a:solidFill>
                <a:latin typeface="Calibri"/>
              </a:defRPr>
            </a:pPr>
            <a:r>
              <a:t>2. Clean-up and correct segregation of existing mixed waste by competent team.</a:t>
            </a:r>
          </a:p>
          <a:p>
            <a:pPr>
              <a:spcAft>
                <a:spcPts val="500"/>
              </a:spcAft>
              <a:defRPr sz="1050">
                <a:solidFill>
                  <a:srgbClr val="082430"/>
                </a:solidFill>
                <a:latin typeface="Calibri"/>
              </a:defRPr>
            </a:pPr>
            <a:r>
              <a:t>3. Training on Waste Management – focus on hazardous waste handling.</a:t>
            </a:r>
          </a:p>
          <a:p>
            <a:pPr>
              <a:spcAft>
                <a:spcPts val="500"/>
              </a:spcAft>
              <a:defRPr sz="1050">
                <a:solidFill>
                  <a:srgbClr val="082430"/>
                </a:solidFill>
                <a:latin typeface="Calibri"/>
              </a:defRPr>
            </a:pPr>
            <a:r>
              <a:t>4. Appoint Waste Management Focal Point from subcontractor.</a:t>
            </a:r>
          </a:p>
          <a:p>
            <a:pPr>
              <a:spcAft>
                <a:spcPts val="500"/>
              </a:spcAft>
              <a:defRPr sz="1050">
                <a:solidFill>
                  <a:srgbClr val="082430"/>
                </a:solidFill>
                <a:latin typeface="Calibri"/>
              </a:defRPr>
            </a:pPr>
            <a:r>
              <a:t>5. Weekly waste audit – track waste volumes and disposal manifests.</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07.1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Use 3-bin color system graphic: Green/Blue/Red bins with labels. Current state photo placeholder with RED border showing mixed waste. Environmental icon. Corrective action box with LIGHT_GREY background and green check icons.</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07 | SE-EHS-NC-2026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08</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Equipment Integrity – Active Oil &amp; Fuel Leaks from Heavy Machinery</a:t>
            </a:r>
          </a:p>
        </p:txBody>
      </p:sp>
      <p:sp>
        <p:nvSpPr>
          <p:cNvPr id="7" name="Rectangle 6"/>
          <p:cNvSpPr/>
          <p:nvPr/>
        </p:nvSpPr>
        <p:spPr>
          <a:xfrm>
            <a:off x="9326880" y="182880"/>
            <a:ext cx="25603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FFFFFF"/>
                </a:solidFill>
                <a:latin typeface="Calibri"/>
              </a:defRPr>
            </a:pPr>
            <a:r>
              <a:t>RISK: CRITICAL</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Heavy equipment (excavator, loader) operating with active hydraulic oil and fuel leaks.</a:t>
            </a:r>
          </a:p>
          <a:p>
            <a:pPr>
              <a:spcAft>
                <a:spcPts val="800"/>
              </a:spcAft>
              <a:defRPr sz="1100">
                <a:solidFill>
                  <a:srgbClr val="FFFFFF"/>
                </a:solidFill>
                <a:latin typeface="Calibri"/>
              </a:defRPr>
            </a:pPr>
            <a:r>
              <a:t>• Drip trays not provided; soil contamination observed under equipment parking area.</a:t>
            </a:r>
          </a:p>
          <a:p>
            <a:pPr>
              <a:spcAft>
                <a:spcPts val="800"/>
              </a:spcAft>
              <a:defRPr sz="1100">
                <a:solidFill>
                  <a:srgbClr val="FFFFFF"/>
                </a:solidFill>
                <a:latin typeface="Calibri"/>
              </a:defRPr>
            </a:pPr>
            <a:r>
              <a:t>• No preventive maintenance records; daily inspection checklists falsified or not done.</a:t>
            </a:r>
          </a:p>
          <a:p>
            <a:pPr>
              <a:spcAft>
                <a:spcPts val="800"/>
              </a:spcAft>
              <a:defRPr sz="1100">
                <a:solidFill>
                  <a:srgbClr val="FFFFFF"/>
                </a:solidFill>
                <a:latin typeface="Calibri"/>
              </a:defRPr>
            </a:pPr>
            <a:r>
              <a:t>• Violation of Equipment Safety and Environmental Protection requirements.</a:t>
            </a:r>
          </a:p>
        </p:txBody>
      </p:sp>
      <p:sp>
        <p:nvSpPr>
          <p:cNvPr id="12" name="Rectangle 11"/>
          <p:cNvSpPr/>
          <p:nvPr/>
        </p:nvSpPr>
        <p:spPr>
          <a:xfrm>
            <a:off x="4297680" y="1280160"/>
            <a:ext cx="3566160" cy="1737360"/>
          </a:xfrm>
          <a:prstGeom prst="rect">
            <a:avLst/>
          </a:prstGeom>
          <a:solidFill>
            <a:srgbClr val="1A1A1A"/>
          </a:solidFill>
          <a:ln w="254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E30613"/>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Fire and explosion hazard, slip hazard, soil and groundwater contamination, equipment failure leading to loss of control/incident. Represents breakdown of maintenance management system. Breach of ISO 14001 and PUWER regulations.</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IMMEDIATE grounding of leaking equipment – tagged 'DO NOT USE'.</a:t>
            </a:r>
          </a:p>
          <a:p>
            <a:pPr>
              <a:spcAft>
                <a:spcPts val="500"/>
              </a:spcAft>
              <a:defRPr sz="1050">
                <a:solidFill>
                  <a:srgbClr val="082430"/>
                </a:solidFill>
                <a:latin typeface="Calibri"/>
              </a:defRPr>
            </a:pPr>
            <a:r>
              <a:t>2. Contaminated soil to be excavated and disposed as hazardous waste – spill response.</a:t>
            </a:r>
          </a:p>
          <a:p>
            <a:pPr>
              <a:spcAft>
                <a:spcPts val="500"/>
              </a:spcAft>
              <a:defRPr sz="1050">
                <a:solidFill>
                  <a:srgbClr val="082430"/>
                </a:solidFill>
                <a:latin typeface="Calibri"/>
              </a:defRPr>
            </a:pPr>
            <a:r>
              <a:t>3. Subcontractor to submit full equipment maintenance history and third-party inspection certificates within 48h.</a:t>
            </a:r>
          </a:p>
          <a:p>
            <a:pPr>
              <a:spcAft>
                <a:spcPts val="500"/>
              </a:spcAft>
              <a:defRPr sz="1050">
                <a:solidFill>
                  <a:srgbClr val="082430"/>
                </a:solidFill>
                <a:latin typeface="Calibri"/>
              </a:defRPr>
            </a:pPr>
            <a:r>
              <a:t>4. Implement mandatory daily equipment checklist – verified by SE EHS/Mechanical.</a:t>
            </a:r>
          </a:p>
          <a:p>
            <a:pPr>
              <a:spcAft>
                <a:spcPts val="500"/>
              </a:spcAft>
              <a:defRPr sz="1050">
                <a:solidFill>
                  <a:srgbClr val="082430"/>
                </a:solidFill>
                <a:latin typeface="Calibri"/>
              </a:defRPr>
            </a:pPr>
            <a:r>
              <a:t>5. Introduction of drip trays and spill kits at all equipment parking zones.</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08.1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Risk badge RED_CRITICAL with oil drop icon. Layout: Left non-compliance text, Right split: Top = Photo placeholder of leak with RED circle, Bottom = Spill containment diagram. Use AMBER highlight for 'FIRE HAZARD'.</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08 | SE-EHS-NC-2026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09</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Hazardous Material Storage – Diesel Storage Without Secondary Containment</a:t>
            </a:r>
          </a:p>
        </p:txBody>
      </p:sp>
      <p:sp>
        <p:nvSpPr>
          <p:cNvPr id="7" name="Rectangle 6"/>
          <p:cNvSpPr/>
          <p:nvPr/>
        </p:nvSpPr>
        <p:spPr>
          <a:xfrm>
            <a:off x="9326880" y="182880"/>
            <a:ext cx="25603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FFFFFF"/>
                </a:solidFill>
                <a:latin typeface="Calibri"/>
              </a:defRPr>
            </a:pPr>
            <a:r>
              <a:t>RISK: CRITICAL</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Diesel storage area (approx. 2000L) observed without secondary containment/bunding (110% capacity required).</a:t>
            </a:r>
          </a:p>
          <a:p>
            <a:pPr>
              <a:spcAft>
                <a:spcPts val="800"/>
              </a:spcAft>
              <a:defRPr sz="1100">
                <a:solidFill>
                  <a:srgbClr val="FFFFFF"/>
                </a:solidFill>
                <a:latin typeface="Calibri"/>
              </a:defRPr>
            </a:pPr>
            <a:r>
              <a:t>• No isolation distance from ignition sources; no fire extinguisher, no hazard signage, no spill kit.</a:t>
            </a:r>
          </a:p>
          <a:p>
            <a:pPr>
              <a:spcAft>
                <a:spcPts val="800"/>
              </a:spcAft>
              <a:defRPr sz="1100">
                <a:solidFill>
                  <a:srgbClr val="FFFFFF"/>
                </a:solidFill>
                <a:latin typeface="Calibri"/>
              </a:defRPr>
            </a:pPr>
            <a:r>
              <a:t>• Storage on bare ground – no impervious base, no earthing/bonding for fuel transfer.</a:t>
            </a:r>
          </a:p>
          <a:p>
            <a:pPr>
              <a:spcAft>
                <a:spcPts val="800"/>
              </a:spcAft>
              <a:defRPr sz="1100">
                <a:solidFill>
                  <a:srgbClr val="FFFFFF"/>
                </a:solidFill>
                <a:latin typeface="Calibri"/>
              </a:defRPr>
            </a:pPr>
            <a:r>
              <a:t>• Direct violation of HSG 176, EPA Spill Prevention, and SE Hazardous Materials Standard.</a:t>
            </a:r>
          </a:p>
        </p:txBody>
      </p:sp>
      <p:sp>
        <p:nvSpPr>
          <p:cNvPr id="12" name="Rectangle 11"/>
          <p:cNvSpPr/>
          <p:nvPr/>
        </p:nvSpPr>
        <p:spPr>
          <a:xfrm>
            <a:off x="4297680" y="1280160"/>
            <a:ext cx="3566160" cy="1737360"/>
          </a:xfrm>
          <a:prstGeom prst="rect">
            <a:avLst/>
          </a:prstGeom>
          <a:solidFill>
            <a:srgbClr val="1A1A1A"/>
          </a:solidFill>
          <a:ln w="254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E30613"/>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Major fire/explosion risk, catastrophic environmental release, soil/groundwater contamination leading to regulatory prosecution. Potential for major accident hazard (MAH). Immediate danger to life and environment.</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STOP all fueling operations – secure area with fire watch until compliant.</a:t>
            </a:r>
          </a:p>
          <a:p>
            <a:pPr>
              <a:spcAft>
                <a:spcPts val="500"/>
              </a:spcAft>
              <a:defRPr sz="1050">
                <a:solidFill>
                  <a:srgbClr val="082430"/>
                </a:solidFill>
                <a:latin typeface="Calibri"/>
              </a:defRPr>
            </a:pPr>
            <a:r>
              <a:t>2. Provide compliant bunded storage – 110% secondary containment, impervious floor, roofed, ventilated.</a:t>
            </a:r>
          </a:p>
          <a:p>
            <a:pPr>
              <a:spcAft>
                <a:spcPts val="500"/>
              </a:spcAft>
              <a:defRPr sz="1050">
                <a:solidFill>
                  <a:srgbClr val="082430"/>
                </a:solidFill>
                <a:latin typeface="Calibri"/>
              </a:defRPr>
            </a:pPr>
            <a:r>
              <a:t>3. Install fire extinguishers (2x 9kg DCP), HAZCHEM signage, spill kit (150L), and earthing system.</a:t>
            </a:r>
          </a:p>
          <a:p>
            <a:pPr>
              <a:spcAft>
                <a:spcPts val="500"/>
              </a:spcAft>
              <a:defRPr sz="1050">
                <a:solidFill>
                  <a:srgbClr val="082430"/>
                </a:solidFill>
                <a:latin typeface="Calibri"/>
              </a:defRPr>
            </a:pPr>
            <a:r>
              <a:t>4. Develop and communicate Fuel Storage &amp; Handling SOP and emergency response drill.</a:t>
            </a:r>
          </a:p>
          <a:p>
            <a:pPr>
              <a:spcAft>
                <a:spcPts val="500"/>
              </a:spcAft>
              <a:defRPr sz="1050">
                <a:solidFill>
                  <a:srgbClr val="082430"/>
                </a:solidFill>
                <a:latin typeface="Calibri"/>
              </a:defRPr>
            </a:pPr>
            <a:r>
              <a:t>5. Location to be approved by SE EHS – minimum 15m from excavations/buildings/drains.</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09.1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Critical safety slide: Full-width RED_CRITICAL top banner. Show compliant vs non-compliant bund diagram side by side. Use HAZMAT diamond icons. Add '110% BUNDING REQUIRED' callout in AMBER bold. Photo placeholder with thick RED border.</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09 | SE-EHS-NC-2026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01600" cy="585216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914400" cy="365760"/>
          </a:xfrm>
          <a:prstGeom prst="rect">
            <a:avLst/>
          </a:prstGeom>
          <a:noFill/>
        </p:spPr>
        <p:txBody>
          <a:bodyPr wrap="square">
            <a:spAutoFit/>
          </a:bodyPr>
          <a:lstStyle/>
          <a:p>
            <a:pPr algn="l">
              <a:defRPr sz="1200" b="1">
                <a:solidFill>
                  <a:srgbClr val="00BFBF"/>
                </a:solidFill>
                <a:latin typeface="Calibri"/>
              </a:defRPr>
            </a:pPr>
            <a:r>
              <a:t>OBS 10</a:t>
            </a:r>
          </a:p>
        </p:txBody>
      </p:sp>
      <p:sp>
        <p:nvSpPr>
          <p:cNvPr id="6" name="TextBox 5"/>
          <p:cNvSpPr txBox="1"/>
          <p:nvPr/>
        </p:nvSpPr>
        <p:spPr>
          <a:xfrm>
            <a:off x="274320" y="320040"/>
            <a:ext cx="8686800" cy="640080"/>
          </a:xfrm>
          <a:prstGeom prst="rect">
            <a:avLst/>
          </a:prstGeom>
          <a:noFill/>
        </p:spPr>
        <p:txBody>
          <a:bodyPr wrap="square">
            <a:spAutoFit/>
          </a:bodyPr>
          <a:lstStyle/>
          <a:p>
            <a:pPr algn="l">
              <a:defRPr sz="2200" b="1">
                <a:solidFill>
                  <a:srgbClr val="FFFFFF"/>
                </a:solidFill>
                <a:latin typeface="Calibri"/>
              </a:defRPr>
            </a:pPr>
            <a:r>
              <a:t>Recurring Safety Violations – Persistent PPE Violations Despite Warnings</a:t>
            </a:r>
          </a:p>
        </p:txBody>
      </p:sp>
      <p:sp>
        <p:nvSpPr>
          <p:cNvPr id="7" name="Rectangle 6"/>
          <p:cNvSpPr/>
          <p:nvPr/>
        </p:nvSpPr>
        <p:spPr>
          <a:xfrm>
            <a:off x="9326880" y="182880"/>
            <a:ext cx="2560320" cy="64008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82880"/>
            <a:ext cx="2560320" cy="640080"/>
          </a:xfrm>
          <a:prstGeom prst="rect">
            <a:avLst/>
          </a:prstGeom>
          <a:noFill/>
        </p:spPr>
        <p:txBody>
          <a:bodyPr wrap="square">
            <a:spAutoFit/>
          </a:bodyPr>
          <a:lstStyle/>
          <a:p>
            <a:pPr algn="ctr">
              <a:defRPr sz="1600" b="1">
                <a:solidFill>
                  <a:srgbClr val="FFFFFF"/>
                </a:solidFill>
                <a:latin typeface="Calibri"/>
              </a:defRPr>
            </a:pPr>
            <a:r>
              <a:t>RISK: CRITICAL</a:t>
            </a:r>
          </a:p>
        </p:txBody>
      </p:sp>
      <p:sp>
        <p:nvSpPr>
          <p:cNvPr id="9" name="Rectangle 8"/>
          <p:cNvSpPr/>
          <p:nvPr/>
        </p:nvSpPr>
        <p:spPr>
          <a:xfrm>
            <a:off x="274320" y="1280160"/>
            <a:ext cx="3840480" cy="4389120"/>
          </a:xfrm>
          <a:prstGeom prst="rect">
            <a:avLst/>
          </a:prstGeom>
          <a:solidFill>
            <a:srgbClr val="143D4E"/>
          </a:solidFill>
          <a:ln w="12700">
            <a:solidFill>
              <a:srgbClr val="00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325880"/>
            <a:ext cx="3566160" cy="365760"/>
          </a:xfrm>
          <a:prstGeom prst="rect">
            <a:avLst/>
          </a:prstGeom>
          <a:noFill/>
        </p:spPr>
        <p:txBody>
          <a:bodyPr wrap="square">
            <a:spAutoFit/>
          </a:bodyPr>
          <a:lstStyle/>
          <a:p>
            <a:pPr algn="l">
              <a:defRPr sz="1200" b="1">
                <a:solidFill>
                  <a:srgbClr val="00BFBF"/>
                </a:solidFill>
                <a:latin typeface="Calibri"/>
              </a:defRPr>
            </a:pPr>
            <a:r>
              <a:t>NON-COMPLIANCE DETAILS</a:t>
            </a:r>
          </a:p>
        </p:txBody>
      </p:sp>
      <p:sp>
        <p:nvSpPr>
          <p:cNvPr id="11" name="TextBox 10"/>
          <p:cNvSpPr txBox="1"/>
          <p:nvPr/>
        </p:nvSpPr>
        <p:spPr>
          <a:xfrm>
            <a:off x="411480" y="1691640"/>
            <a:ext cx="3566160" cy="3931920"/>
          </a:xfrm>
          <a:prstGeom prst="rect">
            <a:avLst/>
          </a:prstGeom>
          <a:noFill/>
        </p:spPr>
        <p:txBody>
          <a:bodyPr wrap="square">
            <a:spAutoFit/>
          </a:bodyPr>
          <a:lstStyle/>
          <a:p>
            <a:pPr>
              <a:spcAft>
                <a:spcPts val="800"/>
              </a:spcAft>
              <a:defRPr sz="1100">
                <a:solidFill>
                  <a:srgbClr val="FFFFFF"/>
                </a:solidFill>
                <a:latin typeface="Calibri"/>
              </a:defRPr>
            </a:pPr>
            <a:r>
              <a:t>• Continued and repeated PPE violations observed after 3 formal warnings, 5 observation cards, and 2 NCRs.</a:t>
            </a:r>
          </a:p>
          <a:p>
            <a:pPr>
              <a:spcAft>
                <a:spcPts val="800"/>
              </a:spcAft>
              <a:defRPr sz="1100">
                <a:solidFill>
                  <a:srgbClr val="FFFFFF"/>
                </a:solidFill>
                <a:latin typeface="Calibri"/>
              </a:defRPr>
            </a:pPr>
            <a:r>
              <a:t>• Same workgroup and supervision involved – indicates intentional non-compliance, not lack of awareness.</a:t>
            </a:r>
          </a:p>
          <a:p>
            <a:pPr>
              <a:spcAft>
                <a:spcPts val="800"/>
              </a:spcAft>
              <a:defRPr sz="1100">
                <a:solidFill>
                  <a:srgbClr val="FFFFFF"/>
                </a:solidFill>
                <a:latin typeface="Calibri"/>
              </a:defRPr>
            </a:pPr>
            <a:r>
              <a:t>• Trend analysis shows 60% increase in PPE violations in last 2 weeks (from Daily EHS Reports).</a:t>
            </a:r>
          </a:p>
          <a:p>
            <a:pPr>
              <a:spcAft>
                <a:spcPts val="800"/>
              </a:spcAft>
              <a:defRPr sz="1100">
                <a:solidFill>
                  <a:srgbClr val="FFFFFF"/>
                </a:solidFill>
                <a:latin typeface="Calibri"/>
              </a:defRPr>
            </a:pPr>
            <a:r>
              <a:t>• Subcontractor management failing to enforce disciplinary procedure as per contract.</a:t>
            </a:r>
          </a:p>
        </p:txBody>
      </p:sp>
      <p:sp>
        <p:nvSpPr>
          <p:cNvPr id="12" name="Rectangle 11"/>
          <p:cNvSpPr/>
          <p:nvPr/>
        </p:nvSpPr>
        <p:spPr>
          <a:xfrm>
            <a:off x="4297680" y="1280160"/>
            <a:ext cx="3566160" cy="1737360"/>
          </a:xfrm>
          <a:prstGeom prst="rect">
            <a:avLst/>
          </a:prstGeom>
          <a:solidFill>
            <a:srgbClr val="1A1A1A"/>
          </a:solidFill>
          <a:ln w="254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25880"/>
            <a:ext cx="3291840" cy="274320"/>
          </a:xfrm>
          <a:prstGeom prst="rect">
            <a:avLst/>
          </a:prstGeom>
          <a:noFill/>
        </p:spPr>
        <p:txBody>
          <a:bodyPr wrap="square">
            <a:spAutoFit/>
          </a:bodyPr>
          <a:lstStyle/>
          <a:p>
            <a:pPr algn="l">
              <a:defRPr sz="1100" b="1">
                <a:solidFill>
                  <a:srgbClr val="E30613"/>
                </a:solidFill>
                <a:latin typeface="Calibri"/>
              </a:defRPr>
            </a:pPr>
            <a:r>
              <a:t>ASSOCIATED RISK &amp; IMPACT</a:t>
            </a:r>
          </a:p>
        </p:txBody>
      </p:sp>
      <p:sp>
        <p:nvSpPr>
          <p:cNvPr id="14" name="TextBox 13"/>
          <p:cNvSpPr txBox="1"/>
          <p:nvPr/>
        </p:nvSpPr>
        <p:spPr>
          <a:xfrm>
            <a:off x="4434840" y="1600200"/>
            <a:ext cx="3291840" cy="1280160"/>
          </a:xfrm>
          <a:prstGeom prst="rect">
            <a:avLst/>
          </a:prstGeom>
          <a:noFill/>
        </p:spPr>
        <p:txBody>
          <a:bodyPr wrap="square">
            <a:spAutoFit/>
          </a:bodyPr>
          <a:lstStyle/>
          <a:p>
            <a:pPr algn="l">
              <a:defRPr sz="1050" b="0">
                <a:solidFill>
                  <a:srgbClr val="E6E6E6"/>
                </a:solidFill>
                <a:latin typeface="Calibri"/>
              </a:defRPr>
            </a:pPr>
            <a:r>
              <a:t>Normalization of deviance – precursor to serious injury/fatality. Demonstrates total failure of subcontractor safety leadership and culture. If PPE (last line of defense) is ignored, higher-level controls will also fail. Project reputation and Siemens Energy Zero Harm commitment at risk.</a:t>
            </a:r>
          </a:p>
        </p:txBody>
      </p:sp>
      <p:sp>
        <p:nvSpPr>
          <p:cNvPr id="15" name="Rectangle 14"/>
          <p:cNvSpPr/>
          <p:nvPr/>
        </p:nvSpPr>
        <p:spPr>
          <a:xfrm>
            <a:off x="42976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246120"/>
            <a:ext cx="3291840" cy="274320"/>
          </a:xfrm>
          <a:prstGeom prst="rect">
            <a:avLst/>
          </a:prstGeom>
          <a:noFill/>
        </p:spPr>
        <p:txBody>
          <a:bodyPr wrap="square">
            <a:spAutoFit/>
          </a:bodyPr>
          <a:lstStyle/>
          <a:p>
            <a:pPr algn="l">
              <a:defRPr sz="1100" b="1">
                <a:solidFill>
                  <a:srgbClr val="082430"/>
                </a:solidFill>
                <a:latin typeface="Calibri"/>
              </a:defRPr>
            </a:pPr>
            <a:r>
              <a:t>REQUIRED CORRECTIVE ACTION</a:t>
            </a:r>
          </a:p>
        </p:txBody>
      </p:sp>
      <p:sp>
        <p:nvSpPr>
          <p:cNvPr id="17" name="TextBox 16"/>
          <p:cNvSpPr txBox="1"/>
          <p:nvPr/>
        </p:nvSpPr>
        <p:spPr>
          <a:xfrm>
            <a:off x="4434840" y="3566160"/>
            <a:ext cx="3291840" cy="2103120"/>
          </a:xfrm>
          <a:prstGeom prst="rect">
            <a:avLst/>
          </a:prstGeom>
          <a:noFill/>
        </p:spPr>
        <p:txBody>
          <a:bodyPr wrap="square">
            <a:spAutoFit/>
          </a:bodyPr>
          <a:lstStyle/>
          <a:p>
            <a:pPr>
              <a:spcAft>
                <a:spcPts val="500"/>
              </a:spcAft>
              <a:defRPr sz="1050">
                <a:solidFill>
                  <a:srgbClr val="082430"/>
                </a:solidFill>
                <a:latin typeface="Calibri"/>
              </a:defRPr>
            </a:pPr>
            <a:r>
              <a:t>1. Invoke contractual penalty – stop work for repeat offender crew and mandatory leadership engagement.</a:t>
            </a:r>
          </a:p>
          <a:p>
            <a:pPr>
              <a:spcAft>
                <a:spcPts val="500"/>
              </a:spcAft>
              <a:defRPr sz="1050">
                <a:solidFill>
                  <a:srgbClr val="082430"/>
                </a:solidFill>
                <a:latin typeface="Calibri"/>
              </a:defRPr>
            </a:pPr>
            <a:r>
              <a:t>2. Remove and replace non-compliant supervision – require CVs and EHS competency assessment.</a:t>
            </a:r>
          </a:p>
          <a:p>
            <a:pPr>
              <a:spcAft>
                <a:spcPts val="500"/>
              </a:spcAft>
              <a:defRPr sz="1050">
                <a:solidFill>
                  <a:srgbClr val="082430"/>
                </a:solidFill>
                <a:latin typeface="Calibri"/>
              </a:defRPr>
            </a:pPr>
            <a:r>
              <a:t>3. Implement Behavior-Based Safety (BBS) program with positive/negative reinforcement.</a:t>
            </a:r>
          </a:p>
          <a:p>
            <a:pPr>
              <a:spcAft>
                <a:spcPts val="500"/>
              </a:spcAft>
              <a:defRPr sz="1050">
                <a:solidFill>
                  <a:srgbClr val="082430"/>
                </a:solidFill>
                <a:latin typeface="Calibri"/>
              </a:defRPr>
            </a:pPr>
            <a:r>
              <a:t>4. Daily management safety walks – Siemens Energy PM + Subcontractor PM.</a:t>
            </a:r>
          </a:p>
          <a:p>
            <a:pPr>
              <a:spcAft>
                <a:spcPts val="500"/>
              </a:spcAft>
              <a:defRPr sz="1050">
                <a:solidFill>
                  <a:srgbClr val="082430"/>
                </a:solidFill>
                <a:latin typeface="Calibri"/>
              </a:defRPr>
            </a:pPr>
            <a:r>
              <a:t>5. Consider partial termination / back-charge for additional EHS supervision if no improvement in 7 days.</a:t>
            </a:r>
          </a:p>
        </p:txBody>
      </p:sp>
      <p:sp>
        <p:nvSpPr>
          <p:cNvPr id="18" name="Rectangle 17"/>
          <p:cNvSpPr/>
          <p:nvPr/>
        </p:nvSpPr>
        <p:spPr>
          <a:xfrm>
            <a:off x="8138160" y="1280160"/>
            <a:ext cx="3749039" cy="2926080"/>
          </a:xfrm>
          <a:prstGeom prst="rect">
            <a:avLst/>
          </a:prstGeom>
          <a:solidFill>
            <a:srgbClr val="0A222B"/>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371600"/>
            <a:ext cx="3566160" cy="274320"/>
          </a:xfrm>
          <a:prstGeom prst="rect">
            <a:avLst/>
          </a:prstGeom>
          <a:noFill/>
        </p:spPr>
        <p:txBody>
          <a:bodyPr wrap="square">
            <a:spAutoFit/>
          </a:bodyPr>
          <a:lstStyle/>
          <a:p>
            <a:pPr algn="l">
              <a:defRPr sz="1000" b="1">
                <a:solidFill>
                  <a:srgbClr val="CCCCCC"/>
                </a:solidFill>
                <a:latin typeface="Calibri"/>
              </a:defRPr>
            </a:pPr>
            <a:r>
              <a:t>📷 EVIDENCE / REFERENCE</a:t>
            </a:r>
          </a:p>
        </p:txBody>
      </p:sp>
      <p:sp>
        <p:nvSpPr>
          <p:cNvPr id="20" name="TextBox 19"/>
          <p:cNvSpPr txBox="1"/>
          <p:nvPr/>
        </p:nvSpPr>
        <p:spPr>
          <a:xfrm>
            <a:off x="8229600" y="1737360"/>
            <a:ext cx="3566160" cy="1828800"/>
          </a:xfrm>
          <a:prstGeom prst="rect">
            <a:avLst/>
          </a:prstGeom>
          <a:noFill/>
        </p:spPr>
        <p:txBody>
          <a:bodyPr wrap="square">
            <a:spAutoFit/>
          </a:bodyPr>
          <a:lstStyle/>
          <a:p>
            <a:pPr algn="ctr">
              <a:defRPr sz="900" b="0">
                <a:solidFill>
                  <a:srgbClr val="CCCCCC"/>
                </a:solidFill>
                <a:latin typeface="Calibri"/>
              </a:defRPr>
            </a:pPr>
            <a:r>
              <a:t>[ Insert Site Photograph</a:t>
            </a:r>
            <a:br/>
            <a:r>
              <a:t>  Fig 10.1 – Non-Compliance Evidence ]</a:t>
            </a:r>
            <a:br/>
            <a:br/>
            <a:r>
              <a:t>Standard Ref:</a:t>
            </a:r>
            <a:br/>
            <a:r>
              <a:t>• ISO 45001 / ISO 14001</a:t>
            </a:r>
            <a:br/>
            <a:r>
              <a:t>• SE EHS Contractor Req.</a:t>
            </a:r>
            <a:br/>
            <a:r>
              <a:t>• OSHA / Local Regs</a:t>
            </a:r>
          </a:p>
        </p:txBody>
      </p:sp>
      <p:sp>
        <p:nvSpPr>
          <p:cNvPr id="21" name="Rectangle 20"/>
          <p:cNvSpPr/>
          <p:nvPr/>
        </p:nvSpPr>
        <p:spPr>
          <a:xfrm>
            <a:off x="8138160" y="4389120"/>
            <a:ext cx="3749039" cy="1371600"/>
          </a:xfrm>
          <a:prstGeom prst="rect">
            <a:avLst/>
          </a:prstGeom>
          <a:solidFill>
            <a:srgbClr val="0E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434840"/>
            <a:ext cx="3566160" cy="228600"/>
          </a:xfrm>
          <a:prstGeom prst="rect">
            <a:avLst/>
          </a:prstGeom>
          <a:noFill/>
        </p:spPr>
        <p:txBody>
          <a:bodyPr wrap="square">
            <a:spAutoFit/>
          </a:bodyPr>
          <a:lstStyle/>
          <a:p>
            <a:pPr algn="l">
              <a:defRPr sz="900" b="1">
                <a:solidFill>
                  <a:srgbClr val="00BFBF"/>
                </a:solidFill>
                <a:latin typeface="Calibri"/>
              </a:defRPr>
            </a:pPr>
            <a:r>
              <a:t>VISUAL &amp; DESIGN SUGGESTION</a:t>
            </a:r>
          </a:p>
        </p:txBody>
      </p:sp>
      <p:sp>
        <p:nvSpPr>
          <p:cNvPr id="23" name="TextBox 22"/>
          <p:cNvSpPr txBox="1"/>
          <p:nvPr/>
        </p:nvSpPr>
        <p:spPr>
          <a:xfrm>
            <a:off x="8229600" y="4663440"/>
            <a:ext cx="3566160" cy="1005840"/>
          </a:xfrm>
          <a:prstGeom prst="rect">
            <a:avLst/>
          </a:prstGeom>
          <a:noFill/>
        </p:spPr>
        <p:txBody>
          <a:bodyPr wrap="square">
            <a:spAutoFit/>
          </a:bodyPr>
          <a:lstStyle/>
          <a:p>
            <a:pPr algn="l">
              <a:defRPr sz="800" b="0">
                <a:solidFill>
                  <a:srgbClr val="E6E6E6"/>
                </a:solidFill>
                <a:latin typeface="Calibri"/>
              </a:defRPr>
            </a:pPr>
            <a:r>
              <a:t>Trend chart placeholder: Bar chart showing rising PPE violations (Week 1-4) in RED. Use repetition icon (circular arrows) in AMBER. Risk badge RED_CRITICAL flashing effect suggestion (PowerPoint animation: pulse). Bottom quote box: 'Repeated violation = Systemic Failure' – TEAL_ACCENT.</a:t>
            </a:r>
          </a:p>
        </p:txBody>
      </p:sp>
      <p:sp>
        <p:nvSpPr>
          <p:cNvPr id="24" name="Rectangle 23"/>
          <p:cNvSpPr/>
          <p:nvPr/>
        </p:nvSpPr>
        <p:spPr>
          <a:xfrm>
            <a:off x="0" y="5943600"/>
            <a:ext cx="12188952"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035040"/>
            <a:ext cx="5486400" cy="274320"/>
          </a:xfrm>
          <a:prstGeom prst="rect">
            <a:avLst/>
          </a:prstGeom>
          <a:noFill/>
        </p:spPr>
        <p:txBody>
          <a:bodyPr wrap="square">
            <a:spAutoFit/>
          </a:bodyPr>
          <a:lstStyle/>
          <a:p>
            <a:pPr algn="l">
              <a:defRPr sz="800" b="0">
                <a:solidFill>
                  <a:srgbClr val="CCCCCC"/>
                </a:solidFill>
                <a:latin typeface="Calibri"/>
              </a:defRPr>
            </a:pPr>
            <a:r>
              <a:t>Siemens Energy | Zero Harm Culture | Confidential</a:t>
            </a:r>
          </a:p>
        </p:txBody>
      </p:sp>
      <p:sp>
        <p:nvSpPr>
          <p:cNvPr id="26" name="TextBox 25"/>
          <p:cNvSpPr txBox="1"/>
          <p:nvPr/>
        </p:nvSpPr>
        <p:spPr>
          <a:xfrm>
            <a:off x="9144000" y="6035040"/>
            <a:ext cx="2743200" cy="274320"/>
          </a:xfrm>
          <a:prstGeom prst="rect">
            <a:avLst/>
          </a:prstGeom>
          <a:noFill/>
        </p:spPr>
        <p:txBody>
          <a:bodyPr wrap="square">
            <a:spAutoFit/>
          </a:bodyPr>
          <a:lstStyle/>
          <a:p>
            <a:pPr algn="r">
              <a:defRPr sz="800" b="0">
                <a:solidFill>
                  <a:srgbClr val="CCCCCC"/>
                </a:solidFill>
                <a:latin typeface="Calibri"/>
              </a:defRPr>
            </a:pPr>
            <a:r>
              <a:t>Slide 10 | SE-EHS-NC-2026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2F3E"/>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82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88952" cy="508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l">
              <a:defRPr sz="2000" b="1">
                <a:solidFill>
                  <a:srgbClr val="FFFFFF"/>
                </a:solidFill>
                <a:latin typeface="Calibri"/>
              </a:defRPr>
            </a:pPr>
            <a:r>
              <a:t>ACTION PLAN &amp; RECOMMENDATIONS – IMMEDIATE MANAGEMENT INTERVENTION REQUIRED</a:t>
            </a:r>
          </a:p>
        </p:txBody>
      </p:sp>
      <p:sp>
        <p:nvSpPr>
          <p:cNvPr id="5" name="Rectangle 4"/>
          <p:cNvSpPr/>
          <p:nvPr/>
        </p:nvSpPr>
        <p:spPr>
          <a:xfrm>
            <a:off x="274320" y="1280160"/>
            <a:ext cx="3749039"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280160"/>
            <a:ext cx="3749039" cy="45720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80160"/>
            <a:ext cx="3566160" cy="457200"/>
          </a:xfrm>
          <a:prstGeom prst="rect">
            <a:avLst/>
          </a:prstGeom>
          <a:noFill/>
        </p:spPr>
        <p:txBody>
          <a:bodyPr wrap="square">
            <a:spAutoFit/>
          </a:bodyPr>
          <a:lstStyle/>
          <a:p>
            <a:pPr algn="ctr">
              <a:defRPr sz="1200" b="1">
                <a:solidFill>
                  <a:srgbClr val="FFFFFF"/>
                </a:solidFill>
                <a:latin typeface="Calibri"/>
              </a:defRPr>
            </a:pPr>
            <a:r>
              <a:t>IMMEDIATE (0-24 HOURS)</a:t>
            </a:r>
          </a:p>
        </p:txBody>
      </p:sp>
      <p:sp>
        <p:nvSpPr>
          <p:cNvPr id="8" name="TextBox 7"/>
          <p:cNvSpPr txBox="1"/>
          <p:nvPr/>
        </p:nvSpPr>
        <p:spPr>
          <a:xfrm>
            <a:off x="365760" y="1828800"/>
            <a:ext cx="3566160" cy="3474720"/>
          </a:xfrm>
          <a:prstGeom prst="rect">
            <a:avLst/>
          </a:prstGeom>
          <a:noFill/>
        </p:spPr>
        <p:txBody>
          <a:bodyPr wrap="square">
            <a:spAutoFit/>
          </a:bodyPr>
          <a:lstStyle/>
          <a:p>
            <a:pPr algn="l">
              <a:defRPr sz="1000" b="0">
                <a:solidFill>
                  <a:srgbClr val="082430"/>
                </a:solidFill>
                <a:latin typeface="Calibri"/>
              </a:defRPr>
            </a:pPr>
            <a:r>
              <a:t>• STOP WORK Order for all critical violations (PTW, Excavation, Diesel Storage, Leaking Equipment)</a:t>
            </a:r>
            <a:br/>
            <a:br/>
            <a:r>
              <a:t>• Evacuate &amp; secure hazardous areas – hard barricade + fire watch</a:t>
            </a:r>
            <a:br/>
            <a:br/>
            <a:r>
              <a:t>• Remove all non-inducted personnel – 100% gate verification</a:t>
            </a:r>
            <a:br/>
            <a:br/>
            <a:r>
              <a:t>• Ground all leaking equipment – Tag Out</a:t>
            </a:r>
            <a:br/>
            <a:br/>
            <a:r>
              <a:t>• Issue Formal NCR Level 1 &amp; 2 and contractual warning letter</a:t>
            </a:r>
            <a:br/>
            <a:br/>
            <a:r>
              <a:t>• Convene Emergency EHS Meeting – Subcontractor MD/PM to attend</a:t>
            </a:r>
            <a:br/>
            <a:br/>
            <a:r>
              <a:t>• Decision Required: Management approval for stop-work enforcement</a:t>
            </a:r>
          </a:p>
        </p:txBody>
      </p:sp>
      <p:sp>
        <p:nvSpPr>
          <p:cNvPr id="9" name="Rectangle 8"/>
          <p:cNvSpPr/>
          <p:nvPr/>
        </p:nvSpPr>
        <p:spPr>
          <a:xfrm>
            <a:off x="4206240" y="1280160"/>
            <a:ext cx="3749039"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06240" y="1280160"/>
            <a:ext cx="3749039" cy="4572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280160"/>
            <a:ext cx="3566160" cy="457200"/>
          </a:xfrm>
          <a:prstGeom prst="rect">
            <a:avLst/>
          </a:prstGeom>
          <a:noFill/>
        </p:spPr>
        <p:txBody>
          <a:bodyPr wrap="square">
            <a:spAutoFit/>
          </a:bodyPr>
          <a:lstStyle/>
          <a:p>
            <a:pPr algn="ctr">
              <a:defRPr sz="1200" b="1">
                <a:solidFill>
                  <a:srgbClr val="082430"/>
                </a:solidFill>
                <a:latin typeface="Calibri"/>
              </a:defRPr>
            </a:pPr>
            <a:r>
              <a:t>SHORT-TERM (1-7 DAYS)</a:t>
            </a:r>
          </a:p>
        </p:txBody>
      </p:sp>
      <p:sp>
        <p:nvSpPr>
          <p:cNvPr id="12" name="TextBox 11"/>
          <p:cNvSpPr txBox="1"/>
          <p:nvPr/>
        </p:nvSpPr>
        <p:spPr>
          <a:xfrm>
            <a:off x="4297680" y="1828800"/>
            <a:ext cx="3566160" cy="3474720"/>
          </a:xfrm>
          <a:prstGeom prst="rect">
            <a:avLst/>
          </a:prstGeom>
          <a:noFill/>
        </p:spPr>
        <p:txBody>
          <a:bodyPr wrap="square">
            <a:spAutoFit/>
          </a:bodyPr>
          <a:lstStyle/>
          <a:p>
            <a:pPr algn="l">
              <a:defRPr sz="1000" b="0">
                <a:solidFill>
                  <a:srgbClr val="082430"/>
                </a:solidFill>
                <a:latin typeface="Calibri"/>
              </a:defRPr>
            </a:pPr>
            <a:r>
              <a:t>• Full PTW System Audit &amp; Re-Training – all supervisors certified</a:t>
            </a:r>
            <a:br/>
            <a:br/>
            <a:r>
              <a:t>• Compliant diesel storage – 110% bund, fire extinguishers, signage, earthing</a:t>
            </a:r>
            <a:br/>
            <a:br/>
            <a:r>
              <a:t>• Reinstate traffic signage – retro-reflective + pedestrian segregation + flagmen</a:t>
            </a:r>
            <a:br/>
            <a:br/>
            <a:r>
              <a:t>• Waste management system – color-coded skips, labeling, training, focal point</a:t>
            </a:r>
            <a:br/>
            <a:br/>
            <a:r>
              <a:t>• Excavation compliance – hard barricades, access ladders, competent person checks</a:t>
            </a:r>
            <a:br/>
            <a:br/>
            <a:r>
              <a:t>• PPE Campaign &amp; BBS Launch – daily checks, scorecard, incentives</a:t>
            </a:r>
            <a:br/>
            <a:br/>
            <a:r>
              <a:t>• EHS Directives Log – daily sign-off by Subcontractor PM</a:t>
            </a:r>
            <a:br/>
            <a:br/>
            <a:r>
              <a:t>• Decision Required: Approve cost for additional SE EHS supervision &amp; back-charge</a:t>
            </a:r>
          </a:p>
        </p:txBody>
      </p:sp>
      <p:sp>
        <p:nvSpPr>
          <p:cNvPr id="13" name="Rectangle 12"/>
          <p:cNvSpPr/>
          <p:nvPr/>
        </p:nvSpPr>
        <p:spPr>
          <a:xfrm>
            <a:off x="8138160" y="1280160"/>
            <a:ext cx="3749039"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280160"/>
            <a:ext cx="3749039" cy="457200"/>
          </a:xfrm>
          <a:prstGeom prst="rect">
            <a:avLst/>
          </a:prstGeom>
          <a:solidFill>
            <a:srgbClr val="00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280160"/>
            <a:ext cx="3566160" cy="457200"/>
          </a:xfrm>
          <a:prstGeom prst="rect">
            <a:avLst/>
          </a:prstGeom>
          <a:noFill/>
        </p:spPr>
        <p:txBody>
          <a:bodyPr wrap="square">
            <a:spAutoFit/>
          </a:bodyPr>
          <a:lstStyle/>
          <a:p>
            <a:pPr algn="ctr">
              <a:defRPr sz="1100" b="1">
                <a:solidFill>
                  <a:srgbClr val="FFFFFF"/>
                </a:solidFill>
                <a:latin typeface="Calibri"/>
              </a:defRPr>
            </a:pPr>
            <a:r>
              <a:t>STRATEGIC (7-30 DAYS) – CULTURE FIX</a:t>
            </a:r>
          </a:p>
        </p:txBody>
      </p:sp>
      <p:sp>
        <p:nvSpPr>
          <p:cNvPr id="16" name="TextBox 15"/>
          <p:cNvSpPr txBox="1"/>
          <p:nvPr/>
        </p:nvSpPr>
        <p:spPr>
          <a:xfrm>
            <a:off x="8229600" y="1828800"/>
            <a:ext cx="3566160" cy="3474720"/>
          </a:xfrm>
          <a:prstGeom prst="rect">
            <a:avLst/>
          </a:prstGeom>
          <a:noFill/>
        </p:spPr>
        <p:txBody>
          <a:bodyPr wrap="square">
            <a:spAutoFit/>
          </a:bodyPr>
          <a:lstStyle/>
          <a:p>
            <a:pPr algn="l">
              <a:defRPr sz="1000" b="0">
                <a:solidFill>
                  <a:srgbClr val="082430"/>
                </a:solidFill>
                <a:latin typeface="Calibri"/>
              </a:defRPr>
            </a:pPr>
            <a:r>
              <a:t>• Contractual Enforcement: Implement penalty matrix linked to EHS KPIs (TRIR, NCR closure, PTW compliance)</a:t>
            </a:r>
            <a:br/>
            <a:br/>
            <a:r>
              <a:t>• Leadership Accountability: Replace non-performing supervisors – competency assessment required</a:t>
            </a:r>
            <a:br/>
            <a:br/>
            <a:r>
              <a:t>• System Upgrade: QR/Biometric induction tracking + digital PTW system + equipment checklist app</a:t>
            </a:r>
            <a:br/>
            <a:br/>
            <a:r>
              <a:t>• KPI &amp; Scorecard: Weekly EHS compliance dashboard to Top Management – Red/Amber/Green rating</a:t>
            </a:r>
            <a:br/>
            <a:br/>
            <a:r>
              <a:t>• Independent Audit: 3rd party EHS audit of subcontractor management system</a:t>
            </a:r>
            <a:br/>
            <a:br/>
            <a:r>
              <a:t>• Zero Harm Commitment: Re-sign Life Saving Rules – Subcontractor Top Management</a:t>
            </a:r>
            <a:br/>
            <a:br/>
            <a:r>
              <a:t>• Contingency: Prepare demobilization / replacement plan if no sustained improvement</a:t>
            </a:r>
            <a:br/>
            <a:br/>
            <a:r>
              <a:t>• Decision Required: Authorize contractual action up to partial termination if critical violations recur</a:t>
            </a:r>
          </a:p>
        </p:txBody>
      </p:sp>
      <p:sp>
        <p:nvSpPr>
          <p:cNvPr id="17" name="Rectangle 16"/>
          <p:cNvSpPr/>
          <p:nvPr/>
        </p:nvSpPr>
        <p:spPr>
          <a:xfrm>
            <a:off x="274320" y="5577840"/>
            <a:ext cx="11612880" cy="1005840"/>
          </a:xfrm>
          <a:prstGeom prst="rect">
            <a:avLst/>
          </a:prstGeom>
          <a:solidFill>
            <a:srgbClr val="143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5623560"/>
            <a:ext cx="11430000" cy="228600"/>
          </a:xfrm>
          <a:prstGeom prst="rect">
            <a:avLst/>
          </a:prstGeom>
          <a:noFill/>
        </p:spPr>
        <p:txBody>
          <a:bodyPr wrap="square">
            <a:spAutoFit/>
          </a:bodyPr>
          <a:lstStyle/>
          <a:p>
            <a:pPr algn="l">
              <a:defRPr sz="1100" b="1">
                <a:solidFill>
                  <a:srgbClr val="FFB900"/>
                </a:solidFill>
                <a:latin typeface="Calibri"/>
              </a:defRPr>
            </a:pPr>
            <a:r>
              <a:t>MANAGEMENT DECISION MATRIX – REQUIRED TODAY</a:t>
            </a:r>
          </a:p>
        </p:txBody>
      </p:sp>
      <p:sp>
        <p:nvSpPr>
          <p:cNvPr id="19" name="TextBox 18"/>
          <p:cNvSpPr txBox="1"/>
          <p:nvPr/>
        </p:nvSpPr>
        <p:spPr>
          <a:xfrm>
            <a:off x="365760" y="5852160"/>
            <a:ext cx="11430000" cy="640080"/>
          </a:xfrm>
          <a:prstGeom prst="rect">
            <a:avLst/>
          </a:prstGeom>
          <a:noFill/>
        </p:spPr>
        <p:txBody>
          <a:bodyPr wrap="square">
            <a:spAutoFit/>
          </a:bodyPr>
          <a:lstStyle/>
          <a:p>
            <a:pPr algn="l">
              <a:defRPr sz="1000" b="0">
                <a:solidFill>
                  <a:srgbClr val="FFFFFF"/>
                </a:solidFill>
                <a:latin typeface="Calibri"/>
              </a:defRPr>
            </a:pPr>
            <a:r>
              <a:t>1. Approve IMMEDIATE Stop-Work Authority to EHS for Critical Violations  |  2. Authorize Formal Contractual Warning &amp; Penalty Enforcement  |  3. Mandate Subcontractor Top Management Presence On-Site within 48h  |  4. Approve Budget for Additional EHS Controls (Bunded Storage, Signage, Barricades) – Back-charge to Subcontractor  |  5. Endorse Zero Tolerance Policy: 3 Strikes = Removal – Communicate in Townhall</a:t>
            </a:r>
          </a:p>
        </p:txBody>
      </p:sp>
      <p:sp>
        <p:nvSpPr>
          <p:cNvPr id="20" name="TextBox 19"/>
          <p:cNvSpPr txBox="1"/>
          <p:nvPr/>
        </p:nvSpPr>
        <p:spPr>
          <a:xfrm>
            <a:off x="274320" y="6629400"/>
            <a:ext cx="11612880" cy="182880"/>
          </a:xfrm>
          <a:prstGeom prst="rect">
            <a:avLst/>
          </a:prstGeom>
          <a:noFill/>
        </p:spPr>
        <p:txBody>
          <a:bodyPr wrap="square">
            <a:spAutoFit/>
          </a:bodyPr>
          <a:lstStyle/>
          <a:p>
            <a:pPr algn="l">
              <a:defRPr sz="750" b="0">
                <a:solidFill>
                  <a:srgbClr val="CCCCCC"/>
                </a:solidFill>
                <a:latin typeface="Calibri"/>
              </a:defRPr>
            </a:pPr>
            <a:r>
              <a:t>Visual: Use Siemens Energy corporate template – Deep Petrol #0E2F3E background, White cards for readability, Red for Immediate, Amber for Short-Term, Teal for Strategic. Add icons: Stop Hand, Training, Contract, Audit. Animate columns sequentially. End with 'Zero Harm is Non-Negotiable' tagline in Teal Light.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