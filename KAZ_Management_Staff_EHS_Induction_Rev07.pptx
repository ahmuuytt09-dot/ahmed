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5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311" r:id="rId62"/>
    <p:sldId id="312" r:id="rId63"/>
    <p:sldId id="313" r:id="rId64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316" r:id="rId67"/>
    <p:sldId id="272" r:id="rId18"/>
    <p:sldId id="273" r:id="rId19"/>
    <p:sldId id="274" r:id="rId20"/>
    <p:sldId id="275" r:id="rId21"/>
    <p:sldId id="276" r:id="rId22"/>
    <p:sldId id="317" r:id="rId68"/>
    <p:sldId id="314" r:id="rId65"/>
    <p:sldId id="277" r:id="rId23"/>
    <p:sldId id="278" r:id="rId24"/>
    <p:sldId id="279" r:id="rId25"/>
    <p:sldId id="280" r:id="rId26"/>
    <p:sldId id="281" r:id="rId27"/>
    <p:sldId id="318" r:id="rId69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15" r:id="rId66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90" d="100"/>
          <a:sy n="90" d="100"/>
        </p:scale>
        <p:origin x="370" y="6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3.xml"/><Relationship Id="rId12" Type="http://schemas.openxmlformats.org/officeDocument/2006/relationships/slide" Target="slides/slide14.xml"/><Relationship Id="rId13" Type="http://schemas.openxmlformats.org/officeDocument/2006/relationships/slide" Target="slides/slide15.xml"/><Relationship Id="rId14" Type="http://schemas.openxmlformats.org/officeDocument/2006/relationships/slide" Target="slides/slide16.xml"/><Relationship Id="rId15" Type="http://schemas.openxmlformats.org/officeDocument/2006/relationships/slide" Target="slides/slide17.xml"/><Relationship Id="rId16" Type="http://schemas.openxmlformats.org/officeDocument/2006/relationships/slide" Target="slides/slide18.xml"/><Relationship Id="rId17" Type="http://schemas.openxmlformats.org/officeDocument/2006/relationships/slide" Target="slides/slide19.xml"/><Relationship Id="rId18" Type="http://schemas.openxmlformats.org/officeDocument/2006/relationships/slide" Target="slides/slide21.xml"/><Relationship Id="rId19" Type="http://schemas.openxmlformats.org/officeDocument/2006/relationships/slide" Target="slides/slide22.xml"/><Relationship Id="rId20" Type="http://schemas.openxmlformats.org/officeDocument/2006/relationships/slide" Target="slides/slide23.xml"/><Relationship Id="rId21" Type="http://schemas.openxmlformats.org/officeDocument/2006/relationships/slide" Target="slides/slide24.xml"/><Relationship Id="rId22" Type="http://schemas.openxmlformats.org/officeDocument/2006/relationships/slide" Target="slides/slide25.xml"/><Relationship Id="rId23" Type="http://schemas.openxmlformats.org/officeDocument/2006/relationships/slide" Target="slides/slide28.xml"/><Relationship Id="rId24" Type="http://schemas.openxmlformats.org/officeDocument/2006/relationships/slide" Target="slides/slide29.xml"/><Relationship Id="rId25" Type="http://schemas.openxmlformats.org/officeDocument/2006/relationships/slide" Target="slides/slide30.xml"/><Relationship Id="rId26" Type="http://schemas.openxmlformats.org/officeDocument/2006/relationships/slide" Target="slides/slide31.xml"/><Relationship Id="rId27" Type="http://schemas.openxmlformats.org/officeDocument/2006/relationships/slide" Target="slides/slide32.xml"/><Relationship Id="rId28" Type="http://schemas.openxmlformats.org/officeDocument/2006/relationships/slide" Target="slides/slide34.xml"/><Relationship Id="rId29" Type="http://schemas.openxmlformats.org/officeDocument/2006/relationships/slide" Target="slides/slide35.xml"/><Relationship Id="rId30" Type="http://schemas.openxmlformats.org/officeDocument/2006/relationships/slide" Target="slides/slide36.xml"/><Relationship Id="rId31" Type="http://schemas.openxmlformats.org/officeDocument/2006/relationships/slide" Target="slides/slide37.xml"/><Relationship Id="rId32" Type="http://schemas.openxmlformats.org/officeDocument/2006/relationships/slide" Target="slides/slide38.xml"/><Relationship Id="rId33" Type="http://schemas.openxmlformats.org/officeDocument/2006/relationships/slide" Target="slides/slide39.xml"/><Relationship Id="rId34" Type="http://schemas.openxmlformats.org/officeDocument/2006/relationships/slide" Target="slides/slide40.xml"/><Relationship Id="rId35" Type="http://schemas.openxmlformats.org/officeDocument/2006/relationships/slide" Target="slides/slide41.xml"/><Relationship Id="rId36" Type="http://schemas.openxmlformats.org/officeDocument/2006/relationships/slide" Target="slides/slide42.xml"/><Relationship Id="rId37" Type="http://schemas.openxmlformats.org/officeDocument/2006/relationships/slide" Target="slides/slide43.xml"/><Relationship Id="rId38" Type="http://schemas.openxmlformats.org/officeDocument/2006/relationships/slide" Target="slides/slide44.xml"/><Relationship Id="rId39" Type="http://schemas.openxmlformats.org/officeDocument/2006/relationships/slide" Target="slides/slide45.xml"/><Relationship Id="rId40" Type="http://schemas.openxmlformats.org/officeDocument/2006/relationships/slide" Target="slides/slide46.xml"/><Relationship Id="rId41" Type="http://schemas.openxmlformats.org/officeDocument/2006/relationships/slide" Target="slides/slide47.xml"/><Relationship Id="rId42" Type="http://schemas.openxmlformats.org/officeDocument/2006/relationships/slide" Target="slides/slide48.xml"/><Relationship Id="rId43" Type="http://schemas.openxmlformats.org/officeDocument/2006/relationships/slide" Target="slides/slide49.xml"/><Relationship Id="rId44" Type="http://schemas.openxmlformats.org/officeDocument/2006/relationships/slide" Target="slides/slide50.xml"/><Relationship Id="rId45" Type="http://schemas.openxmlformats.org/officeDocument/2006/relationships/slide" Target="slides/slide51.xml"/><Relationship Id="rId46" Type="http://schemas.openxmlformats.org/officeDocument/2006/relationships/slide" Target="slides/slide52.xml"/><Relationship Id="rId47" Type="http://schemas.openxmlformats.org/officeDocument/2006/relationships/slide" Target="slides/slide53.xml"/><Relationship Id="rId48" Type="http://schemas.openxmlformats.org/officeDocument/2006/relationships/slide" Target="slides/slide54.xml"/><Relationship Id="rId49" Type="http://schemas.openxmlformats.org/officeDocument/2006/relationships/slide" Target="slides/slide56.xml"/><Relationship Id="rId50" Type="http://schemas.openxmlformats.org/officeDocument/2006/relationships/slide" Target="slides/slide57.xml"/><Relationship Id="rId51" Type="http://schemas.openxmlformats.org/officeDocument/2006/relationships/slide" Target="slides/slide58.xml"/><Relationship Id="rId52" Type="http://schemas.openxmlformats.org/officeDocument/2006/relationships/slide" Target="slides/slide59.xml"/><Relationship Id="rId53" Type="http://schemas.openxmlformats.org/officeDocument/2006/relationships/slide" Target="slides/slide60.xml"/><Relationship Id="rId54" Type="http://schemas.openxmlformats.org/officeDocument/2006/relationships/slide" Target="slides/slide61.xml"/><Relationship Id="rId55" Type="http://schemas.openxmlformats.org/officeDocument/2006/relationships/slide" Target="slides/slide62.xml"/><Relationship Id="rId56" Type="http://schemas.openxmlformats.org/officeDocument/2006/relationships/slide" Target="slides/slide63.xml"/><Relationship Id="rId57" Type="http://schemas.openxmlformats.org/officeDocument/2006/relationships/notesMaster" Target="notesMasters/notesMaster1.xml"/><Relationship Id="rId58" Type="http://schemas.openxmlformats.org/officeDocument/2006/relationships/presProps" Target="presProps.xml"/><Relationship Id="rId59" Type="http://schemas.openxmlformats.org/officeDocument/2006/relationships/viewProps" Target="viewProps.xml"/><Relationship Id="rId60" Type="http://schemas.openxmlformats.org/officeDocument/2006/relationships/theme" Target="theme/theme1.xml"/><Relationship Id="rId61" Type="http://schemas.openxmlformats.org/officeDocument/2006/relationships/tableStyles" Target="tableStyles.xml"/><Relationship Id="rId62" Type="http://schemas.openxmlformats.org/officeDocument/2006/relationships/slide" Target="slides/slide10.xml"/><Relationship Id="rId63" Type="http://schemas.openxmlformats.org/officeDocument/2006/relationships/slide" Target="slides/slide11.xml"/><Relationship Id="rId64" Type="http://schemas.openxmlformats.org/officeDocument/2006/relationships/slide" Target="slides/slide12.xml"/><Relationship Id="rId65" Type="http://schemas.openxmlformats.org/officeDocument/2006/relationships/slide" Target="slides/slide27.xml"/><Relationship Id="rId66" Type="http://schemas.openxmlformats.org/officeDocument/2006/relationships/slide" Target="slides/slide55.xml"/><Relationship Id="rId67" Type="http://schemas.openxmlformats.org/officeDocument/2006/relationships/slide" Target="slides/slide20.xml"/><Relationship Id="rId68" Type="http://schemas.openxmlformats.org/officeDocument/2006/relationships/slide" Target="slides/slide26.xml"/><Relationship Id="rId69" Type="http://schemas.openxmlformats.org/officeDocument/2006/relationships/slide" Target="slides/slide3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701428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0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1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2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3.xml"/></Relationships>
</file>

<file path=ppt/notesSlides/_rels/notesSlide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4.xml"/></Relationships>
</file>

<file path=ppt/notesSlides/_rels/notesSlide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5.xml"/></Relationships>
</file>

<file path=ppt/notesSlides/_rels/notesSlide3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6.xml"/></Relationships>
</file>

<file path=ppt/notesSlides/_rels/notesSlide4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7.xml"/></Relationships>
</file>

<file path=ppt/notesSlides/_rels/notesSlide4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8.xml"/></Relationships>
</file>

<file path=ppt/notesSlides/_rels/notesSlide4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9.xml"/></Relationships>
</file>

<file path=ppt/notesSlides/_rels/notesSlide4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0.xml"/></Relationships>
</file>

<file path=ppt/notesSlides/_rels/notesSlide4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1.xml"/></Relationships>
</file>

<file path=ppt/notesSlides/_rels/notesSlide4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2.xml"/></Relationships>
</file>

<file path=ppt/notesSlides/_rels/notesSlide4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3.xml"/></Relationships>
</file>

<file path=ppt/notesSlides/_rels/notesSlide4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4.xml"/></Relationships>
</file>

<file path=ppt/notesSlides/_rels/notesSlide4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6.xml"/></Relationships>
</file>

<file path=ppt/notesSlides/_rels/notesSlide4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7.xml"/></Relationships>
</file>

<file path=ppt/notesSlides/_rels/notesSlide5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8.xml"/></Relationships>
</file>

<file path=ppt/notesSlides/_rels/notesSlide5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9.xml"/></Relationships>
</file>

<file path=ppt/notesSlides/_rels/notesSlide5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0.xml"/></Relationships>
</file>

<file path=ppt/notesSlides/_rels/notesSlide5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1.xml"/></Relationships>
</file>

<file path=ppt/notesSlides/_rels/notesSlide5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2.xml"/></Relationships>
</file>

<file path=ppt/notesSlides/_rels/notesSlide5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3.xml"/></Relationships>
</file>

<file path=ppt/notesSlides/_rels/notesSlide5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5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5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5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6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5.xml"/></Relationships>
</file>

<file path=ppt/notesSlides/_rels/notesSlide6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6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6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Welcome participants, confirm fire exits and assembly point for the training room, and state that attendance is recorded. Introduce yourself and the EHS team.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Chapter 01 — Introduction and Objectives. How this session runs, what you will learn and what is recorded. This chapter covers: Session format, Learning objectives, Validity, Assessment.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Read the emergency arrangements of the training venue aloud. Confirm the assembly point location and the site emergency line before starting the content.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Walk through the six chapters quickly. Point out that the operators' own rule set is issued separately and that the knowledge check comes at the end.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Link each objective to the participant's own role — managers and staff are expected to lead, verify and coach, not only comply.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Confirm that supervisors will be checked for valid induction, PSI and task certificates. Underline that the card is not a work permit.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Chapter 02 — EHS Leadership and Responsibilities. The Siemens EHS target and who is accountable for what on this site. This chapter covers: Zero Harm, EHS Target, Leadership, Everyone, Contractors.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This is the vision slide. Connect the EHS Plan target to the daily reality: every task planned, every control verified, every person home safely.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Ask the group for one example of intervening on an unsafe act. Reinforce that interventions are expected and will never be penalised.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This is the key audience for this induction. Ask each manager to commit to one visible action within the next 7 days.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Emphasise the duty to report. Remind the group that honest reporting is protected by the just-culture approach: no blame for reporting.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Remind subcontractor managers of the documentation they must keep current; the EHS team audits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Chapter 03 — The Project, the Site and Daily Rules. Where you are working, how the site is organised and the rules that always apply. This chapter covers: Project scope, Site layout, Base camp, EHS organisation, General rules, Stop Work Authority, Risk assessment, Daily routine.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Stress the live-plant context: the greatest single risk on this project is electrical. Every activity needs operational coordination.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Use the actual plot plan from the project drawing set when presenting. Walk the group to their nearest assembly point after the session, if practical.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Insert the current site photograph of the camp and main office before presenting. Camp rules apply at all times; escape routes and extinguishers stay clear; only approved buses and drivers.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Introduce the real people behind each role and their contact numbers. Participants should know who to call for each situation.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Repeat the two absolutes: no permit = no work; no EHS supervision = no work.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Have the site rule list available as a handout. Working hours confirmed by site management: 06:00–15:00 (8 h/day), six days a week. Point out that hours and rest days are monitored.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This is the single most important empowerment message in the deck. Ask each participant to state one situation in which they would stop work.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Explain the difference between RA (planned), SJA (task) and LMRA (moment). Use a real job from the site as the example. The LMRA method and SE form 000480 are explained on the next slide.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Walk through a typical day of a subcontractor crew, step by step, so the routine is concrete.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Chapter 04 — Permit to Work and Electrical Safety. The control system for hazardous work and the rules that keep the plant safe. This chapter covers: Permit to Work, Lock-Out / Tag-Out, Electrical rules, Arc flash, Live plant.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Explain that the permit is a contract between the issuer and the holder. Removing or bypassing a permit condition is a dismissible offence.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Confirmed validities: general cold work and excavation permits 7 days with daily endorsement; ALL other permits (electrical cold, electrical hot &amp; commissioning, LOTO, hot work, lifting, work at height, confined space) are daily / each shift.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Use the isolation certificate and lockbox as physical props if available. Explain the personal lock principle clearly.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This is the highest-risk topic of the project. Slow down here and check understanding with questions.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IMPORTANT for the presenter: insert the values approved by the Siemens Energy EHSMIP and the client before delivering this slide. Generic or imperial values from other sites must not be used — this was a critical finding in the audit of the previous induction.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Explain the difference between our responsibility and the client's operational responsibility, and how both are coordinated daily.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Chapter 05 — High-Risk Activities and Occupational Health. The activities that cause the most serious injuries and how each one is controlled. This chapter covers: Work at height, Lifting, Excavation, Confined space, Hot work, Tools, Manual handling, PPE, Heat stress, First aid.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Ask who has a valid working-at-height certificate. Verify harness inspection records.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Wind limit confirmed by site management: lifting stops at 9.5 m/s. Emphasise exclusion zones, taglines and the banksman as the only signaller. Critical lifts over live plant need an engineered plan.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Highlight that excavations can also be confined spaces depending on risk assessment — but not automatically.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Emphasise the rescue rule: the instinct to help is the biggest killer. Call the rescue team.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Confirmed: fire watch stays 30 minutes after the work ends; minimum 3 extinguishers at the hot work site (more according to the activity). Gas test near flammables is mandatory.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This is a common source of hand injuries. Ask the group which tools are most frequently misused on site.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Tie this to the heat stress session: dehydration and fatigue make manual handling injuries far more likely.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PPE is the last line of defence. Remind everyone that PPE is provided free of charge and damaged PPE must be replaced, not repaired.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WBGT monitoring and the published work/rest cycles apply; monitoring starts above 40 °C ambient. Acclimatisation for new arrivals. Hydration approx. 1.0–1.2 L/hour in high heat. Buddy system on high-risk tasks.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Confirmed: one medic on site, morning (day) shift only. Outside medic hours the emergency line 911 and trained first aiders apply. Nearest hospital: Al-Zubair, about 45 minutes. Do not move casualties; do not touch electric-shock casualties before isolation.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Chapter 06 — Environment, Emergency and Security. Protecting the environment, responding to emergencies, security and the consequences of breaking the rules. This chapter covers: Environment, Waste, Fire, Emergency, Incident reporting, Security, Driving, Penalties.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Explain where spill kits and SDS are kept, and how the electronic substance register is used.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Colour coding confirmed for the site: yellow spill kit, red hazardous, black general, blue paper/cardboard, green glass/recyclable, brown organic. Hazardous waste leaves site only with MOTAT records and a licensed transporter.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Correct the previous deck's error: Class D requires special metal powder, not DCP. Never use water on energised electrical equipment.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Alarm signals and head count: supervisors and EHS take the count at the assembly points; the camp assembly point is inside the camp. Fire wardens sweep their areas. No vehicles during evacuation.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Verbal immediately, written within 24 hours, investigation report within 7 days. A fatality or life-threatening injury is never a locally-managed Level 1/2 event — escalate immediately to the Project Director and client.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Numbers confirmed by site management (Sept 2026): site emergency line 911 (24/7); site medic 07707313604 (day shift only); nearest hospital: Al-Zubair, approx. 45 minutes. Iraqi national numbers: ambulance 122, civil defence 115, police 104. Read the numbers aloud and verify the posted cards weekly.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Give a practical example of a near miss report that prevented an accident. Encourage reporting rather than hiding.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Show one recent lesson learned from the project or from Siemens Energy safety alerts.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Cover the visitor process and the material gate pass. Security incidents follow the same reporting route as EHS incidents.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Adapt the route and rest requirements to the actual Basrah–site conditions. Report all road incidents immediately.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The penalty matrix is aligned with OSHA and NEBOSH best practice and is applied consistently to employees and contractors. Security instruction governs searches and site bans.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Run the check individually, mark it immediately, and retrain anyone below 80% before site access. Keep the answer sheets in the training register.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Collect signatures before participants leave. File the register with the training records.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Close positively, thank the participants, and remind them of the induction card and the acknowledgement signature.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0" name="Notes Placeholder 2"/>
          <p:cNvSpPr>
            <p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This is the corporate EHS Policy (Version 4, December 2024), Annex 1 of SE Standard 000050, signed by the full SE Executive Board — CEO Christian Bruch, CFO Maria Ferraro and the board members. It covers four commitment blocks: the four Zero-Harm principles; protecting people and the environment; embedding the principles through leadership, competent employees and role-modelling; and sustaining the culture through engagement, consultation, partnership with customers and continuous improvement. The full policy text must be displayed in the EHS office and training room. Stress 'Speak up - don't walk by': everyone on this site is empowered to stop unsafe work.</a:t>
            </a:r>
          </a:p>
        </p:txBody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0" name="Notes Placeholder 2"/>
          <p:cNvSpPr>
            <p:spLocks noGrp="1"/>
          </p:cNvSpPr>
          <p:nvPr>
            <p:ph type="body" idx="1"/>
          </p:nvPr>
        </p:nvSpPr>
        <p:spPr/>
        <p:txBody>
          <a:bodyPr/>
          <a:lstStyle/>
          <a:p>
            <a:r>
              <a:t>Explain the governance chain: SE Standard 000050 (V3) defines EHS roles and responsibilities and aligns with the Zero Harm Framework (Standard 000118). The site EHS system mirrors ISO 45001 / ISO 14001. Highlight what reaches the worker: risk assessment before every activity, elimination of life-threatening hazards, Enablon reporting (Standard 000051), competency, emergency preparedness and consultation.</a:t>
            </a:r>
          </a:p>
        </p:txBody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0" name="Notes Placeholder 2"/>
          <p:cNvSpPr>
            <p:spLocks noGrp="1"/>
          </p:cNvSpPr>
          <p:nvPr>
            <p:ph type="body" idx="1"/>
          </p:nvPr>
        </p:nvSpPr>
        <p:spPr/>
        <p:txBody>
          <a:bodyPr/>
          <a:lstStyle/>
          <a:p>
            <a:r>
              <a:t>Walk the responsibility ladder from the Executive Board down to every worker, per SE Standard 000050 section 2. Stress that accountability flows downward but duties exist at every level; temporary and contractor workers carry the same employee duties. Then map the ladder to the KAZ organisation chart on slide 20.</a:t>
            </a:r>
          </a:p>
        </p:txBody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0" name="Notes Placeholder 2"/>
          <p:cNvSpPr>
            <p:spLocks noGrp="1"/>
          </p:cNvSpPr>
          <p:nvPr>
            <p:ph type="body" idx="1"/>
          </p:nvPr>
        </p:nvSpPr>
        <p:spPr/>
        <p:txBody>
          <a:bodyPr/>
          <a:lstStyle/>
          <a:p>
            <a:r>
              <a:t>Based on the SE LMRA form 000480 (V2). Stress the escalation rule: any question that cannot be answered YES or N/A means DO NOT START — state the measures and report to the direct supervisor and the EHS specialist. The form is signed by team leader, workers and client representative. It verifies controls at the workface; it never replaces the RA, SJA or the permit.</a:t>
            </a:r>
          </a:p>
        </p:txBody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0" name="Notes Placeholder 2"/>
          <p:cNvSpPr>
            <p:spLocks noGrp="1"/>
          </p:cNvSpPr>
          <p:nvPr>
            <p:ph type="body" idx="1"/>
          </p:nvPr>
        </p:nvSpPr>
        <p:spPr/>
        <p:txBody>
          <a:bodyPr/>
          <a:lstStyle/>
          <a:p>
            <a:r>
              <a:t>Format follows the Siemens Energy site alarm card. All names and numbers must be the KAZ-specific ones from the Emergency Contacts slide — the reference alarm card in the SIEMENS EHS DOC folder belongs to another (Turkish) project and its data must NOT be used. Verify that a current card is posted at every work area.</a:t>
            </a:r>
          </a:p>
        </p:txBody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1" name="Notes Placeholder 2"/>
          <p:cNvSpPr>
            <p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The model is taken from 'camp Model (21).pdf'. Walk the participants through the facilities: parking area on the left connected by the access road; the muster point is marked 'Master point'; smoking area; offices (SE, MoE &amp; BGC, MIAL engineers); MIAL and laborer restaurants and meeting rooms; workshop shed, containers and steel area; DG beside the toilets; gates at left, right and bottom. Confirm the current layout at site; the site plot plan is posted at the entrance, offices and assembly points (slide 18).</a:t>
            </a:r>
          </a:p>
        </p:txBody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1" name="Notes Placeholder 2"/>
          <p:cNvSpPr>
            <p:spLocks noGrp="1"/>
          </p:cNvSpPr>
          <p:nvPr>
            <p:ph type="body" idx="1"/>
          </p:nvPr>
        </p:nvSpPr>
        <p:spPr/>
        <p:txBody>
          <a:bodyPr/>
          <a:lstStyle/>
          <a:p>
            <a:r>
              <a:t>Walk through the five levels with a site example (e.g. working at height: eliminate by pre-assembling at ground level; substitute; engineering = guardrails and platforms; administrative = permit and TBT; PPE = harness). Stress: PPE is the last line of defence, never the first choice.</a:t>
            </a:r>
          </a:p>
        </p:txBody>
      </p:sp>
    </p:spTree>
  </p:cSld>
  <p:clrMapOvr>
    <a:masterClrMapping/>
  </p:clrMapOvr>
</p:notes>
</file>

<file path=ppt/notesSlides/notesSlide6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1" name="Notes Placeholder 2"/>
          <p:cNvSpPr>
            <p:spLocks noGrp="1"/>
          </p:cNvSpPr>
          <p:nvPr>
            <p:ph type="body" idx="1"/>
          </p:nvPr>
        </p:nvSpPr>
        <p:spPr/>
        <p:txBody>
          <a:bodyPr/>
          <a:lstStyle/>
          <a:p>
            <a:r>
              <a:t>Use this flow every time energy isolation is discussed. Emphasise 'test before touch': prove the tester, prove dead, prove the tester again. A permit expiring never releases an isolation.</a:t>
            </a:r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jpg"/><Relationship Id="rId4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4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4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4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4.png"/><Relationship Id="rId4" Type="http://schemas.openxmlformats.org/officeDocument/2006/relationships/image" Target="../media/image5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4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56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5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58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4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4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4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3.png"/><Relationship Id="rId4" Type="http://schemas.openxmlformats.org/officeDocument/2006/relationships/image" Target="../media/image20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4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4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4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19.png"/><Relationship Id="rId4" Type="http://schemas.openxmlformats.org/officeDocument/2006/relationships/notesSlide" Target="../notesSlides/notesSlide61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4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4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4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4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4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62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59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4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3.png"/><Relationship Id="rId4" Type="http://schemas.openxmlformats.org/officeDocument/2006/relationships/image" Target="../media/image21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4.png"/><Relationship Id="rId4" Type="http://schemas.openxmlformats.org/officeDocument/2006/relationships/image" Target="../media/image6.jp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4.pn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4.pn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63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4.png"/><Relationship Id="rId4" Type="http://schemas.openxmlformats.org/officeDocument/2006/relationships/image" Target="../media/image7.jpg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4.png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4.png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3.png"/><Relationship Id="rId4" Type="http://schemas.openxmlformats.org/officeDocument/2006/relationships/image" Target="../media/image22.png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4.png"/><Relationship Id="rId4" Type="http://schemas.openxmlformats.org/officeDocument/2006/relationships/image" Target="../media/image8.jpg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4.png"/><Relationship Id="rId4" Type="http://schemas.openxmlformats.org/officeDocument/2006/relationships/image" Target="../media/image9.jpg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4.png"/><Relationship Id="rId4" Type="http://schemas.openxmlformats.org/officeDocument/2006/relationships/image" Target="../media/image10.jpg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4.png"/><Relationship Id="rId4" Type="http://schemas.openxmlformats.org/officeDocument/2006/relationships/image" Target="../media/image11.jpg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5.xml"/><Relationship Id="rId3" Type="http://schemas.openxmlformats.org/officeDocument/2006/relationships/image" Target="../media/image4.png"/><Relationship Id="rId4" Type="http://schemas.openxmlformats.org/officeDocument/2006/relationships/image" Target="../media/image12.jpg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6.xml"/><Relationship Id="rId3" Type="http://schemas.openxmlformats.org/officeDocument/2006/relationships/image" Target="../media/image4.png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7.xml"/><Relationship Id="rId3" Type="http://schemas.openxmlformats.org/officeDocument/2006/relationships/image" Target="../media/image4.png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8.xml"/><Relationship Id="rId3" Type="http://schemas.openxmlformats.org/officeDocument/2006/relationships/image" Target="../media/image4.png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9.xml"/><Relationship Id="rId3" Type="http://schemas.openxmlformats.org/officeDocument/2006/relationships/image" Target="../media/image4.png"/><Relationship Id="rId4" Type="http://schemas.openxmlformats.org/officeDocument/2006/relationships/image" Target="../media/image13.jpg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0.xml"/><Relationship Id="rId3" Type="http://schemas.openxmlformats.org/officeDocument/2006/relationships/image" Target="../media/image4.png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1.xml"/><Relationship Id="rId3" Type="http://schemas.openxmlformats.org/officeDocument/2006/relationships/image" Target="../media/image3.png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2.xml"/><Relationship Id="rId3" Type="http://schemas.openxmlformats.org/officeDocument/2006/relationships/image" Target="../media/image4.png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3.xml"/><Relationship Id="rId3" Type="http://schemas.openxmlformats.org/officeDocument/2006/relationships/image" Target="../media/image4.png"/><Relationship Id="rId4" Type="http://schemas.openxmlformats.org/officeDocument/2006/relationships/image" Target="../media/image14.jpg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4.xml"/><Relationship Id="rId3" Type="http://schemas.openxmlformats.org/officeDocument/2006/relationships/image" Target="../media/image4.png"/><Relationship Id="rId4" Type="http://schemas.openxmlformats.org/officeDocument/2006/relationships/image" Target="../media/image15.jpg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5.xml"/><Relationship Id="rId3" Type="http://schemas.openxmlformats.org/officeDocument/2006/relationships/image" Target="../media/image4.png"/><Relationship Id="rId4" Type="http://schemas.openxmlformats.org/officeDocument/2006/relationships/image" Target="../media/image16.jpg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6.xml"/><Relationship Id="rId3" Type="http://schemas.openxmlformats.org/officeDocument/2006/relationships/image" Target="../media/image4.png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7.xml"/><Relationship Id="rId3" Type="http://schemas.openxmlformats.org/officeDocument/2006/relationships/image" Target="../media/image4.png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60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8.xml"/><Relationship Id="rId3" Type="http://schemas.openxmlformats.org/officeDocument/2006/relationships/image" Target="../media/image4.png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9.xml"/><Relationship Id="rId3" Type="http://schemas.openxmlformats.org/officeDocument/2006/relationships/image" Target="../media/image4.png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0.xml"/><Relationship Id="rId3" Type="http://schemas.openxmlformats.org/officeDocument/2006/relationships/image" Target="../media/image4.png"/><Relationship Id="rId4" Type="http://schemas.openxmlformats.org/officeDocument/2006/relationships/image" Target="../media/image17.jpg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1.xml"/><Relationship Id="rId3" Type="http://schemas.openxmlformats.org/officeDocument/2006/relationships/image" Target="../media/image4.png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2.xml"/><Relationship Id="rId3" Type="http://schemas.openxmlformats.org/officeDocument/2006/relationships/image" Target="../media/image4.png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3.xml"/><Relationship Id="rId3" Type="http://schemas.openxmlformats.org/officeDocument/2006/relationships/image" Target="../media/image4.png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4.xml"/><Relationship Id="rId3" Type="http://schemas.openxmlformats.org/officeDocument/2006/relationships/image" Target="../media/image4.png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5.xml"/><Relationship Id="rId3" Type="http://schemas.openxmlformats.org/officeDocument/2006/relationships/image" Target="../media/image1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01_cover_switchyard_960x540_rgb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0099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8483600" y="279400"/>
            <a:ext cx="3403600" cy="1117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pic>
        <p:nvPicPr>
          <p:cNvPr id="5" name="Picture 4" descr="siemens_energy_252x76_rgb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85200" y="355600"/>
            <a:ext cx="3200400" cy="96520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914400" y="3581400"/>
            <a:ext cx="1219200" cy="50800"/>
          </a:xfrm>
          <a:prstGeom prst="rect">
            <a:avLst/>
          </a:prstGeom>
          <a:solidFill>
            <a:srgbClr val="0099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14400" y="3810000"/>
            <a:ext cx="10363200" cy="6070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800" b="1" i="0">
                <a:solidFill>
                  <a:srgbClr val="FFFFFF"/>
                </a:solidFill>
                <a:latin typeface="Calibri"/>
              </a:rPr>
              <a:t>Management &amp; Staff EHS Induction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4493260"/>
            <a:ext cx="10363200" cy="330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0" i="0">
                <a:solidFill>
                  <a:srgbClr val="9FD8D8"/>
                </a:solidFill>
                <a:latin typeface="Calibri"/>
              </a:rPr>
              <a:t>KAZ Power Plant Upgrade Project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874260"/>
            <a:ext cx="10363200" cy="254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C9D4DE"/>
                </a:solidFill>
                <a:latin typeface="Calibri"/>
              </a:rPr>
              <a:t>Khor Al-Zubair Gas Turbine Power Plant · Basrah, Iraq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153660"/>
            <a:ext cx="10363200" cy="254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C9D4DE"/>
                </a:solidFill>
                <a:latin typeface="Calibri"/>
              </a:rPr>
              <a:t>Client: Ministry of Electricity (MoE) &amp; Basrah Gas Company (BGC)   ·   Principal Contractor: Siemens Energy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5420360"/>
            <a:ext cx="10363200" cy="254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C9D4DE"/>
                </a:solidFill>
                <a:latin typeface="Calibri"/>
              </a:rPr>
              <a:t>Subcontractor: Al-Mial Company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14400" y="5791200"/>
            <a:ext cx="10363200" cy="431800"/>
          </a:xfrm>
          <a:prstGeom prst="rect">
            <a:avLst/>
          </a:prstGeom>
          <a:solidFill>
            <a:srgbClr val="122A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914400" y="5791200"/>
            <a:ext cx="50800" cy="431800"/>
          </a:xfrm>
          <a:prstGeom prst="rect">
            <a:avLst/>
          </a:prstGeom>
          <a:solidFill>
            <a:srgbClr val="0099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092200" y="5892800"/>
            <a:ext cx="10033000" cy="254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FFFFFF"/>
                </a:solidFill>
                <a:latin typeface="Calibri"/>
              </a:rPr>
              <a:t>Prepared by: Ahmed Al-Mansoury | EHS Manager – Siemens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6375400"/>
            <a:ext cx="63500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9AADBE"/>
                </a:solidFill>
                <a:latin typeface="Calibri"/>
              </a:rPr>
              <a:t>KAZ-EHS-IND-001 · Rev. 07 · For review and approval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50000" y="6375400"/>
            <a:ext cx="49276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750" b="0" i="0">
                <a:solidFill>
                  <a:srgbClr val="9AADBE"/>
                </a:solidFill>
                <a:latin typeface="Calibri"/>
              </a:rPr>
              <a:t>Restricted · © Siemens Energy · Siemens Energy is a trademark licensed by Siemens AG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226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0099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76200"/>
            <a:ext cx="76200" cy="6781800"/>
          </a:xfrm>
          <a:prstGeom prst="rect">
            <a:avLst/>
          </a:prstGeom>
          <a:solidFill>
            <a:srgbClr val="0099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8585200" y="304800"/>
            <a:ext cx="3302000" cy="1041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pic>
        <p:nvPicPr>
          <p:cNvPr id="6" name="Picture 5" descr="siemens_energy_244x74_rgb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6800" y="381000"/>
            <a:ext cx="3098800" cy="9398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219200" y="1625600"/>
            <a:ext cx="3810000" cy="1905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0" b="1" i="0">
                <a:solidFill>
                  <a:srgbClr val="183851"/>
                </a:solidFill>
                <a:latin typeface="Calibri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19200" y="3632200"/>
            <a:ext cx="9652000" cy="523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200" b="1" i="0">
                <a:solidFill>
                  <a:srgbClr val="FFFFFF"/>
                </a:solidFill>
                <a:latin typeface="Calibri"/>
              </a:rPr>
              <a:t>Introduction and Objectives</a:t>
            </a:r>
          </a:p>
        </p:txBody>
      </p:sp>
      <p:sp>
        <p:nvSpPr>
          <p:cNvPr id="9" name="Rectangle 8"/>
          <p:cNvSpPr/>
          <p:nvPr/>
        </p:nvSpPr>
        <p:spPr>
          <a:xfrm>
            <a:off x="1219200" y="4267200"/>
            <a:ext cx="1219200" cy="38100"/>
          </a:xfrm>
          <a:prstGeom prst="rect">
            <a:avLst/>
          </a:prstGeom>
          <a:solidFill>
            <a:srgbClr val="0099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219200" y="4470400"/>
            <a:ext cx="9144000" cy="6583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0" i="0">
                <a:solidFill>
                  <a:srgbClr val="9FD8D8"/>
                </a:solidFill>
                <a:latin typeface="Calibri"/>
              </a:rPr>
              <a:t>How this session runs, what you will learn and what is recorded.</a:t>
            </a:r>
          </a:p>
          <a:p>
            <a:pPr algn="r" rtl="1"/>
            <a:r>
              <a:rPr sz="1300">
                <a:solidFill>
                  <a:srgbClr val="333F4C"/>
                </a:solidFill>
                <a:latin typeface="Calibri"/>
              </a:rPr>
              <a:t>كيف تسير الجلسة، ماذا ستتعلم، وماذا يُسجَّل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19200" y="5440680"/>
            <a:ext cx="9906000" cy="584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150" b="0" i="0">
                <a:solidFill>
                  <a:srgbClr val="8FA8BC"/>
                </a:solidFill>
                <a:latin typeface="Calibri"/>
              </a:rPr>
              <a:t>Session format  ·  Learning objectives  ·  Validity  ·  Assessment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19200" y="5943600"/>
            <a:ext cx="6350000" cy="254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C8399"/>
                </a:solidFill>
                <a:latin typeface="Calibri"/>
              </a:rPr>
              <a:t>KAZ-EHS-IND-001 · Rev. 07 · Restricted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20000" y="5943600"/>
            <a:ext cx="3505200" cy="254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C8399"/>
                </a:solidFill>
                <a:latin typeface="Calibri"/>
              </a:rPr>
              <a:t>Slide 2 of 63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0099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pic>
        <p:nvPicPr>
          <p:cNvPr id="3" name="Picture 2" descr="siemens_energy_100x31_rgb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07600" y="381000"/>
            <a:ext cx="1270000" cy="3937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4400" y="355600"/>
            <a:ext cx="8763000" cy="190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1" i="0">
                <a:solidFill>
                  <a:srgbClr val="009999"/>
                </a:solidFill>
                <a:latin typeface="Calibri"/>
              </a:rPr>
              <a:t>CHAPTER 01  ·  INTRODUCTION AND OBJECTIVES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584200"/>
            <a:ext cx="8890000" cy="47053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700" b="1" i="0">
                <a:solidFill>
                  <a:srgbClr val="12263A"/>
                </a:solidFill>
                <a:latin typeface="Calibri"/>
              </a:rPr>
              <a:t>How This Session Runs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092834"/>
            <a:ext cx="8890000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 i="0">
                <a:solidFill>
                  <a:srgbClr val="6B7A88"/>
                </a:solidFill>
                <a:latin typeface="Calibri"/>
              </a:rPr>
              <a:t>🚨 Emergency instructions for the training room</a:t>
            </a:r>
          </a:p>
          <a:p>
            <a:pPr algn="r" rtl="1"/>
            <a:r>
              <a:rPr sz="1200">
                <a:solidFill>
                  <a:srgbClr val="333F4C"/>
                </a:solidFill>
                <a:latin typeface="Calibri"/>
              </a:rPr>
              <a:t>تعليمات الطوارئ لقاعة التدريب — عند سماع الإنذار المستمر اتبع علامات الخروج إلى نقطة التجمع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914400" y="1700784"/>
            <a:ext cx="1219200" cy="0"/>
          </a:xfrm>
          <a:prstGeom prst="line">
            <a:avLst/>
          </a:prstGeom>
          <a:ln w="30480">
            <a:solidFill>
              <a:srgbClr val="00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2133600" y="1709928"/>
            <a:ext cx="9144000" cy="0"/>
          </a:xfrm>
          <a:prstGeom prst="line">
            <a:avLst/>
          </a:prstGeom>
          <a:ln w="11430">
            <a:solidFill>
              <a:srgbClr val="D5DD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914400" y="1755648"/>
            <a:ext cx="2032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1" i="0">
                <a:solidFill>
                  <a:srgbClr val="009999"/>
                </a:solidFill>
                <a:latin typeface="Calibri"/>
              </a:rPr>
              <a:t>▪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7600" y="1755648"/>
            <a:ext cx="10160000" cy="5394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0" i="0">
                <a:solidFill>
                  <a:srgbClr val="333F4C"/>
                </a:solidFill>
                <a:latin typeface="Calibri"/>
              </a:rPr>
              <a:t>If an emergency occurs during this induction: stop, follow the exit signs and go to the nearest assembly point.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350008"/>
            <a:ext cx="2032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1" i="0">
                <a:solidFill>
                  <a:srgbClr val="009999"/>
                </a:solidFill>
                <a:latin typeface="Calibri"/>
              </a:rPr>
              <a:t>▪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17600" y="2350008"/>
            <a:ext cx="10160000" cy="5394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0" i="0">
                <a:solidFill>
                  <a:srgbClr val="333F4C"/>
                </a:solidFill>
                <a:latin typeface="Calibri"/>
              </a:rPr>
              <a:t>Alarm signals: continuous siren = evacuate · intermittent = stand by · all-clear = return to work.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2944368"/>
            <a:ext cx="2032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1" i="0">
                <a:solidFill>
                  <a:srgbClr val="009999"/>
                </a:solidFill>
                <a:latin typeface="Calibri"/>
              </a:rPr>
              <a:t>▪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17600" y="2944368"/>
            <a:ext cx="10160000" cy="2834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0" i="0">
                <a:solidFill>
                  <a:srgbClr val="333F4C"/>
                </a:solidFill>
                <a:latin typeface="Calibri"/>
              </a:rPr>
              <a:t>Mobile phones on silent — keep your phone available for emergencies.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3282696"/>
            <a:ext cx="2032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1" i="0">
                <a:solidFill>
                  <a:srgbClr val="009999"/>
                </a:solidFill>
                <a:latin typeface="Calibri"/>
              </a:rPr>
              <a:t>▪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17600" y="3282696"/>
            <a:ext cx="10160000" cy="5394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0" i="0">
                <a:solidFill>
                  <a:srgbClr val="333F4C"/>
                </a:solidFill>
                <a:latin typeface="Calibri"/>
              </a:rPr>
              <a:t>Smoking is prohibited except in the designated smoking area, and never in red / restricted zones.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3877056"/>
            <a:ext cx="2032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1" i="0">
                <a:solidFill>
                  <a:srgbClr val="009999"/>
                </a:solidFill>
                <a:latin typeface="Calibri"/>
              </a:rPr>
              <a:t>▪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7600" y="3877056"/>
            <a:ext cx="10160000" cy="2834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0" i="0">
                <a:solidFill>
                  <a:srgbClr val="333F4C"/>
                </a:solidFill>
                <a:latin typeface="Calibri"/>
              </a:rPr>
              <a:t>Duration: approx. 90 minutes, including the knowledge check and questions.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4244340"/>
            <a:ext cx="10363200" cy="26479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1" i="0">
                <a:solidFill>
                  <a:srgbClr val="52177A"/>
                </a:solidFill>
                <a:latin typeface="Calibri"/>
              </a:rPr>
              <a:t>Emergency numbers are on slide 54 — know them before you leave this room.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914400" y="6350000"/>
            <a:ext cx="330200" cy="0"/>
          </a:xfrm>
          <a:prstGeom prst="line">
            <a:avLst/>
          </a:prstGeom>
          <a:ln w="30480">
            <a:solidFill>
              <a:srgbClr val="00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1244600" y="6350000"/>
            <a:ext cx="10033000" cy="0"/>
          </a:xfrm>
          <a:prstGeom prst="line">
            <a:avLst/>
          </a:prstGeom>
          <a:ln w="10160">
            <a:solidFill>
              <a:srgbClr val="D5DD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914400" y="6451600"/>
            <a:ext cx="54610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 i="0">
                <a:solidFill>
                  <a:srgbClr val="6B7A88"/>
                </a:solidFill>
                <a:latin typeface="Calibri"/>
              </a:rPr>
              <a:t>KAZ-EHS-IND-001 · Rev. 07 · Management &amp; Staff EHS Induction · Restricted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334000" y="6451600"/>
            <a:ext cx="41910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850" b="0" i="0">
                <a:solidFill>
                  <a:srgbClr val="6B7A88"/>
                </a:solidFill>
                <a:latin typeface="Calibri"/>
              </a:rPr>
              <a:t>01 · Introduction and Objectives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890000" y="6451600"/>
            <a:ext cx="23876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50" b="0" i="0">
                <a:solidFill>
                  <a:srgbClr val="6B7A88"/>
                </a:solidFill>
                <a:latin typeface="Calibri"/>
              </a:rPr>
              <a:t>Slide 3 of 63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0099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pic>
        <p:nvPicPr>
          <p:cNvPr id="3" name="Picture 2" descr="siemens_energy_100x31_rgb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07600" y="381000"/>
            <a:ext cx="1270000" cy="3937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4400" y="355600"/>
            <a:ext cx="8763000" cy="190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1" i="0">
                <a:solidFill>
                  <a:srgbClr val="009999"/>
                </a:solidFill>
                <a:latin typeface="Calibri"/>
              </a:rPr>
              <a:t>COURSE STRUCTURE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584200"/>
            <a:ext cx="8890000" cy="431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i="0">
                <a:solidFill>
                  <a:srgbClr val="12263A"/>
                </a:solidFill>
                <a:latin typeface="Calibri"/>
              </a:rPr>
              <a:t>Contents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066800"/>
            <a:ext cx="8890000" cy="279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 i="0">
                <a:solidFill>
                  <a:srgbClr val="6B7A88"/>
                </a:solidFill>
                <a:latin typeface="Calibri"/>
              </a:rPr>
              <a:t>Six chapters — about 90 minutes, including the knowledge check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914400" y="1422400"/>
            <a:ext cx="1219200" cy="0"/>
          </a:xfrm>
          <a:prstGeom prst="line">
            <a:avLst/>
          </a:prstGeom>
          <a:ln w="30480">
            <a:solidFill>
              <a:srgbClr val="00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2133600" y="1433830"/>
            <a:ext cx="9144000" cy="0"/>
          </a:xfrm>
          <a:prstGeom prst="line">
            <a:avLst/>
          </a:prstGeom>
          <a:ln w="11430">
            <a:solidFill>
              <a:srgbClr val="D5DD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ctangle 8"/>
          <p:cNvSpPr/>
          <p:nvPr/>
        </p:nvSpPr>
        <p:spPr>
          <a:xfrm>
            <a:off x="914400" y="1752600"/>
            <a:ext cx="5067300" cy="1329266"/>
          </a:xfrm>
          <a:prstGeom prst="rect">
            <a:avLst/>
          </a:prstGeom>
          <a:solidFill>
            <a:srgbClr val="F4F7FA"/>
          </a:solidFill>
          <a:ln w="11430">
            <a:solidFill>
              <a:srgbClr val="D5DD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914400" y="1752600"/>
            <a:ext cx="44450" cy="1329266"/>
          </a:xfrm>
          <a:prstGeom prst="rect">
            <a:avLst/>
          </a:prstGeom>
          <a:solidFill>
            <a:srgbClr val="0099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117600" y="1917700"/>
            <a:ext cx="558800" cy="330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1" i="0">
                <a:solidFill>
                  <a:srgbClr val="009999"/>
                </a:solidFill>
                <a:latin typeface="Calibri"/>
              </a:rPr>
              <a:t>01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701800" y="1917700"/>
            <a:ext cx="4076700" cy="2413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1" i="0">
                <a:solidFill>
                  <a:srgbClr val="12263A"/>
                </a:solidFill>
                <a:latin typeface="Calibri"/>
              </a:rPr>
              <a:t>Introduction and Objectives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701800" y="2247900"/>
            <a:ext cx="4076700" cy="73236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950" b="0" i="0">
                <a:solidFill>
                  <a:srgbClr val="6B7A88"/>
                </a:solidFill>
                <a:latin typeface="Calibri"/>
              </a:rPr>
              <a:t>How this session runs, what you will learn and what is recorded.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10300" y="1752600"/>
            <a:ext cx="5067300" cy="1329266"/>
          </a:xfrm>
          <a:prstGeom prst="rect">
            <a:avLst/>
          </a:prstGeom>
          <a:solidFill>
            <a:srgbClr val="F4F7FA"/>
          </a:solidFill>
          <a:ln w="11430">
            <a:solidFill>
              <a:srgbClr val="D5DD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6210300" y="1752600"/>
            <a:ext cx="44450" cy="1329266"/>
          </a:xfrm>
          <a:prstGeom prst="rect">
            <a:avLst/>
          </a:prstGeom>
          <a:solidFill>
            <a:srgbClr val="0099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413500" y="1917700"/>
            <a:ext cx="558800" cy="330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1" i="0">
                <a:solidFill>
                  <a:srgbClr val="009999"/>
                </a:solidFill>
                <a:latin typeface="Calibri"/>
              </a:rPr>
              <a:t>02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997700" y="1917700"/>
            <a:ext cx="4076700" cy="2413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1" i="0">
                <a:solidFill>
                  <a:srgbClr val="12263A"/>
                </a:solidFill>
                <a:latin typeface="Calibri"/>
              </a:rPr>
              <a:t>EHS Leadership and Responsibilities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997700" y="2247900"/>
            <a:ext cx="4076700" cy="73236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950" b="0" i="0">
                <a:solidFill>
                  <a:srgbClr val="6B7A88"/>
                </a:solidFill>
                <a:latin typeface="Calibri"/>
              </a:rPr>
              <a:t>The EHS Policy, the governing Standard and who is accountable for what on this site.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14400" y="3234266"/>
            <a:ext cx="5067300" cy="1329266"/>
          </a:xfrm>
          <a:prstGeom prst="rect">
            <a:avLst/>
          </a:prstGeom>
          <a:solidFill>
            <a:srgbClr val="F4F7FA"/>
          </a:solidFill>
          <a:ln w="11430">
            <a:solidFill>
              <a:srgbClr val="D5DD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914400" y="3234266"/>
            <a:ext cx="44450" cy="1329266"/>
          </a:xfrm>
          <a:prstGeom prst="rect">
            <a:avLst/>
          </a:prstGeom>
          <a:solidFill>
            <a:srgbClr val="0099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1117600" y="3399366"/>
            <a:ext cx="558800" cy="330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1" i="0">
                <a:solidFill>
                  <a:srgbClr val="009999"/>
                </a:solidFill>
                <a:latin typeface="Calibri"/>
              </a:rPr>
              <a:t>03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701800" y="3399366"/>
            <a:ext cx="4076700" cy="2413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1" i="0">
                <a:solidFill>
                  <a:srgbClr val="12263A"/>
                </a:solidFill>
                <a:latin typeface="Calibri"/>
              </a:rPr>
              <a:t>The Project, the Site and Daily Rules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701800" y="3729566"/>
            <a:ext cx="4076700" cy="73236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950" b="0" i="0">
                <a:solidFill>
                  <a:srgbClr val="6B7A88"/>
                </a:solidFill>
                <a:latin typeface="Calibri"/>
              </a:rPr>
              <a:t>Where you are working, how the site is organised and the rules that always apply.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210300" y="3234266"/>
            <a:ext cx="5067300" cy="1329266"/>
          </a:xfrm>
          <a:prstGeom prst="rect">
            <a:avLst/>
          </a:prstGeom>
          <a:solidFill>
            <a:srgbClr val="F4F7FA"/>
          </a:solidFill>
          <a:ln w="11430">
            <a:solidFill>
              <a:srgbClr val="D5DD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6210300" y="3234266"/>
            <a:ext cx="44450" cy="1329266"/>
          </a:xfrm>
          <a:prstGeom prst="rect">
            <a:avLst/>
          </a:prstGeom>
          <a:solidFill>
            <a:srgbClr val="0099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6413500" y="3399366"/>
            <a:ext cx="558800" cy="330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1" i="0">
                <a:solidFill>
                  <a:srgbClr val="009999"/>
                </a:solidFill>
                <a:latin typeface="Calibri"/>
              </a:rPr>
              <a:t>04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997700" y="3399366"/>
            <a:ext cx="4076700" cy="2413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1" i="0">
                <a:solidFill>
                  <a:srgbClr val="12263A"/>
                </a:solidFill>
                <a:latin typeface="Calibri"/>
              </a:rPr>
              <a:t>Permit to Work and Electrical Safety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997700" y="3729566"/>
            <a:ext cx="4076700" cy="73236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950" b="0" i="0">
                <a:solidFill>
                  <a:srgbClr val="6B7A88"/>
                </a:solidFill>
                <a:latin typeface="Calibri"/>
              </a:rPr>
              <a:t>The control system for hazardous work and the rules that keep the plant safe.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914400" y="4715933"/>
            <a:ext cx="5067300" cy="1329266"/>
          </a:xfrm>
          <a:prstGeom prst="rect">
            <a:avLst/>
          </a:prstGeom>
          <a:solidFill>
            <a:srgbClr val="F4F7FA"/>
          </a:solidFill>
          <a:ln w="11430">
            <a:solidFill>
              <a:srgbClr val="D5DD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914400" y="4715933"/>
            <a:ext cx="44450" cy="1329266"/>
          </a:xfrm>
          <a:prstGeom prst="rect">
            <a:avLst/>
          </a:prstGeom>
          <a:solidFill>
            <a:srgbClr val="0099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1117600" y="4881033"/>
            <a:ext cx="558800" cy="330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1" i="0">
                <a:solidFill>
                  <a:srgbClr val="009999"/>
                </a:solidFill>
                <a:latin typeface="Calibri"/>
              </a:rPr>
              <a:t>05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701800" y="4881033"/>
            <a:ext cx="4076700" cy="431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1" i="0">
                <a:solidFill>
                  <a:srgbClr val="12263A"/>
                </a:solidFill>
                <a:latin typeface="Calibri"/>
              </a:rPr>
              <a:t>High-Risk Activities and Occupational Health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701800" y="5338233"/>
            <a:ext cx="4076700" cy="60536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950" b="0" i="0">
                <a:solidFill>
                  <a:srgbClr val="6B7A88"/>
                </a:solidFill>
                <a:latin typeface="Calibri"/>
              </a:rPr>
              <a:t>The activities that cause the most serious injuries and how each one is controlled.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210300" y="4715933"/>
            <a:ext cx="5067300" cy="1329266"/>
          </a:xfrm>
          <a:prstGeom prst="rect">
            <a:avLst/>
          </a:prstGeom>
          <a:solidFill>
            <a:srgbClr val="F4F7FA"/>
          </a:solidFill>
          <a:ln w="11430">
            <a:solidFill>
              <a:srgbClr val="D5DD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5" name="Rectangle 34"/>
          <p:cNvSpPr/>
          <p:nvPr/>
        </p:nvSpPr>
        <p:spPr>
          <a:xfrm>
            <a:off x="6210300" y="4715933"/>
            <a:ext cx="44450" cy="1329266"/>
          </a:xfrm>
          <a:prstGeom prst="rect">
            <a:avLst/>
          </a:prstGeom>
          <a:solidFill>
            <a:srgbClr val="0099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6413500" y="4881033"/>
            <a:ext cx="558800" cy="330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1" i="0">
                <a:solidFill>
                  <a:srgbClr val="009999"/>
                </a:solidFill>
                <a:latin typeface="Calibri"/>
              </a:rPr>
              <a:t>06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997700" y="4881033"/>
            <a:ext cx="4076700" cy="2413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1" i="0">
                <a:solidFill>
                  <a:srgbClr val="12263A"/>
                </a:solidFill>
                <a:latin typeface="Calibri"/>
              </a:rPr>
              <a:t>Environment, Emergency and Security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997700" y="5211233"/>
            <a:ext cx="4076700" cy="73236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950" b="0" i="0">
                <a:solidFill>
                  <a:srgbClr val="6B7A88"/>
                </a:solidFill>
                <a:latin typeface="Calibri"/>
              </a:rPr>
              <a:t>Protecting the environment, responding to emergencies, security and the consequences of breaking the rules.</a:t>
            </a:r>
          </a:p>
        </p:txBody>
      </p:sp>
      <p:cxnSp>
        <p:nvCxnSpPr>
          <p:cNvPr id="39" name="Connector 38"/>
          <p:cNvCxnSpPr/>
          <p:nvPr/>
        </p:nvCxnSpPr>
        <p:spPr>
          <a:xfrm>
            <a:off x="914400" y="6350000"/>
            <a:ext cx="330200" cy="0"/>
          </a:xfrm>
          <a:prstGeom prst="line">
            <a:avLst/>
          </a:prstGeom>
          <a:ln w="30480">
            <a:solidFill>
              <a:srgbClr val="00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>
            <a:off x="1244600" y="6350000"/>
            <a:ext cx="10033000" cy="0"/>
          </a:xfrm>
          <a:prstGeom prst="line">
            <a:avLst/>
          </a:prstGeom>
          <a:ln w="10160">
            <a:solidFill>
              <a:srgbClr val="D5DD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TextBox 40"/>
          <p:cNvSpPr txBox="1"/>
          <p:nvPr/>
        </p:nvSpPr>
        <p:spPr>
          <a:xfrm>
            <a:off x="914400" y="6451600"/>
            <a:ext cx="54610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 i="0">
                <a:solidFill>
                  <a:srgbClr val="6B7A88"/>
                </a:solidFill>
                <a:latin typeface="Calibri"/>
              </a:rPr>
              <a:t>KAZ-EHS-IND-001 · Rev. 07 · Management &amp; Staff EHS Induction · Restricted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334000" y="6451600"/>
            <a:ext cx="41910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850" b="0" i="0">
                <a:solidFill>
                  <a:srgbClr val="6B7A88"/>
                </a:solidFill>
                <a:latin typeface="Calibri"/>
              </a:rPr>
              <a:t>01 · Introduction and Objectives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890000" y="6451600"/>
            <a:ext cx="23876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50" b="0" i="0">
                <a:solidFill>
                  <a:srgbClr val="6B7A88"/>
                </a:solidFill>
                <a:latin typeface="Calibri"/>
              </a:rPr>
              <a:t>Slide 4 of 63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0099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pic>
        <p:nvPicPr>
          <p:cNvPr id="3" name="Picture 2" descr="siemens_energy_100x31_rgb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07600" y="381000"/>
            <a:ext cx="1270000" cy="3937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4400" y="355600"/>
            <a:ext cx="8763000" cy="190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1" i="0">
                <a:solidFill>
                  <a:srgbClr val="009999"/>
                </a:solidFill>
                <a:latin typeface="Calibri"/>
              </a:rPr>
              <a:t>CHAPTER 01  ·  INTRODUCTION AND OBJECTIVES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584200"/>
            <a:ext cx="8890000" cy="47053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700" b="1" i="0">
                <a:solidFill>
                  <a:srgbClr val="12263A"/>
                </a:solidFill>
                <a:latin typeface="Calibri"/>
              </a:rPr>
              <a:t>Learning Objectives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092834"/>
            <a:ext cx="8890000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 i="0">
                <a:solidFill>
                  <a:srgbClr val="6B7A88"/>
                </a:solidFill>
                <a:latin typeface="Calibri"/>
              </a:rPr>
              <a:t>🎯 At the end of this induction you will be able to:</a:t>
            </a:r>
          </a:p>
          <a:p>
            <a:pPr algn="r" rtl="1"/>
            <a:r>
              <a:rPr sz="1200">
                <a:solidFill>
                  <a:srgbClr val="333F4C"/>
                </a:solidFill>
                <a:latin typeface="Calibri"/>
              </a:rPr>
              <a:t>أهداف التعلم — ما ستتمكن منه بعد هذه الجلسة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914400" y="1700784"/>
            <a:ext cx="1219200" cy="0"/>
          </a:xfrm>
          <a:prstGeom prst="line">
            <a:avLst/>
          </a:prstGeom>
          <a:ln w="30480">
            <a:solidFill>
              <a:srgbClr val="00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2133600" y="1709928"/>
            <a:ext cx="9144000" cy="0"/>
          </a:xfrm>
          <a:prstGeom prst="line">
            <a:avLst/>
          </a:prstGeom>
          <a:ln w="11430">
            <a:solidFill>
              <a:srgbClr val="D5DD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914400" y="1755648"/>
            <a:ext cx="2032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1" i="0">
                <a:solidFill>
                  <a:srgbClr val="009999"/>
                </a:solidFill>
                <a:latin typeface="Calibri"/>
              </a:rPr>
              <a:t>▪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7600" y="1755648"/>
            <a:ext cx="10160000" cy="5394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0" i="0">
                <a:solidFill>
                  <a:srgbClr val="333F4C"/>
                </a:solidFill>
                <a:latin typeface="Calibri"/>
              </a:rPr>
              <a:t>State the Siemens EHS target and the EHS Policy commitments, and explain what they mean for your work.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350008"/>
            <a:ext cx="2032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1" i="0">
                <a:solidFill>
                  <a:srgbClr val="009999"/>
                </a:solidFill>
                <a:latin typeface="Calibri"/>
              </a:rPr>
              <a:t>▪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17600" y="2350008"/>
            <a:ext cx="10160000" cy="2834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0" i="0">
                <a:solidFill>
                  <a:srgbClr val="333F4C"/>
                </a:solidFill>
                <a:latin typeface="Calibri"/>
              </a:rPr>
              <a:t>Describe your personal responsibilities and the authority you hold to stop unsafe work.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2688336"/>
            <a:ext cx="2032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1" i="0">
                <a:solidFill>
                  <a:srgbClr val="009999"/>
                </a:solidFill>
                <a:latin typeface="Calibri"/>
              </a:rPr>
              <a:t>▪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17600" y="2688336"/>
            <a:ext cx="10160000" cy="2834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0" i="0">
                <a:solidFill>
                  <a:srgbClr val="333F4C"/>
                </a:solidFill>
                <a:latin typeface="Calibri"/>
              </a:rPr>
              <a:t>Apply the general site rules and select the correct PPE for your task.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3026664"/>
            <a:ext cx="2032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1" i="0">
                <a:solidFill>
                  <a:srgbClr val="009999"/>
                </a:solidFill>
                <a:latin typeface="Calibri"/>
              </a:rPr>
              <a:t>▪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17600" y="3026664"/>
            <a:ext cx="10160000" cy="2834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0" i="0">
                <a:solidFill>
                  <a:srgbClr val="333F4C"/>
                </a:solidFill>
                <a:latin typeface="Calibri"/>
              </a:rPr>
              <a:t>Read a risk assessment, complete an LMRA and know when an SJA is required.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3364992"/>
            <a:ext cx="2032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1" i="0">
                <a:solidFill>
                  <a:srgbClr val="009999"/>
                </a:solidFill>
                <a:latin typeface="Calibri"/>
              </a:rPr>
              <a:t>▪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7600" y="3364992"/>
            <a:ext cx="10160000" cy="2834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0" i="0">
                <a:solidFill>
                  <a:srgbClr val="333F4C"/>
                </a:solidFill>
                <a:latin typeface="Calibri"/>
              </a:rPr>
              <a:t>Explain how the Permit to Work and LOTO systems operate on this site.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3703320"/>
            <a:ext cx="2032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1" i="0">
                <a:solidFill>
                  <a:srgbClr val="009999"/>
                </a:solidFill>
                <a:latin typeface="Calibri"/>
              </a:rPr>
              <a:t>▪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17600" y="3703320"/>
            <a:ext cx="10160000" cy="5394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0" i="0">
                <a:solidFill>
                  <a:srgbClr val="333F4C"/>
                </a:solidFill>
                <a:latin typeface="Calibri"/>
              </a:rPr>
              <a:t>Recognise the electrical, height, lifting, excavation, confined-space and hot-work hazards of KAZ.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" y="4297680"/>
            <a:ext cx="2032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1" i="0">
                <a:solidFill>
                  <a:srgbClr val="009999"/>
                </a:solidFill>
                <a:latin typeface="Calibri"/>
              </a:rPr>
              <a:t>▪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17600" y="4297680"/>
            <a:ext cx="10160000" cy="2834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0" i="0">
                <a:solidFill>
                  <a:srgbClr val="333F4C"/>
                </a:solidFill>
                <a:latin typeface="Calibri"/>
              </a:rPr>
              <a:t>Respond correctly to a fire, an emergency, an injury, a spill or a security event.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4400" y="4636008"/>
            <a:ext cx="2032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1" i="0">
                <a:solidFill>
                  <a:srgbClr val="009999"/>
                </a:solidFill>
                <a:latin typeface="Calibri"/>
              </a:rPr>
              <a:t>▪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17600" y="4636008"/>
            <a:ext cx="10160000" cy="2834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0" i="0">
                <a:solidFill>
                  <a:srgbClr val="333F4C"/>
                </a:solidFill>
                <a:latin typeface="Calibri"/>
              </a:rPr>
              <a:t>Report incidents, near misses and unsafe conditions within the required timeframes.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914400" y="6350000"/>
            <a:ext cx="330200" cy="0"/>
          </a:xfrm>
          <a:prstGeom prst="line">
            <a:avLst/>
          </a:prstGeom>
          <a:ln w="30480">
            <a:solidFill>
              <a:srgbClr val="00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1244600" y="6350000"/>
            <a:ext cx="10033000" cy="0"/>
          </a:xfrm>
          <a:prstGeom prst="line">
            <a:avLst/>
          </a:prstGeom>
          <a:ln w="10160">
            <a:solidFill>
              <a:srgbClr val="D5DD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914400" y="6451600"/>
            <a:ext cx="54610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 i="0">
                <a:solidFill>
                  <a:srgbClr val="6B7A88"/>
                </a:solidFill>
                <a:latin typeface="Calibri"/>
              </a:rPr>
              <a:t>KAZ-EHS-IND-001 · Rev. 07 · Management &amp; Staff EHS Induction · Restricted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334000" y="6451600"/>
            <a:ext cx="41910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850" b="0" i="0">
                <a:solidFill>
                  <a:srgbClr val="6B7A88"/>
                </a:solidFill>
                <a:latin typeface="Calibri"/>
              </a:rPr>
              <a:t>01 · Introduction and Objectives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890000" y="6451600"/>
            <a:ext cx="23876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50" b="0" i="0">
                <a:solidFill>
                  <a:srgbClr val="6B7A88"/>
                </a:solidFill>
                <a:latin typeface="Calibri"/>
              </a:rPr>
              <a:t>Slide 5 of 63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0099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pic>
        <p:nvPicPr>
          <p:cNvPr id="3" name="Picture 2" descr="siemens_energy_100x31_rgb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07600" y="381000"/>
            <a:ext cx="1270000" cy="3937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4400" y="355600"/>
            <a:ext cx="8763000" cy="190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1" i="0">
                <a:solidFill>
                  <a:srgbClr val="009999"/>
                </a:solidFill>
                <a:latin typeface="Calibri"/>
              </a:rPr>
              <a:t>CHAPTER 01  ·  INTRODUCTION AND OBJECTIVES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584200"/>
            <a:ext cx="8890000" cy="47053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700" b="1" i="0">
                <a:solidFill>
                  <a:srgbClr val="12263A"/>
                </a:solidFill>
                <a:latin typeface="Calibri"/>
              </a:rPr>
              <a:t>Validity, Assessment and Records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092834"/>
            <a:ext cx="8890000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 i="0">
                <a:solidFill>
                  <a:srgbClr val="6B7A88"/>
                </a:solidFill>
                <a:latin typeface="Calibri"/>
              </a:rPr>
              <a:t>🪪 This induction is part of your site authorisation</a:t>
            </a:r>
          </a:p>
          <a:p>
            <a:pPr algn="r" rtl="1"/>
            <a:r>
              <a:rPr sz="1200">
                <a:solidFill>
                  <a:srgbClr val="333F4C"/>
                </a:solidFill>
                <a:latin typeface="Calibri"/>
              </a:rPr>
              <a:t>الصلاحية 12 شهرًا · اجتياز الاختبار 80٪ · التسجيل في سجل التدريب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914400" y="1700784"/>
            <a:ext cx="1219200" cy="0"/>
          </a:xfrm>
          <a:prstGeom prst="line">
            <a:avLst/>
          </a:prstGeom>
          <a:ln w="30480">
            <a:solidFill>
              <a:srgbClr val="00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2133600" y="1709928"/>
            <a:ext cx="9144000" cy="0"/>
          </a:xfrm>
          <a:prstGeom prst="line">
            <a:avLst/>
          </a:prstGeom>
          <a:ln w="11430">
            <a:solidFill>
              <a:srgbClr val="D5DD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914400" y="1755648"/>
            <a:ext cx="2032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1" i="0">
                <a:solidFill>
                  <a:srgbClr val="009999"/>
                </a:solidFill>
                <a:latin typeface="Calibri"/>
              </a:rPr>
              <a:t>▪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7600" y="1755648"/>
            <a:ext cx="10160000" cy="2834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0" i="0">
                <a:solidFill>
                  <a:srgbClr val="333F4C"/>
                </a:solidFill>
                <a:latin typeface="Calibri"/>
              </a:rPr>
              <a:t>Validity: 12 months from the date of attendance; renewal is required on expiry.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093976"/>
            <a:ext cx="2032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1" i="0">
                <a:solidFill>
                  <a:srgbClr val="009999"/>
                </a:solidFill>
                <a:latin typeface="Calibri"/>
              </a:rPr>
              <a:t>▪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17600" y="2093976"/>
            <a:ext cx="10160000" cy="2834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0" i="0">
                <a:solidFill>
                  <a:srgbClr val="333F4C"/>
                </a:solidFill>
                <a:latin typeface="Calibri"/>
              </a:rPr>
              <a:t>Re-induction is required after a serious incident or when the hazards of your work change.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2432304"/>
            <a:ext cx="2032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1" i="0">
                <a:solidFill>
                  <a:srgbClr val="009999"/>
                </a:solidFill>
                <a:latin typeface="Calibri"/>
              </a:rPr>
              <a:t>▪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17600" y="2432304"/>
            <a:ext cx="10160000" cy="5394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0" i="0">
                <a:solidFill>
                  <a:srgbClr val="333F4C"/>
                </a:solidFill>
                <a:latin typeface="Calibri"/>
              </a:rPr>
              <a:t>Knowledge check: 11 questions — pass mark 80% (9 correct). Below 80% you are retrained before site access.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3026664"/>
            <a:ext cx="2032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1" i="0">
                <a:solidFill>
                  <a:srgbClr val="009999"/>
                </a:solidFill>
                <a:latin typeface="Calibri"/>
              </a:rPr>
              <a:t>▪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17600" y="3026664"/>
            <a:ext cx="10160000" cy="2834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0" i="0">
                <a:solidFill>
                  <a:srgbClr val="333F4C"/>
                </a:solidFill>
                <a:latin typeface="Calibri"/>
              </a:rPr>
              <a:t>Your attendance and signature are recorded in the site training register.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3364992"/>
            <a:ext cx="2032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1" i="0">
                <a:solidFill>
                  <a:srgbClr val="009999"/>
                </a:solidFill>
                <a:latin typeface="Calibri"/>
              </a:rPr>
              <a:t>▪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7600" y="3364992"/>
            <a:ext cx="10160000" cy="5394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0" i="0">
                <a:solidFill>
                  <a:srgbClr val="333F4C"/>
                </a:solidFill>
                <a:latin typeface="Calibri"/>
              </a:rPr>
              <a:t>You must also complete Personal Safety Instruction (PSI) and, for high-risk activities, the Siemens Energy Safe Start session.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3959352"/>
            <a:ext cx="2032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1" i="0">
                <a:solidFill>
                  <a:srgbClr val="009999"/>
                </a:solidFill>
                <a:latin typeface="Calibri"/>
              </a:rPr>
              <a:t>▪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17600" y="3959352"/>
            <a:ext cx="10160000" cy="5394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0" i="0">
                <a:solidFill>
                  <a:srgbClr val="333F4C"/>
                </a:solidFill>
                <a:latin typeface="Calibri"/>
              </a:rPr>
              <a:t>The induction card must be carried and shown on request — it does not replace the Permit to Work.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" y="4553712"/>
            <a:ext cx="2032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1" i="0">
                <a:solidFill>
                  <a:srgbClr val="009999"/>
                </a:solidFill>
                <a:latin typeface="Calibri"/>
              </a:rPr>
              <a:t>▪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17600" y="4553712"/>
            <a:ext cx="10160000" cy="2834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0" i="0">
                <a:solidFill>
                  <a:srgbClr val="333F4C"/>
                </a:solidFill>
                <a:latin typeface="Calibri"/>
              </a:rPr>
              <a:t>Minimum age for site access: 18 years.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914400" y="6350000"/>
            <a:ext cx="330200" cy="0"/>
          </a:xfrm>
          <a:prstGeom prst="line">
            <a:avLst/>
          </a:prstGeom>
          <a:ln w="30480">
            <a:solidFill>
              <a:srgbClr val="00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1244600" y="6350000"/>
            <a:ext cx="10033000" cy="0"/>
          </a:xfrm>
          <a:prstGeom prst="line">
            <a:avLst/>
          </a:prstGeom>
          <a:ln w="10160">
            <a:solidFill>
              <a:srgbClr val="D5DD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914400" y="6451600"/>
            <a:ext cx="54610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 i="0">
                <a:solidFill>
                  <a:srgbClr val="6B7A88"/>
                </a:solidFill>
                <a:latin typeface="Calibri"/>
              </a:rPr>
              <a:t>KAZ-EHS-IND-001 · Rev. 07 · Management &amp; Staff EHS Induction · Restricted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334000" y="6451600"/>
            <a:ext cx="41910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850" b="0" i="0">
                <a:solidFill>
                  <a:srgbClr val="6B7A88"/>
                </a:solidFill>
                <a:latin typeface="Calibri"/>
              </a:rPr>
              <a:t>01 · Introduction and Objectives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890000" y="6451600"/>
            <a:ext cx="23876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50" b="0" i="0">
                <a:solidFill>
                  <a:srgbClr val="6B7A88"/>
                </a:solidFill>
                <a:latin typeface="Calibri"/>
              </a:rPr>
              <a:t>Slide 6 of 63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226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0099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76200"/>
            <a:ext cx="76200" cy="6781800"/>
          </a:xfrm>
          <a:prstGeom prst="rect">
            <a:avLst/>
          </a:prstGeom>
          <a:solidFill>
            <a:srgbClr val="0099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8585200" y="304800"/>
            <a:ext cx="3302000" cy="1041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pic>
        <p:nvPicPr>
          <p:cNvPr id="6" name="Picture 5" descr="siemens_energy_244x74_rgb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6800" y="381000"/>
            <a:ext cx="3098800" cy="9398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219200" y="1625600"/>
            <a:ext cx="3810000" cy="1905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0" b="1" i="0">
                <a:solidFill>
                  <a:srgbClr val="183851"/>
                </a:solidFill>
                <a:latin typeface="Calibri"/>
              </a:rPr>
              <a:t>02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19200" y="3632200"/>
            <a:ext cx="9652000" cy="523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200" b="1" i="0">
                <a:solidFill>
                  <a:srgbClr val="FFFFFF"/>
                </a:solidFill>
                <a:latin typeface="Calibri"/>
              </a:rPr>
              <a:t>EHS Leadership and Responsibilities</a:t>
            </a:r>
          </a:p>
        </p:txBody>
      </p:sp>
      <p:sp>
        <p:nvSpPr>
          <p:cNvPr id="9" name="Rectangle 8"/>
          <p:cNvSpPr/>
          <p:nvPr/>
        </p:nvSpPr>
        <p:spPr>
          <a:xfrm>
            <a:off x="1219200" y="4267200"/>
            <a:ext cx="1219200" cy="38100"/>
          </a:xfrm>
          <a:prstGeom prst="rect">
            <a:avLst/>
          </a:prstGeom>
          <a:solidFill>
            <a:srgbClr val="0099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219200" y="4470400"/>
            <a:ext cx="9144000" cy="6583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0" i="0">
                <a:solidFill>
                  <a:srgbClr val="9FD8D8"/>
                </a:solidFill>
                <a:latin typeface="Calibri"/>
              </a:rPr>
              <a:t>The SE EHS Policy, the governing Standard, the Zero Harm target and who is accountable on this site.</a:t>
            </a:r>
          </a:p>
          <a:p>
            <a:pPr algn="r" rtl="1"/>
            <a:r>
              <a:rPr sz="1300">
                <a:solidFill>
                  <a:srgbClr val="333F4C"/>
                </a:solidFill>
                <a:latin typeface="Calibri"/>
              </a:rPr>
              <a:t>سياسة EHS والمعيار الحاكم وهدف Zero Harm ومن المسؤول في الموقع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19200" y="5440680"/>
            <a:ext cx="9906000" cy="584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150" b="0" i="0">
                <a:solidFill>
                  <a:srgbClr val="8FA8BC"/>
                </a:solidFill>
                <a:latin typeface="Calibri"/>
              </a:rPr>
              <a:t>Zero Harm  ·  EHS Policy  ·  Standard 000050  ·  Leadership  ·  Everyone  ·  Contractors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19200" y="5943600"/>
            <a:ext cx="6350000" cy="254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C8399"/>
                </a:solidFill>
                <a:latin typeface="Calibri"/>
              </a:rPr>
              <a:t>KAZ-EHS-IND-001 · Rev. 07 · Restricted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20000" y="5943600"/>
            <a:ext cx="3505200" cy="254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C8399"/>
                </a:solidFill>
                <a:latin typeface="Calibri"/>
              </a:rPr>
              <a:t>Slide 7 of 63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0099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pic>
        <p:nvPicPr>
          <p:cNvPr id="3" name="Picture 2" descr="siemens_energy_100x31_rgb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07600" y="381000"/>
            <a:ext cx="1270000" cy="3937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4400" y="355600"/>
            <a:ext cx="8763000" cy="190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1" i="0">
                <a:solidFill>
                  <a:srgbClr val="009999"/>
                </a:solidFill>
                <a:latin typeface="Calibri"/>
              </a:rPr>
              <a:t>CHAPTER 02  ·  EHS LEADERSHIP AND RESPONSIBILITIES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584200"/>
            <a:ext cx="8890000" cy="47053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700" b="1" i="0">
                <a:solidFill>
                  <a:srgbClr val="12263A"/>
                </a:solidFill>
                <a:latin typeface="Calibri"/>
              </a:rPr>
              <a:t>Siemens EHS Target — Our Vision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092834"/>
            <a:ext cx="8890000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 i="0">
                <a:solidFill>
                  <a:srgbClr val="6B7A88"/>
                </a:solidFill>
                <a:latin typeface="Calibri"/>
              </a:rPr>
              <a:t>🎯 Derived from the KAZ Project EHS Plan (Section 5)</a:t>
            </a:r>
          </a:p>
          <a:p>
            <a:pPr algn="r" rtl="1"/>
            <a:r>
              <a:rPr sz="1200">
                <a:solidFill>
                  <a:srgbClr val="333F4C"/>
                </a:solidFill>
                <a:latin typeface="Calibri"/>
              </a:rPr>
              <a:t>هدفنا: صفر أضرار — السلامة قبل الجدول والمال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914400" y="1700784"/>
            <a:ext cx="1219200" cy="0"/>
          </a:xfrm>
          <a:prstGeom prst="line">
            <a:avLst/>
          </a:prstGeom>
          <a:ln w="30480">
            <a:solidFill>
              <a:srgbClr val="00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2133600" y="1709928"/>
            <a:ext cx="9144000" cy="0"/>
          </a:xfrm>
          <a:prstGeom prst="line">
            <a:avLst/>
          </a:prstGeom>
          <a:ln w="11430">
            <a:solidFill>
              <a:srgbClr val="D5DD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914400" y="1755648"/>
            <a:ext cx="2032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1" i="0">
                <a:solidFill>
                  <a:srgbClr val="009999"/>
                </a:solidFill>
                <a:latin typeface="Calibri"/>
              </a:rPr>
              <a:t>▪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7600" y="1755648"/>
            <a:ext cx="6527800" cy="50468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0" i="0">
                <a:solidFill>
                  <a:srgbClr val="333F4C"/>
                </a:solidFill>
                <a:latin typeface="Calibri"/>
              </a:rPr>
              <a:t>Our standard for EHS is excellence — it must exceed customer expectations.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315201"/>
            <a:ext cx="2032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1" i="0">
                <a:solidFill>
                  <a:srgbClr val="009999"/>
                </a:solidFill>
                <a:latin typeface="Calibri"/>
              </a:rPr>
              <a:t>▪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17600" y="2315201"/>
            <a:ext cx="6527800" cy="50468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0" i="0">
                <a:solidFill>
                  <a:srgbClr val="333F4C"/>
                </a:solidFill>
                <a:latin typeface="Calibri"/>
              </a:rPr>
              <a:t>The project will promote a Zero-Harm culture that prevents damage to people, the environment and equipment.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2874755"/>
            <a:ext cx="2032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1" i="0">
                <a:solidFill>
                  <a:srgbClr val="009999"/>
                </a:solidFill>
                <a:latin typeface="Calibri"/>
              </a:rPr>
              <a:t>▪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17600" y="2874755"/>
            <a:ext cx="6527800" cy="50468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0" i="0">
                <a:solidFill>
                  <a:srgbClr val="333F4C"/>
                </a:solidFill>
                <a:latin typeface="Calibri"/>
              </a:rPr>
              <a:t>Project target: zero harm — measured as Zero H1 = ZERO (no lost-time injuries).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3434309"/>
            <a:ext cx="2032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1" i="0">
                <a:solidFill>
                  <a:srgbClr val="009999"/>
                </a:solidFill>
                <a:latin typeface="Calibri"/>
              </a:rPr>
              <a:t>▪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17600" y="3434309"/>
            <a:ext cx="6527800" cy="50468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0" i="0">
                <a:solidFill>
                  <a:srgbClr val="333F4C"/>
                </a:solidFill>
                <a:latin typeface="Calibri"/>
              </a:rPr>
              <a:t>Where EHS, progress and finances appear to conflict, EHS always prevails.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3993863"/>
            <a:ext cx="2032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1" i="0">
                <a:solidFill>
                  <a:srgbClr val="009999"/>
                </a:solidFill>
                <a:latin typeface="Calibri"/>
              </a:rPr>
              <a:t>▪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7600" y="3993863"/>
            <a:ext cx="6527800" cy="50468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0" i="0">
                <a:solidFill>
                  <a:srgbClr val="333F4C"/>
                </a:solidFill>
                <a:latin typeface="Calibri"/>
              </a:rPr>
              <a:t>Health and safety are conditions of every activity — never a trade-off against schedule.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4591049"/>
            <a:ext cx="6731000" cy="47117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50" b="1" i="0">
                <a:solidFill>
                  <a:srgbClr val="52177A"/>
                </a:solidFill>
                <a:latin typeface="Calibri"/>
              </a:rPr>
              <a:t>Zero Harm is not a slogan: it is the way we plan, verify and behave on this site.</a:t>
            </a:r>
          </a:p>
        </p:txBody>
      </p:sp>
      <p:pic>
        <p:nvPicPr>
          <p:cNvPr id="20" name="Picture 19" descr="02_zero_harm_team_256x268_rgb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26400" y="1752600"/>
            <a:ext cx="3251200" cy="3403600"/>
          </a:xfrm>
          <a:prstGeom prst="rect">
            <a:avLst/>
          </a:prstGeom>
        </p:spPr>
      </p:pic>
      <p:sp>
        <p:nvSpPr>
          <p:cNvPr id="21" name="Rectangle 20"/>
          <p:cNvSpPr/>
          <p:nvPr/>
        </p:nvSpPr>
        <p:spPr>
          <a:xfrm>
            <a:off x="8026400" y="1752600"/>
            <a:ext cx="3251200" cy="3403600"/>
          </a:xfrm>
          <a:prstGeom prst="rect">
            <a:avLst/>
          </a:prstGeom>
          <a:noFill/>
          <a:ln w="10160">
            <a:solidFill>
              <a:srgbClr val="D5DD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8026400" y="5156200"/>
            <a:ext cx="3251200" cy="381000"/>
          </a:xfrm>
          <a:prstGeom prst="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128000" y="5219700"/>
            <a:ext cx="3048000" cy="254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0" i="0">
                <a:solidFill>
                  <a:srgbClr val="12263A"/>
                </a:solidFill>
                <a:latin typeface="Calibri"/>
              </a:rPr>
              <a:t>Zero Harm — we take care of each other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914400" y="6350000"/>
            <a:ext cx="330200" cy="0"/>
          </a:xfrm>
          <a:prstGeom prst="line">
            <a:avLst/>
          </a:prstGeom>
          <a:ln w="30480">
            <a:solidFill>
              <a:srgbClr val="00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1244600" y="6350000"/>
            <a:ext cx="10033000" cy="0"/>
          </a:xfrm>
          <a:prstGeom prst="line">
            <a:avLst/>
          </a:prstGeom>
          <a:ln w="10160">
            <a:solidFill>
              <a:srgbClr val="D5DD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914400" y="6451600"/>
            <a:ext cx="54610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 i="0">
                <a:solidFill>
                  <a:srgbClr val="6B7A88"/>
                </a:solidFill>
                <a:latin typeface="Calibri"/>
              </a:rPr>
              <a:t>KAZ-EHS-IND-001 · Rev. 07 · Management &amp; Staff EHS Induction · Restricted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334000" y="6451600"/>
            <a:ext cx="41910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850" b="0" i="0">
                <a:solidFill>
                  <a:srgbClr val="6B7A88"/>
                </a:solidFill>
                <a:latin typeface="Calibri"/>
              </a:rPr>
              <a:t>02 · EHS Leadership and Responsibilities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890000" y="6451600"/>
            <a:ext cx="23876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50" b="0" i="0">
                <a:solidFill>
                  <a:srgbClr val="6B7A88"/>
                </a:solidFill>
                <a:latin typeface="Calibri"/>
              </a:rPr>
              <a:t>Slide 8 of 63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0099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pic>
        <p:nvPicPr>
          <p:cNvPr id="3" name="Picture 2" descr="siemens_energy_100x31_rgb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07600" y="381000"/>
            <a:ext cx="1270000" cy="3937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4400" y="355600"/>
            <a:ext cx="8763000" cy="190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1" i="0">
                <a:solidFill>
                  <a:srgbClr val="009999"/>
                </a:solidFill>
                <a:latin typeface="Calibri"/>
              </a:rPr>
              <a:t>CHAPTER 02  ·  EHS LEADERSHIP AND RESPONSIBILITIES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584200"/>
            <a:ext cx="8890000" cy="47053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700" b="1" i="0">
                <a:solidFill>
                  <a:srgbClr val="12263A"/>
                </a:solidFill>
                <a:latin typeface="Calibri"/>
              </a:rPr>
              <a:t>The Zero Harm Framework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092834"/>
            <a:ext cx="8890000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 i="0">
                <a:solidFill>
                  <a:srgbClr val="6B7A88"/>
                </a:solidFill>
                <a:latin typeface="Calibri"/>
              </a:rPr>
              <a:t>🤝 Principles · Behaviours · Essentials</a:t>
            </a:r>
          </a:p>
          <a:p>
            <a:pPr algn="r" rtl="1"/>
            <a:r>
              <a:rPr sz="1200">
                <a:solidFill>
                  <a:srgbClr val="333F4C"/>
                </a:solidFill>
                <a:latin typeface="Calibri"/>
              </a:rPr>
              <a:t>صفر حوادث هدف ممكن التحقيق · لا نساوم على السلامة · نعتني ببعضنا البعض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914400" y="1700784"/>
            <a:ext cx="1219200" cy="0"/>
          </a:xfrm>
          <a:prstGeom prst="line">
            <a:avLst/>
          </a:prstGeom>
          <a:ln w="30480">
            <a:solidFill>
              <a:srgbClr val="00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2133600" y="1709928"/>
            <a:ext cx="9144000" cy="0"/>
          </a:xfrm>
          <a:prstGeom prst="line">
            <a:avLst/>
          </a:prstGeom>
          <a:ln w="11430">
            <a:solidFill>
              <a:srgbClr val="D5DD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914400" y="1758950"/>
            <a:ext cx="203200" cy="25590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1" i="0">
                <a:solidFill>
                  <a:srgbClr val="009999"/>
                </a:solidFill>
                <a:latin typeface="Calibri"/>
              </a:rPr>
              <a:t>▪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7600" y="1752600"/>
            <a:ext cx="10160000" cy="28130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0" i="0">
                <a:solidFill>
                  <a:srgbClr val="333F4C"/>
                </a:solidFill>
                <a:latin typeface="Calibri"/>
              </a:rPr>
              <a:t>Principles: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43000" y="2103755"/>
            <a:ext cx="203200" cy="23939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1" i="0">
                <a:solidFill>
                  <a:srgbClr val="6B7A88"/>
                </a:solidFill>
                <a:latin typeface="Calibri"/>
              </a:rPr>
              <a:t>•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46200" y="2097405"/>
            <a:ext cx="9931400" cy="26479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0" i="0">
                <a:solidFill>
                  <a:srgbClr val="333F4C"/>
                </a:solidFill>
                <a:latin typeface="Calibri"/>
              </a:rPr>
              <a:t>Zero incidents is achievable.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43000" y="2393950"/>
            <a:ext cx="203200" cy="23939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1" i="0">
                <a:solidFill>
                  <a:srgbClr val="6B7A88"/>
                </a:solidFill>
                <a:latin typeface="Calibri"/>
              </a:rPr>
              <a:t>•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46200" y="2387600"/>
            <a:ext cx="9931400" cy="26479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0" i="0">
                <a:solidFill>
                  <a:srgbClr val="333F4C"/>
                </a:solidFill>
                <a:latin typeface="Calibri"/>
              </a:rPr>
              <a:t>Health and safety — no compromises.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43000" y="2684145"/>
            <a:ext cx="203200" cy="23939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1" i="0">
                <a:solidFill>
                  <a:srgbClr val="6B7A88"/>
                </a:solidFill>
                <a:latin typeface="Calibri"/>
              </a:rPr>
              <a:t>•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46200" y="2677795"/>
            <a:ext cx="9931400" cy="26479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0" i="0">
                <a:solidFill>
                  <a:srgbClr val="333F4C"/>
                </a:solidFill>
                <a:latin typeface="Calibri"/>
              </a:rPr>
              <a:t>We take care of each other.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2974340"/>
            <a:ext cx="203200" cy="25590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1" i="0">
                <a:solidFill>
                  <a:srgbClr val="009999"/>
                </a:solidFill>
                <a:latin typeface="Calibri"/>
              </a:rPr>
              <a:t>▪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7600" y="2967990"/>
            <a:ext cx="10160000" cy="28130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0" i="0">
                <a:solidFill>
                  <a:srgbClr val="333F4C"/>
                </a:solidFill>
                <a:latin typeface="Calibri"/>
              </a:rPr>
              <a:t>Behaviours: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43000" y="3319144"/>
            <a:ext cx="203200" cy="23939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1" i="0">
                <a:solidFill>
                  <a:srgbClr val="6B7A88"/>
                </a:solidFill>
                <a:latin typeface="Calibri"/>
              </a:rPr>
              <a:t>•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46200" y="3312794"/>
            <a:ext cx="9931400" cy="26479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0" i="0">
                <a:solidFill>
                  <a:srgbClr val="333F4C"/>
                </a:solidFill>
                <a:latin typeface="Calibri"/>
              </a:rPr>
              <a:t>Take the time to assess risk — plan and organise every job before you start.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43000" y="3609340"/>
            <a:ext cx="203200" cy="23939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1" i="0">
                <a:solidFill>
                  <a:srgbClr val="6B7A88"/>
                </a:solidFill>
                <a:latin typeface="Calibri"/>
              </a:rPr>
              <a:t>•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346200" y="3602990"/>
            <a:ext cx="9931400" cy="26479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0" i="0">
                <a:solidFill>
                  <a:srgbClr val="333F4C"/>
                </a:solidFill>
                <a:latin typeface="Calibri"/>
              </a:rPr>
              <a:t>Talk about safety before the work and again during the shift.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43000" y="3899535"/>
            <a:ext cx="203200" cy="23939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1" i="0">
                <a:solidFill>
                  <a:srgbClr val="6B7A88"/>
                </a:solidFill>
                <a:latin typeface="Calibri"/>
              </a:rPr>
              <a:t>•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46200" y="3893185"/>
            <a:ext cx="9931400" cy="26479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0" i="0">
                <a:solidFill>
                  <a:srgbClr val="333F4C"/>
                </a:solidFill>
                <a:latin typeface="Calibri"/>
              </a:rPr>
              <a:t>If a task cannot be done safely, or conditions change — stop and re-assess.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43000" y="4189730"/>
            <a:ext cx="203200" cy="23939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1" i="0">
                <a:solidFill>
                  <a:srgbClr val="6B7A88"/>
                </a:solidFill>
                <a:latin typeface="Calibri"/>
              </a:rPr>
              <a:t>•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346200" y="4183380"/>
            <a:ext cx="9931400" cy="26479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0" i="0">
                <a:solidFill>
                  <a:srgbClr val="333F4C"/>
                </a:solidFill>
                <a:latin typeface="Calibri"/>
              </a:rPr>
              <a:t>Follow the rules and procedures, including site-specific rules and PPE.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43000" y="4479925"/>
            <a:ext cx="203200" cy="23939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1" i="0">
                <a:solidFill>
                  <a:srgbClr val="6B7A88"/>
                </a:solidFill>
                <a:latin typeface="Calibri"/>
              </a:rPr>
              <a:t>•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46200" y="4473575"/>
            <a:ext cx="9931400" cy="26479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0" i="0">
                <a:solidFill>
                  <a:srgbClr val="333F4C"/>
                </a:solidFill>
                <a:latin typeface="Calibri"/>
              </a:rPr>
              <a:t>Intervene when you see risk — never walk by.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4400" y="4770120"/>
            <a:ext cx="203200" cy="5118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1" i="0">
                <a:solidFill>
                  <a:srgbClr val="009999"/>
                </a:solidFill>
                <a:latin typeface="Calibri"/>
              </a:rPr>
              <a:t>▪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17600" y="4763770"/>
            <a:ext cx="10160000" cy="5372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0" i="0">
                <a:solidFill>
                  <a:srgbClr val="333F4C"/>
                </a:solidFill>
                <a:latin typeface="Calibri"/>
              </a:rPr>
              <a:t>Essentials: Stop principle · safe systems of work · competency · risk assessment · permit to work · PPE · emergency preparedness.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914400" y="6350000"/>
            <a:ext cx="330200" cy="0"/>
          </a:xfrm>
          <a:prstGeom prst="line">
            <a:avLst/>
          </a:prstGeom>
          <a:ln w="30480">
            <a:solidFill>
              <a:srgbClr val="00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1244600" y="6350000"/>
            <a:ext cx="10033000" cy="0"/>
          </a:xfrm>
          <a:prstGeom prst="line">
            <a:avLst/>
          </a:prstGeom>
          <a:ln w="10160">
            <a:solidFill>
              <a:srgbClr val="D5DD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TextBox 32"/>
          <p:cNvSpPr txBox="1"/>
          <p:nvPr/>
        </p:nvSpPr>
        <p:spPr>
          <a:xfrm>
            <a:off x="914400" y="6451600"/>
            <a:ext cx="54610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 i="0">
                <a:solidFill>
                  <a:srgbClr val="6B7A88"/>
                </a:solidFill>
                <a:latin typeface="Calibri"/>
              </a:rPr>
              <a:t>KAZ-EHS-IND-001 · Rev. 07 · Management &amp; Staff EHS Induction · Restricted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334000" y="6451600"/>
            <a:ext cx="41910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850" b="0" i="0">
                <a:solidFill>
                  <a:srgbClr val="6B7A88"/>
                </a:solidFill>
                <a:latin typeface="Calibri"/>
              </a:rPr>
              <a:t>02 · EHS Leadership and Responsibilities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890000" y="6451600"/>
            <a:ext cx="23876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50" b="0" i="0">
                <a:solidFill>
                  <a:srgbClr val="6B7A88"/>
                </a:solidFill>
                <a:latin typeface="Calibri"/>
              </a:rPr>
              <a:t>Slide 9 of 63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0099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pic>
        <p:nvPicPr>
          <p:cNvPr id="3" name="Picture 2" descr="siemens_energy_100x31_rgb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07600" y="381000"/>
            <a:ext cx="1270000" cy="3937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4400" y="355600"/>
            <a:ext cx="8763000" cy="190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1" i="0">
                <a:solidFill>
                  <a:srgbClr val="009999"/>
                </a:solidFill>
                <a:latin typeface="Calibri"/>
              </a:rPr>
              <a:t>CHAPTER 02  ·  EHS LEADERSHIP AND RESPONSIBILITIES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584200"/>
            <a:ext cx="8890000" cy="47053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700" b="1" i="0">
                <a:solidFill>
                  <a:srgbClr val="12263A"/>
                </a:solidFill>
                <a:latin typeface="Calibri"/>
              </a:rPr>
              <a:t>The Siemens Energy EHS Policy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092834"/>
            <a:ext cx="8890000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 i="0">
                <a:solidFill>
                  <a:srgbClr val="6B7A88"/>
                </a:solidFill>
                <a:latin typeface="Calibri"/>
              </a:rPr>
              <a:t>📜 Signed by the Executive Board · Version 4 · December 2024 · Annex 1 to SE Standard 000050</a:t>
            </a:r>
          </a:p>
          <a:p>
            <a:pPr algn="r" rtl="1"/>
            <a:r>
              <a:rPr sz="1200">
                <a:solidFill>
                  <a:srgbClr val="333F4C"/>
                </a:solidFill>
                <a:latin typeface="Calibri"/>
              </a:rPr>
              <a:t>تحدّث ولا تمرّ بجانب الخطأ — من حقك إيقاف أي عمل أو سلوك غير آمن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914400" y="1700784"/>
            <a:ext cx="1219200" cy="0"/>
          </a:xfrm>
          <a:prstGeom prst="line">
            <a:avLst/>
          </a:prstGeom>
          <a:ln w="30480">
            <a:solidFill>
              <a:srgbClr val="00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2133600" y="1709928"/>
            <a:ext cx="9144000" cy="0"/>
          </a:xfrm>
          <a:prstGeom prst="line">
            <a:avLst/>
          </a:prstGeom>
          <a:ln w="11430">
            <a:solidFill>
              <a:srgbClr val="D5DD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914400" y="1755648"/>
            <a:ext cx="2032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1" i="0">
                <a:solidFill>
                  <a:srgbClr val="009999"/>
                </a:solidFill>
                <a:latin typeface="Calibri"/>
              </a:rPr>
              <a:t>▪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5568" y="1755648"/>
            <a:ext cx="10160000" cy="74420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0" i="0">
                <a:solidFill>
                  <a:srgbClr val="333F4C"/>
                </a:solidFill>
                <a:latin typeface="Calibri"/>
              </a:rPr>
              <a:t>The Siemens Energy EHS Policy (V4, December 2024) is signed by the SE Executive Board and binds every SE unit, project and affiliated company — guided by our values: Caring, Agility, Respect and Accountability.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554715"/>
            <a:ext cx="2032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1" i="0">
                <a:solidFill>
                  <a:srgbClr val="009999"/>
                </a:solidFill>
                <a:latin typeface="Calibri"/>
              </a:rPr>
              <a:t>▪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15568" y="2554715"/>
            <a:ext cx="10160000" cy="50468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0" i="0">
                <a:solidFill>
                  <a:srgbClr val="333F4C"/>
                </a:solidFill>
                <a:latin typeface="Calibri"/>
              </a:rPr>
              <a:t>Four principles drive our Zero Harm culture: Zero Harm is achievable · we do not compromise · we take care of each other · we develop locally and share globally.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3114269"/>
            <a:ext cx="2032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1" i="0">
                <a:solidFill>
                  <a:srgbClr val="009999"/>
                </a:solidFill>
                <a:latin typeface="Calibri"/>
              </a:rPr>
              <a:t>▪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15568" y="3114269"/>
            <a:ext cx="10160000" cy="50468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0" i="0">
                <a:solidFill>
                  <a:srgbClr val="333F4C"/>
                </a:solidFill>
                <a:latin typeface="Calibri"/>
              </a:rPr>
              <a:t>We identify, assess and manage hazards and risks; we prevent injury and ill health; we report and investigate all incidents to prevent reoccurrence.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3673823"/>
            <a:ext cx="2032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1" i="0">
                <a:solidFill>
                  <a:srgbClr val="009999"/>
                </a:solidFill>
                <a:latin typeface="Calibri"/>
              </a:rPr>
              <a:t>▪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15568" y="3673823"/>
            <a:ext cx="10160000" cy="26517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0" i="0">
                <a:solidFill>
                  <a:srgbClr val="333F4C"/>
                </a:solidFill>
                <a:latin typeface="Calibri"/>
              </a:rPr>
              <a:t>Speak up — don't walk by: every employee is empowered to stop any unsafe behaviour or situation.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3993863"/>
            <a:ext cx="2032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1" i="0">
                <a:solidFill>
                  <a:srgbClr val="009999"/>
                </a:solidFill>
                <a:latin typeface="Calibri"/>
              </a:rPr>
              <a:t>▪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5568" y="3993863"/>
            <a:ext cx="10160000" cy="50468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0" i="0">
                <a:solidFill>
                  <a:srgbClr val="333F4C"/>
                </a:solidFill>
                <a:latin typeface="Calibri"/>
              </a:rPr>
              <a:t>We protect people, the environment, energy and natural resources — and promote health and well-being.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4553417"/>
            <a:ext cx="2032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1" i="0">
                <a:solidFill>
                  <a:srgbClr val="009999"/>
                </a:solidFill>
                <a:latin typeface="Calibri"/>
              </a:rPr>
              <a:t>▪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15568" y="4553417"/>
            <a:ext cx="10160000" cy="50468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0" i="0">
                <a:solidFill>
                  <a:srgbClr val="333F4C"/>
                </a:solidFill>
                <a:latin typeface="Calibri"/>
              </a:rPr>
              <a:t>We comply with legislation, regulations and standards, working in partnership with our customers on EHS — on this site the stricter of Iraqi law and SE requirements always applies.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" y="5112970"/>
            <a:ext cx="2032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1" i="0">
                <a:solidFill>
                  <a:srgbClr val="009999"/>
                </a:solidFill>
                <a:latin typeface="Calibri"/>
              </a:rPr>
              <a:t>▪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15568" y="5112970"/>
            <a:ext cx="10160000" cy="50468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0" i="0">
                <a:solidFill>
                  <a:srgbClr val="333F4C"/>
                </a:solidFill>
                <a:latin typeface="Calibri"/>
              </a:rPr>
              <a:t>Managers own EHS decisions in their areas; employees are trained, qualified and competent, responsible for their own safety and that of others — and everyone acts as a role model.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4400" y="5672524"/>
            <a:ext cx="2032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1" i="0">
                <a:solidFill>
                  <a:srgbClr val="009999"/>
                </a:solidFill>
                <a:latin typeface="Calibri"/>
              </a:rPr>
              <a:t>▪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15568" y="5672524"/>
            <a:ext cx="10160000" cy="50468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0" i="0">
                <a:solidFill>
                  <a:srgbClr val="333F4C"/>
                </a:solidFill>
                <a:latin typeface="Calibri"/>
              </a:rPr>
              <a:t>We engage and communicate with employees, subcontractors, suppliers and stakeholders on EHS, and the policy is reviewed and continuously improved with full Executive Board support.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914400" y="6350000"/>
            <a:ext cx="330200" cy="0"/>
          </a:xfrm>
          <a:prstGeom prst="line">
            <a:avLst/>
          </a:prstGeom>
          <a:ln w="30480">
            <a:solidFill>
              <a:srgbClr val="00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1244600" y="6350000"/>
            <a:ext cx="10033000" cy="0"/>
          </a:xfrm>
          <a:prstGeom prst="line">
            <a:avLst/>
          </a:prstGeom>
          <a:ln w="10160">
            <a:solidFill>
              <a:srgbClr val="D5DD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914400" y="6451600"/>
            <a:ext cx="54610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 i="0">
                <a:solidFill>
                  <a:srgbClr val="6B7A88"/>
                </a:solidFill>
                <a:latin typeface="Calibri"/>
              </a:rPr>
              <a:t>KAZ-EHS-IND-001 · Rev. 07 · Management &amp; Staff EHS Induction · Restricted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334000" y="6451600"/>
            <a:ext cx="41910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850" b="0" i="0">
                <a:solidFill>
                  <a:srgbClr val="6B7A88"/>
                </a:solidFill>
                <a:latin typeface="Calibri"/>
              </a:rPr>
              <a:t>02 · EHS Leadership and Responsibilities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890000" y="6451600"/>
            <a:ext cx="23876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50" b="0" i="0">
                <a:solidFill>
                  <a:srgbClr val="6B7A88"/>
                </a:solidFill>
                <a:latin typeface="Calibri"/>
              </a:rPr>
              <a:t>Slide 10 of 63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0099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pic>
        <p:nvPicPr>
          <p:cNvPr id="3" name="Picture 2" descr="siemens_energy_100x31_rgb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07600" y="381000"/>
            <a:ext cx="1270000" cy="3937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4400" y="355600"/>
            <a:ext cx="8763000" cy="190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1" i="0">
                <a:solidFill>
                  <a:srgbClr val="009999"/>
                </a:solidFill>
                <a:latin typeface="Calibri"/>
              </a:rPr>
              <a:t>CHAPTER 02  ·  EHS LEADERSHIP AND RESPONSIBILITIES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584200"/>
            <a:ext cx="8890000" cy="47053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700" b="1" i="0">
                <a:solidFill>
                  <a:srgbClr val="12263A"/>
                </a:solidFill>
                <a:latin typeface="Calibri"/>
              </a:rPr>
              <a:t>EHS Governance — SE Standard 000050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092834"/>
            <a:ext cx="8890000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 i="0">
                <a:solidFill>
                  <a:srgbClr val="6B7A88"/>
                </a:solidFill>
                <a:latin typeface="Calibri"/>
              </a:rPr>
              <a:t>🏛️ Where the rules of this induction come from</a:t>
            </a:r>
          </a:p>
          <a:p>
            <a:pPr algn="r" rtl="1"/>
            <a:r>
              <a:rPr sz="1200">
                <a:solidFill>
                  <a:srgbClr val="333F4C"/>
                </a:solidFill>
                <a:latin typeface="Calibri"/>
              </a:rPr>
              <a:t>مصدر قواعد هذا الاندكشن: معيار سيمينز 000050 وأنظمة ISO 45001 / ISO 14001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914400" y="1700784"/>
            <a:ext cx="1219200" cy="0"/>
          </a:xfrm>
          <a:prstGeom prst="line">
            <a:avLst/>
          </a:prstGeom>
          <a:ln w="30480">
            <a:solidFill>
              <a:srgbClr val="00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2133600" y="1709928"/>
            <a:ext cx="9144000" cy="0"/>
          </a:xfrm>
          <a:prstGeom prst="line">
            <a:avLst/>
          </a:prstGeom>
          <a:ln w="11430">
            <a:solidFill>
              <a:srgbClr val="D5DD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914400" y="1755648"/>
            <a:ext cx="2032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1" i="0">
                <a:solidFill>
                  <a:srgbClr val="009999"/>
                </a:solidFill>
                <a:latin typeface="Calibri"/>
              </a:rPr>
              <a:t>▪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5568" y="1755648"/>
            <a:ext cx="10160000" cy="5394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0" i="0">
                <a:solidFill>
                  <a:srgbClr val="333F4C"/>
                </a:solidFill>
                <a:latin typeface="Calibri"/>
              </a:rPr>
              <a:t>This induction implements SE Standard 000050 (V3) 'EHS Principles and Core Responsibilities' — valid worldwide for all Siemens Energy units and affiliated companies.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350008"/>
            <a:ext cx="2032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1" i="0">
                <a:solidFill>
                  <a:srgbClr val="009999"/>
                </a:solidFill>
                <a:latin typeface="Calibri"/>
              </a:rPr>
              <a:t>▪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15568" y="2350008"/>
            <a:ext cx="10160000" cy="5394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0" i="0">
                <a:solidFill>
                  <a:srgbClr val="333F4C"/>
                </a:solidFill>
                <a:latin typeface="Calibri"/>
              </a:rPr>
              <a:t>The Standard defines EHS roles and responsibilities and the governance of EHS, aligned with the Zero Harm Framework (Standard 000118).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2944368"/>
            <a:ext cx="2032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1" i="0">
                <a:solidFill>
                  <a:srgbClr val="009999"/>
                </a:solidFill>
                <a:latin typeface="Calibri"/>
              </a:rPr>
              <a:t>▪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15568" y="2944368"/>
            <a:ext cx="10160000" cy="5394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0" i="0">
                <a:solidFill>
                  <a:srgbClr val="333F4C"/>
                </a:solidFill>
                <a:latin typeface="Calibri"/>
              </a:rPr>
              <a:t>EHS management systems across SE follow ISO 45001 (occupational health and safety) and ISO 14001 (environment) — our site system uses the same structure.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3538728"/>
            <a:ext cx="2032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1" i="0">
                <a:solidFill>
                  <a:srgbClr val="009999"/>
                </a:solidFill>
                <a:latin typeface="Calibri"/>
              </a:rPr>
              <a:t>▪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15568" y="3538728"/>
            <a:ext cx="10160000" cy="5394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0" i="0">
                <a:solidFill>
                  <a:srgbClr val="333F4C"/>
                </a:solidFill>
                <a:latin typeface="Calibri"/>
              </a:rPr>
              <a:t>All work activities are risk-assessed before they start; hazards that threaten life or the environment must be eliminated before work begins or continues.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4133088"/>
            <a:ext cx="2032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1" i="0">
                <a:solidFill>
                  <a:srgbClr val="009999"/>
                </a:solidFill>
                <a:latin typeface="Calibri"/>
              </a:rPr>
              <a:t>▪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5568" y="4133088"/>
            <a:ext cx="10160000" cy="5394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0" i="0">
                <a:solidFill>
                  <a:srgbClr val="333F4C"/>
                </a:solidFill>
                <a:latin typeface="Calibri"/>
              </a:rPr>
              <a:t>All incidents are reported in the SE EHS reporting tool (Enablon) — Standard 000051 'EHS Reporting'.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4727448"/>
            <a:ext cx="2032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1" i="0">
                <a:solidFill>
                  <a:srgbClr val="009999"/>
                </a:solidFill>
                <a:latin typeface="Calibri"/>
              </a:rPr>
              <a:t>▪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15568" y="4727448"/>
            <a:ext cx="10160000" cy="5394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0" i="0">
                <a:solidFill>
                  <a:srgbClr val="333F4C"/>
                </a:solidFill>
                <a:latin typeface="Calibri"/>
              </a:rPr>
              <a:t>Everyone must be trained, qualified and competent; awareness of the Zero Harm Principles, Behaviours and Essentials is mandatory.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" y="5321808"/>
            <a:ext cx="2032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1" i="0">
                <a:solidFill>
                  <a:srgbClr val="009999"/>
                </a:solidFill>
                <a:latin typeface="Calibri"/>
              </a:rPr>
              <a:t>▪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15568" y="5321808"/>
            <a:ext cx="10160000" cy="2834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0" i="0">
                <a:solidFill>
                  <a:srgbClr val="333F4C"/>
                </a:solidFill>
                <a:latin typeface="Calibri"/>
              </a:rPr>
              <a:t>Emergency plans are established, exercised and evaluated — drills are part of site life.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4400" y="5660136"/>
            <a:ext cx="2032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1" i="0">
                <a:solidFill>
                  <a:srgbClr val="009999"/>
                </a:solidFill>
                <a:latin typeface="Calibri"/>
              </a:rPr>
              <a:t>▪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15568" y="5660136"/>
            <a:ext cx="10160000" cy="5394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0" i="0">
                <a:solidFill>
                  <a:srgbClr val="333F4C"/>
                </a:solidFill>
                <a:latin typeface="Calibri"/>
              </a:rPr>
              <a:t>Consultation and participation: your feedback on safety is required, two-way and protected — speak to your supervisor or EHS.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914400" y="6350000"/>
            <a:ext cx="330200" cy="0"/>
          </a:xfrm>
          <a:prstGeom prst="line">
            <a:avLst/>
          </a:prstGeom>
          <a:ln w="30480">
            <a:solidFill>
              <a:srgbClr val="00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1244600" y="6350000"/>
            <a:ext cx="10033000" cy="0"/>
          </a:xfrm>
          <a:prstGeom prst="line">
            <a:avLst/>
          </a:prstGeom>
          <a:ln w="10160">
            <a:solidFill>
              <a:srgbClr val="D5DD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914400" y="6451600"/>
            <a:ext cx="54610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 i="0">
                <a:solidFill>
                  <a:srgbClr val="6B7A88"/>
                </a:solidFill>
                <a:latin typeface="Calibri"/>
              </a:rPr>
              <a:t>KAZ-EHS-IND-001 · Rev. 07 · Management &amp; Staff EHS Induction · Restricted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334000" y="6451600"/>
            <a:ext cx="41910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850" b="0" i="0">
                <a:solidFill>
                  <a:srgbClr val="6B7A88"/>
                </a:solidFill>
                <a:latin typeface="Calibri"/>
              </a:rPr>
              <a:t>02 · EHS Leadership and Responsibilities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890000" y="6451600"/>
            <a:ext cx="23876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50" b="0" i="0">
                <a:solidFill>
                  <a:srgbClr val="6B7A88"/>
                </a:solidFill>
                <a:latin typeface="Calibri"/>
              </a:rPr>
              <a:t>Slide 11 of 63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0099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pic>
        <p:nvPicPr>
          <p:cNvPr id="3" name="Picture 2" descr="siemens_energy_100x31_rgb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07600" y="381000"/>
            <a:ext cx="1270000" cy="3937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4400" y="355600"/>
            <a:ext cx="8763000" cy="190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1" i="0">
                <a:solidFill>
                  <a:srgbClr val="009999"/>
                </a:solidFill>
                <a:latin typeface="Calibri"/>
              </a:rPr>
              <a:t>CHAPTER 02  ·  EHS LEADERSHIP AND RESPONSIBILITIES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584200"/>
            <a:ext cx="8890000" cy="47053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700" b="1" i="0">
                <a:solidFill>
                  <a:srgbClr val="12263A"/>
                </a:solidFill>
                <a:latin typeface="Calibri"/>
              </a:rPr>
              <a:t>Core Responsibilities by Role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092834"/>
            <a:ext cx="8890000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 i="0">
                <a:solidFill>
                  <a:srgbClr val="6B7A88"/>
                </a:solidFill>
                <a:latin typeface="Calibri"/>
              </a:rPr>
              <a:t>🪜 From the Executive Board to every worker — SE Standard 000050, Section 2</a:t>
            </a:r>
          </a:p>
          <a:p>
            <a:pPr algn="r" rtl="1"/>
            <a:r>
              <a:rPr sz="1200">
                <a:solidFill>
                  <a:srgbClr val="333F4C"/>
                </a:solidFill>
                <a:latin typeface="Calibri"/>
              </a:rPr>
              <a:t>سلّم المسؤوليات: من المجلس التنفيذي إلى كل عامل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914400" y="1700784"/>
            <a:ext cx="1219200" cy="0"/>
          </a:xfrm>
          <a:prstGeom prst="line">
            <a:avLst/>
          </a:prstGeom>
          <a:ln w="30480">
            <a:solidFill>
              <a:srgbClr val="00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2133600" y="1709928"/>
            <a:ext cx="9144000" cy="0"/>
          </a:xfrm>
          <a:prstGeom prst="line">
            <a:avLst/>
          </a:prstGeom>
          <a:ln w="11430">
            <a:solidFill>
              <a:srgbClr val="D5DD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914400" y="1755648"/>
            <a:ext cx="2032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1" i="0">
                <a:solidFill>
                  <a:srgbClr val="009999"/>
                </a:solidFill>
                <a:latin typeface="Calibri"/>
              </a:rPr>
              <a:t>▪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5568" y="1755648"/>
            <a:ext cx="10160000" cy="50468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0" i="0">
                <a:solidFill>
                  <a:srgbClr val="333F4C"/>
                </a:solidFill>
                <a:latin typeface="Calibri"/>
              </a:rPr>
              <a:t>Executive Board — owns the EHS policy, monitors implementation and reviews EHS performance; EHS is integrated into strategic decisions.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315201"/>
            <a:ext cx="2032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1" i="0">
                <a:solidFill>
                  <a:srgbClr val="009999"/>
                </a:solidFill>
                <a:latin typeface="Calibri"/>
              </a:rPr>
              <a:t>▪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15568" y="2315201"/>
            <a:ext cx="10160000" cy="50468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0" i="0">
                <a:solidFill>
                  <a:srgbClr val="333F4C"/>
                </a:solidFill>
                <a:latin typeface="Calibri"/>
              </a:rPr>
              <a:t>Senior management (n-1) — implements EHS management systems, provides resources, ensures legal compliance and delegates EHS roles to competent people.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2874755"/>
            <a:ext cx="2032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1" i="0">
                <a:solidFill>
                  <a:srgbClr val="009999"/>
                </a:solidFill>
                <a:latin typeface="Calibri"/>
              </a:rPr>
              <a:t>▪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15568" y="2874755"/>
            <a:ext cx="10160000" cy="50468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0" i="0">
                <a:solidFill>
                  <a:srgbClr val="333F4C"/>
                </a:solidFill>
                <a:latin typeface="Calibri"/>
              </a:rPr>
              <a:t>Management (n-2) — accountable for EHS processes and procedures, incident investigation and root cause analysis, and performance monitoring.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3434309"/>
            <a:ext cx="2032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1" i="0">
                <a:solidFill>
                  <a:srgbClr val="009999"/>
                </a:solidFill>
                <a:latin typeface="Calibri"/>
              </a:rPr>
              <a:t>▪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15568" y="3434309"/>
            <a:ext cx="10160000" cy="50468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0" i="0">
                <a:solidFill>
                  <a:srgbClr val="333F4C"/>
                </a:solidFill>
                <a:latin typeface="Calibri"/>
              </a:rPr>
              <a:t>Project Entity and Global Functions — apply the EHS Policy on projects: hazard identification, risk assessment, training, consultation and reporting.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3993863"/>
            <a:ext cx="2032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1" i="0">
                <a:solidFill>
                  <a:srgbClr val="009999"/>
                </a:solidFill>
                <a:latin typeface="Calibri"/>
              </a:rPr>
              <a:t>▪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5568" y="3993863"/>
            <a:ext cx="10160000" cy="50468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0" i="0">
                <a:solidFill>
                  <a:srgbClr val="333F4C"/>
                </a:solidFill>
                <a:latin typeface="Calibri"/>
              </a:rPr>
              <a:t>EQS / EHS function — governance, targets, performance monitoring, competency and investigation support.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4553417"/>
            <a:ext cx="2032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1" i="0">
                <a:solidFill>
                  <a:srgbClr val="009999"/>
                </a:solidFill>
                <a:latin typeface="Calibri"/>
              </a:rPr>
              <a:t>▪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15568" y="4553417"/>
            <a:ext cx="10160000" cy="26517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0" i="0">
                <a:solidFill>
                  <a:srgbClr val="333F4C"/>
                </a:solidFill>
                <a:latin typeface="Calibri"/>
              </a:rPr>
              <a:t>Country EHS Lead / Regional Hub — legal compliance, KPI reporting and best-practice sharing.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" y="4873457"/>
            <a:ext cx="2032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1" i="0">
                <a:solidFill>
                  <a:srgbClr val="009999"/>
                </a:solidFill>
                <a:latin typeface="Calibri"/>
              </a:rPr>
              <a:t>▪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15568" y="4873457"/>
            <a:ext cx="10160000" cy="50468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0" i="0">
                <a:solidFill>
                  <a:srgbClr val="333F4C"/>
                </a:solidFill>
                <a:latin typeface="Calibri"/>
              </a:rPr>
              <a:t>Employees (including temporary workers) — care for yourself and others, report hazards and near misses, follow risk assessments, comply with law and SE requirements, protect the environment.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4400" y="5433010"/>
            <a:ext cx="2032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1" i="0">
                <a:solidFill>
                  <a:srgbClr val="009999"/>
                </a:solidFill>
                <a:latin typeface="Calibri"/>
              </a:rPr>
              <a:t>▪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15568" y="5433010"/>
            <a:ext cx="10160000" cy="50468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0" i="0">
                <a:solidFill>
                  <a:srgbClr val="333F4C"/>
                </a:solidFill>
                <a:latin typeface="Calibri"/>
              </a:rPr>
              <a:t>On this site the chain becomes: Project Director → EHSMIP → Contractor EHS → Supervisors → You (see slide 21).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914400" y="6350000"/>
            <a:ext cx="330200" cy="0"/>
          </a:xfrm>
          <a:prstGeom prst="line">
            <a:avLst/>
          </a:prstGeom>
          <a:ln w="30480">
            <a:solidFill>
              <a:srgbClr val="00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1244600" y="6350000"/>
            <a:ext cx="10033000" cy="0"/>
          </a:xfrm>
          <a:prstGeom prst="line">
            <a:avLst/>
          </a:prstGeom>
          <a:ln w="10160">
            <a:solidFill>
              <a:srgbClr val="D5DD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914400" y="6451600"/>
            <a:ext cx="54610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 i="0">
                <a:solidFill>
                  <a:srgbClr val="6B7A88"/>
                </a:solidFill>
                <a:latin typeface="Calibri"/>
              </a:rPr>
              <a:t>KAZ-EHS-IND-001 · Rev. 07 · Management &amp; Staff EHS Induction · Restricted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334000" y="6451600"/>
            <a:ext cx="41910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850" b="0" i="0">
                <a:solidFill>
                  <a:srgbClr val="6B7A88"/>
                </a:solidFill>
                <a:latin typeface="Calibri"/>
              </a:rPr>
              <a:t>02 · EHS Leadership and Responsibilities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890000" y="6451600"/>
            <a:ext cx="23876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50" b="0" i="0">
                <a:solidFill>
                  <a:srgbClr val="6B7A88"/>
                </a:solidFill>
                <a:latin typeface="Calibri"/>
              </a:rPr>
              <a:t>Slide 12 of 63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0099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pic>
        <p:nvPicPr>
          <p:cNvPr id="3" name="Picture 2" descr="siemens_energy_100x31_rgb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07600" y="381000"/>
            <a:ext cx="1270000" cy="3937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4400" y="355600"/>
            <a:ext cx="8763000" cy="190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1" i="0">
                <a:solidFill>
                  <a:srgbClr val="009999"/>
                </a:solidFill>
                <a:latin typeface="Calibri"/>
              </a:rPr>
              <a:t>CHAPTER 02  ·  EHS LEADERSHIP AND RESPONSIBILITIES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584200"/>
            <a:ext cx="8890000" cy="47053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700" b="1" i="0">
                <a:solidFill>
                  <a:srgbClr val="12263A"/>
                </a:solidFill>
                <a:latin typeface="Calibri"/>
              </a:rPr>
              <a:t>Leadership Responsibilities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092834"/>
            <a:ext cx="8890000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 i="0">
                <a:solidFill>
                  <a:srgbClr val="6B7A88"/>
                </a:solidFill>
                <a:latin typeface="Calibri"/>
              </a:rPr>
              <a:t>👷 For managers, engineers and supervisors</a:t>
            </a:r>
          </a:p>
          <a:p>
            <a:pPr algn="r" rtl="1"/>
            <a:r>
              <a:rPr sz="1200">
                <a:solidFill>
                  <a:srgbClr val="333F4C"/>
                </a:solidFill>
                <a:latin typeface="Calibri"/>
              </a:rPr>
              <a:t>القادة: وفّر الموارد، تحقق يوميًا، قدّم القدوة، وأوقف غير الآمن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914400" y="1700784"/>
            <a:ext cx="1219200" cy="0"/>
          </a:xfrm>
          <a:prstGeom prst="line">
            <a:avLst/>
          </a:prstGeom>
          <a:ln w="30480">
            <a:solidFill>
              <a:srgbClr val="00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2133600" y="1709928"/>
            <a:ext cx="9144000" cy="0"/>
          </a:xfrm>
          <a:prstGeom prst="line">
            <a:avLst/>
          </a:prstGeom>
          <a:ln w="11430">
            <a:solidFill>
              <a:srgbClr val="D5DD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914400" y="1755648"/>
            <a:ext cx="2032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1" i="0">
                <a:solidFill>
                  <a:srgbClr val="009999"/>
                </a:solidFill>
                <a:latin typeface="Calibri"/>
              </a:rPr>
              <a:t>▪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7600" y="1755648"/>
            <a:ext cx="10160000" cy="2834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0" i="0">
                <a:solidFill>
                  <a:srgbClr val="333F4C"/>
                </a:solidFill>
                <a:latin typeface="Calibri"/>
              </a:rPr>
              <a:t>Own EHS in your area — you are accountable for the people and the tasks you control.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093976"/>
            <a:ext cx="2032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1" i="0">
                <a:solidFill>
                  <a:srgbClr val="009999"/>
                </a:solidFill>
                <a:latin typeface="Calibri"/>
              </a:rPr>
              <a:t>▪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17600" y="2093976"/>
            <a:ext cx="10160000" cy="2834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0" i="0">
                <a:solidFill>
                  <a:srgbClr val="333F4C"/>
                </a:solidFill>
                <a:latin typeface="Calibri"/>
              </a:rPr>
              <a:t>Provide the resources: competent people, correct tools, valid PPE, adequate time.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2432304"/>
            <a:ext cx="2032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1" i="0">
                <a:solidFill>
                  <a:srgbClr val="009999"/>
                </a:solidFill>
                <a:latin typeface="Calibri"/>
              </a:rPr>
              <a:t>▪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17600" y="2432304"/>
            <a:ext cx="10160000" cy="2834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0" i="0">
                <a:solidFill>
                  <a:srgbClr val="333F4C"/>
                </a:solidFill>
                <a:latin typeface="Calibri"/>
              </a:rPr>
              <a:t>Verify compliance — check permits, certificates, controls and housekeeping every day.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2770632"/>
            <a:ext cx="2032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1" i="0">
                <a:solidFill>
                  <a:srgbClr val="009999"/>
                </a:solidFill>
                <a:latin typeface="Calibri"/>
              </a:rPr>
              <a:t>▪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17600" y="2770632"/>
            <a:ext cx="10160000" cy="5394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0" i="0">
                <a:solidFill>
                  <a:srgbClr val="333F4C"/>
                </a:solidFill>
                <a:latin typeface="Calibri"/>
              </a:rPr>
              <a:t>Lead visibly: safety walks, toolbox talks, safety stand-downs and recognition of good practice.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3364992"/>
            <a:ext cx="2032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1" i="0">
                <a:solidFill>
                  <a:srgbClr val="009999"/>
                </a:solidFill>
                <a:latin typeface="Calibri"/>
              </a:rPr>
              <a:t>▪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7600" y="3364992"/>
            <a:ext cx="10160000" cy="2834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0" i="0">
                <a:solidFill>
                  <a:srgbClr val="333F4C"/>
                </a:solidFill>
                <a:latin typeface="Calibri"/>
              </a:rPr>
              <a:t>Make EHS the first agenda item in every formal meeting and record it in the minutes.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3703320"/>
            <a:ext cx="2032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1" i="0">
                <a:solidFill>
                  <a:srgbClr val="009999"/>
                </a:solidFill>
                <a:latin typeface="Calibri"/>
              </a:rPr>
              <a:t>▪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17600" y="3703320"/>
            <a:ext cx="10160000" cy="2834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0" i="0">
                <a:solidFill>
                  <a:srgbClr val="333F4C"/>
                </a:solidFill>
                <a:latin typeface="Calibri"/>
              </a:rPr>
              <a:t>Stop any work you consider unsafe, and support anyone who stops work.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" y="4041648"/>
            <a:ext cx="2032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1" i="0">
                <a:solidFill>
                  <a:srgbClr val="009999"/>
                </a:solidFill>
                <a:latin typeface="Calibri"/>
              </a:rPr>
              <a:t>▪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17600" y="4041648"/>
            <a:ext cx="10160000" cy="2834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0" i="0">
                <a:solidFill>
                  <a:srgbClr val="333F4C"/>
                </a:solidFill>
                <a:latin typeface="Calibri"/>
              </a:rPr>
              <a:t>Ensure incidents and near misses are reported and investigated — and lessons are applied.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914400" y="6350000"/>
            <a:ext cx="330200" cy="0"/>
          </a:xfrm>
          <a:prstGeom prst="line">
            <a:avLst/>
          </a:prstGeom>
          <a:ln w="30480">
            <a:solidFill>
              <a:srgbClr val="00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1244600" y="6350000"/>
            <a:ext cx="10033000" cy="0"/>
          </a:xfrm>
          <a:prstGeom prst="line">
            <a:avLst/>
          </a:prstGeom>
          <a:ln w="10160">
            <a:solidFill>
              <a:srgbClr val="D5DD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914400" y="6451600"/>
            <a:ext cx="54610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 i="0">
                <a:solidFill>
                  <a:srgbClr val="6B7A88"/>
                </a:solidFill>
                <a:latin typeface="Calibri"/>
              </a:rPr>
              <a:t>KAZ-EHS-IND-001 · Rev. 07 · Management &amp; Staff EHS Induction · Restricted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334000" y="6451600"/>
            <a:ext cx="41910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850" b="0" i="0">
                <a:solidFill>
                  <a:srgbClr val="6B7A88"/>
                </a:solidFill>
                <a:latin typeface="Calibri"/>
              </a:rPr>
              <a:t>02 · EHS Leadership and Responsibilities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890000" y="6451600"/>
            <a:ext cx="23876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50" b="0" i="0">
                <a:solidFill>
                  <a:srgbClr val="6B7A88"/>
                </a:solidFill>
                <a:latin typeface="Calibri"/>
              </a:rPr>
              <a:t>Slide 13 of 63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0099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pic>
        <p:nvPicPr>
          <p:cNvPr id="3" name="Picture 2" descr="siemens_energy_100x31_rgb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07600" y="381000"/>
            <a:ext cx="1270000" cy="3937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4400" y="355600"/>
            <a:ext cx="8763000" cy="190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1" i="0">
                <a:solidFill>
                  <a:srgbClr val="009999"/>
                </a:solidFill>
                <a:latin typeface="Calibri"/>
              </a:rPr>
              <a:t>CHAPTER 02  ·  EHS LEADERSHIP AND RESPONSIBILITIES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584200"/>
            <a:ext cx="8890000" cy="47053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700" b="1" i="0">
                <a:solidFill>
                  <a:srgbClr val="12263A"/>
                </a:solidFill>
                <a:latin typeface="Calibri"/>
              </a:rPr>
              <a:t>Everyone's Responsibilities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092834"/>
            <a:ext cx="8890000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 i="0">
                <a:solidFill>
                  <a:srgbClr val="6B7A88"/>
                </a:solidFill>
                <a:latin typeface="Calibri"/>
              </a:rPr>
              <a:t>🤝 Applies to employees, contractors and visitors</a:t>
            </a:r>
          </a:p>
          <a:p>
            <a:pPr algn="r" rtl="1"/>
            <a:r>
              <a:rPr sz="1200">
                <a:solidFill>
                  <a:srgbClr val="333F4C"/>
                </a:solidFill>
                <a:latin typeface="Calibri"/>
              </a:rPr>
              <a:t>اعتنِ بسلامتك وسلامة من حولك · التزم بالقواعد والتصاريح · أبلغ عن كل خطر وحادث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914400" y="1700784"/>
            <a:ext cx="1219200" cy="0"/>
          </a:xfrm>
          <a:prstGeom prst="line">
            <a:avLst/>
          </a:prstGeom>
          <a:ln w="30480">
            <a:solidFill>
              <a:srgbClr val="00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2133600" y="1709928"/>
            <a:ext cx="9144000" cy="0"/>
          </a:xfrm>
          <a:prstGeom prst="line">
            <a:avLst/>
          </a:prstGeom>
          <a:ln w="11430">
            <a:solidFill>
              <a:srgbClr val="D5DD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914400" y="1755648"/>
            <a:ext cx="2032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1" i="0">
                <a:solidFill>
                  <a:srgbClr val="009999"/>
                </a:solidFill>
                <a:latin typeface="Calibri"/>
              </a:rPr>
              <a:t>▪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7600" y="1755648"/>
            <a:ext cx="10160000" cy="2834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0" i="0">
                <a:solidFill>
                  <a:srgbClr val="333F4C"/>
                </a:solidFill>
                <a:latin typeface="Calibri"/>
              </a:rPr>
              <a:t>Take care of your own health and safety and that of everyone around you.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093976"/>
            <a:ext cx="2032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1" i="0">
                <a:solidFill>
                  <a:srgbClr val="009999"/>
                </a:solidFill>
                <a:latin typeface="Calibri"/>
              </a:rPr>
              <a:t>▪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17600" y="2093976"/>
            <a:ext cx="10160000" cy="2834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0" i="0">
                <a:solidFill>
                  <a:srgbClr val="333F4C"/>
                </a:solidFill>
                <a:latin typeface="Calibri"/>
              </a:rPr>
              <a:t>Comply with site rules, permits, method statements and instructions.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2432304"/>
            <a:ext cx="2032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1" i="0">
                <a:solidFill>
                  <a:srgbClr val="009999"/>
                </a:solidFill>
                <a:latin typeface="Calibri"/>
              </a:rPr>
              <a:t>▪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17600" y="2432304"/>
            <a:ext cx="10160000" cy="2834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0" i="0">
                <a:solidFill>
                  <a:srgbClr val="333F4C"/>
                </a:solidFill>
                <a:latin typeface="Calibri"/>
              </a:rPr>
              <a:t>Report hazards, incidents, near misses, unsafe acts and unsafe conditions.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2770632"/>
            <a:ext cx="2032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1" i="0">
                <a:solidFill>
                  <a:srgbClr val="009999"/>
                </a:solidFill>
                <a:latin typeface="Calibri"/>
              </a:rPr>
              <a:t>▪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17600" y="2770632"/>
            <a:ext cx="10160000" cy="2834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0" i="0">
                <a:solidFill>
                  <a:srgbClr val="333F4C"/>
                </a:solidFill>
                <a:latin typeface="Calibri"/>
              </a:rPr>
              <a:t>Use and maintain PPE correctly; never work with defective equipment.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3108960"/>
            <a:ext cx="2032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1" i="0">
                <a:solidFill>
                  <a:srgbClr val="009999"/>
                </a:solidFill>
                <a:latin typeface="Calibri"/>
              </a:rPr>
              <a:t>▪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7600" y="3108960"/>
            <a:ext cx="10160000" cy="2834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0" i="0">
                <a:solidFill>
                  <a:srgbClr val="333F4C"/>
                </a:solidFill>
                <a:latin typeface="Calibri"/>
              </a:rPr>
              <a:t>Attend inductions, PSI, toolbox talks and task-specific training.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3447288"/>
            <a:ext cx="2032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1" i="0">
                <a:solidFill>
                  <a:srgbClr val="009999"/>
                </a:solidFill>
                <a:latin typeface="Calibri"/>
              </a:rPr>
              <a:t>▪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17600" y="3447288"/>
            <a:ext cx="10160000" cy="2834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0" i="0">
                <a:solidFill>
                  <a:srgbClr val="333F4C"/>
                </a:solidFill>
                <a:latin typeface="Calibri"/>
              </a:rPr>
              <a:t>Never work under the influence of alcohol or drugs — random testing is enforced.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" y="3785616"/>
            <a:ext cx="2032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1" i="0">
                <a:solidFill>
                  <a:srgbClr val="009999"/>
                </a:solidFill>
                <a:latin typeface="Calibri"/>
              </a:rPr>
              <a:t>▪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17600" y="3785616"/>
            <a:ext cx="10160000" cy="2834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0" i="0">
                <a:solidFill>
                  <a:srgbClr val="333F4C"/>
                </a:solidFill>
                <a:latin typeface="Calibri"/>
              </a:rPr>
              <a:t>Protect the environment: prevent spills, segregate waste, conserve energy and water.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4400" y="4123944"/>
            <a:ext cx="2032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1" i="0">
                <a:solidFill>
                  <a:srgbClr val="009999"/>
                </a:solidFill>
                <a:latin typeface="Calibri"/>
              </a:rPr>
              <a:t>▪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17600" y="4123944"/>
            <a:ext cx="10160000" cy="2834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0" i="0">
                <a:solidFill>
                  <a:srgbClr val="333F4C"/>
                </a:solidFill>
                <a:latin typeface="Calibri"/>
              </a:rPr>
              <a:t>Participate in risk assessments for your own tasks — you know the job best.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914400" y="6350000"/>
            <a:ext cx="330200" cy="0"/>
          </a:xfrm>
          <a:prstGeom prst="line">
            <a:avLst/>
          </a:prstGeom>
          <a:ln w="30480">
            <a:solidFill>
              <a:srgbClr val="00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1244600" y="6350000"/>
            <a:ext cx="10033000" cy="0"/>
          </a:xfrm>
          <a:prstGeom prst="line">
            <a:avLst/>
          </a:prstGeom>
          <a:ln w="10160">
            <a:solidFill>
              <a:srgbClr val="D5DD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914400" y="6451600"/>
            <a:ext cx="54610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 i="0">
                <a:solidFill>
                  <a:srgbClr val="6B7A88"/>
                </a:solidFill>
                <a:latin typeface="Calibri"/>
              </a:rPr>
              <a:t>KAZ-EHS-IND-001 · Rev. 07 · Management &amp; Staff EHS Induction · Restricted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334000" y="6451600"/>
            <a:ext cx="41910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850" b="0" i="0">
                <a:solidFill>
                  <a:srgbClr val="6B7A88"/>
                </a:solidFill>
                <a:latin typeface="Calibri"/>
              </a:rPr>
              <a:t>02 · EHS Leadership and Responsibilities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890000" y="6451600"/>
            <a:ext cx="23876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50" b="0" i="0">
                <a:solidFill>
                  <a:srgbClr val="6B7A88"/>
                </a:solidFill>
                <a:latin typeface="Calibri"/>
              </a:rPr>
              <a:t>Slide 14 of 63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0099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pic>
        <p:nvPicPr>
          <p:cNvPr id="3" name="Picture 2" descr="siemens_energy_100x31_rgb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07600" y="381000"/>
            <a:ext cx="1270000" cy="3937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4400" y="355600"/>
            <a:ext cx="8763000" cy="190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1" i="0">
                <a:solidFill>
                  <a:srgbClr val="009999"/>
                </a:solidFill>
                <a:latin typeface="Calibri"/>
              </a:rPr>
              <a:t>CHAPTER 02  ·  EHS LEADERSHIP AND RESPONSIBILITIES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584200"/>
            <a:ext cx="8890000" cy="47053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700" b="1" i="0">
                <a:solidFill>
                  <a:srgbClr val="12263A"/>
                </a:solidFill>
                <a:latin typeface="Calibri"/>
              </a:rPr>
              <a:t>Contractor &amp; Subcontractor Obligations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092834"/>
            <a:ext cx="8890000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 i="0">
                <a:solidFill>
                  <a:srgbClr val="6B7A88"/>
                </a:solidFill>
                <a:latin typeface="Calibri"/>
              </a:rPr>
              <a:t>🏗️ How we work together</a:t>
            </a:r>
          </a:p>
          <a:p>
            <a:pPr algn="r" rtl="1"/>
            <a:r>
              <a:rPr sz="1200">
                <a:solidFill>
                  <a:srgbClr val="333F4C"/>
                </a:solidFill>
                <a:latin typeface="Calibri"/>
              </a:rPr>
              <a:t>المقاولون: ممثل EHS كفء، تصاريح وشهادات، وبيانات شهرية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914400" y="1700784"/>
            <a:ext cx="1219200" cy="0"/>
          </a:xfrm>
          <a:prstGeom prst="line">
            <a:avLst/>
          </a:prstGeom>
          <a:ln w="30480">
            <a:solidFill>
              <a:srgbClr val="00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2133600" y="1709928"/>
            <a:ext cx="9144000" cy="0"/>
          </a:xfrm>
          <a:prstGeom prst="line">
            <a:avLst/>
          </a:prstGeom>
          <a:ln w="11430">
            <a:solidFill>
              <a:srgbClr val="D5DD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914400" y="1755648"/>
            <a:ext cx="2032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1" i="0">
                <a:solidFill>
                  <a:srgbClr val="009999"/>
                </a:solidFill>
                <a:latin typeface="Calibri"/>
              </a:rPr>
              <a:t>▪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7600" y="1755648"/>
            <a:ext cx="10160000" cy="5394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0" i="0">
                <a:solidFill>
                  <a:srgbClr val="333F4C"/>
                </a:solidFill>
                <a:latin typeface="Calibri"/>
              </a:rPr>
              <a:t>Each contractor works to its own EHS system, enriched with Siemens Energy, Client and project requirements.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350008"/>
            <a:ext cx="2032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1" i="0">
                <a:solidFill>
                  <a:srgbClr val="009999"/>
                </a:solidFill>
                <a:latin typeface="Calibri"/>
              </a:rPr>
              <a:t>▪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17600" y="2350008"/>
            <a:ext cx="10160000" cy="2834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0" i="0">
                <a:solidFill>
                  <a:srgbClr val="333F4C"/>
                </a:solidFill>
                <a:latin typeface="Calibri"/>
              </a:rPr>
              <a:t>Every contractor appoints a competent Contractor EHS Representative.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2688336"/>
            <a:ext cx="2032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1" i="0">
                <a:solidFill>
                  <a:srgbClr val="009999"/>
                </a:solidFill>
                <a:latin typeface="Calibri"/>
              </a:rPr>
              <a:t>▪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17600" y="2688336"/>
            <a:ext cx="10160000" cy="5394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0" i="0">
                <a:solidFill>
                  <a:srgbClr val="333F4C"/>
                </a:solidFill>
                <a:latin typeface="Calibri"/>
              </a:rPr>
              <a:t>Contractors provide: risk assessments, method statements, permits, competency certificates and equipment certificates.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3282696"/>
            <a:ext cx="2032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1" i="0">
                <a:solidFill>
                  <a:srgbClr val="009999"/>
                </a:solidFill>
                <a:latin typeface="Calibri"/>
              </a:rPr>
              <a:t>▪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17600" y="3282696"/>
            <a:ext cx="10160000" cy="2834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0" i="0">
                <a:solidFill>
                  <a:srgbClr val="333F4C"/>
                </a:solidFill>
                <a:latin typeface="Calibri"/>
              </a:rPr>
              <a:t>Monthly man-hours and incident data are submitted to the EHS Department.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3621024"/>
            <a:ext cx="2032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1" i="0">
                <a:solidFill>
                  <a:srgbClr val="009999"/>
                </a:solidFill>
                <a:latin typeface="Calibri"/>
              </a:rPr>
              <a:t>▪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7600" y="3621024"/>
            <a:ext cx="10160000" cy="5394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0" i="0">
                <a:solidFill>
                  <a:srgbClr val="333F4C"/>
                </a:solidFill>
                <a:latin typeface="Calibri"/>
              </a:rPr>
              <a:t>Siemens Energy may stop work, suspend, exclude or ban individuals for EHS violations — at the contractor's cost.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4215384"/>
            <a:ext cx="2032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1" i="0">
                <a:solidFill>
                  <a:srgbClr val="009999"/>
                </a:solidFill>
                <a:latin typeface="Calibri"/>
              </a:rPr>
              <a:t>▪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17600" y="4215384"/>
            <a:ext cx="10160000" cy="5394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0" i="0">
                <a:solidFill>
                  <a:srgbClr val="333F4C"/>
                </a:solidFill>
                <a:latin typeface="Calibri"/>
              </a:rPr>
              <a:t>Where local legal requirements differ from Siemens Energy requirements, the stricter requirement applies.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914400" y="6350000"/>
            <a:ext cx="330200" cy="0"/>
          </a:xfrm>
          <a:prstGeom prst="line">
            <a:avLst/>
          </a:prstGeom>
          <a:ln w="30480">
            <a:solidFill>
              <a:srgbClr val="00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1244600" y="6350000"/>
            <a:ext cx="10033000" cy="0"/>
          </a:xfrm>
          <a:prstGeom prst="line">
            <a:avLst/>
          </a:prstGeom>
          <a:ln w="10160">
            <a:solidFill>
              <a:srgbClr val="D5DD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914400" y="6451600"/>
            <a:ext cx="54610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 i="0">
                <a:solidFill>
                  <a:srgbClr val="6B7A88"/>
                </a:solidFill>
                <a:latin typeface="Calibri"/>
              </a:rPr>
              <a:t>KAZ-EHS-IND-001 · Rev. 07 · Management &amp; Staff EHS Induction · Restricted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334000" y="6451600"/>
            <a:ext cx="41910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850" b="0" i="0">
                <a:solidFill>
                  <a:srgbClr val="6B7A88"/>
                </a:solidFill>
                <a:latin typeface="Calibri"/>
              </a:rPr>
              <a:t>02 · EHS Leadership and Responsibilities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0000" y="6451600"/>
            <a:ext cx="23876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50" b="0" i="0">
                <a:solidFill>
                  <a:srgbClr val="6B7A88"/>
                </a:solidFill>
                <a:latin typeface="Calibri"/>
              </a:rPr>
              <a:t>Slide 15 of 63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226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0099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76200"/>
            <a:ext cx="76200" cy="6781800"/>
          </a:xfrm>
          <a:prstGeom prst="rect">
            <a:avLst/>
          </a:prstGeom>
          <a:solidFill>
            <a:srgbClr val="0099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8585200" y="304800"/>
            <a:ext cx="3302000" cy="1041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pic>
        <p:nvPicPr>
          <p:cNvPr id="6" name="Picture 5" descr="siemens_energy_244x74_rgb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6800" y="381000"/>
            <a:ext cx="3098800" cy="9398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219200" y="1625600"/>
            <a:ext cx="3810000" cy="1905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0" b="1" i="0">
                <a:solidFill>
                  <a:srgbClr val="183851"/>
                </a:solidFill>
                <a:latin typeface="Calibri"/>
              </a:rPr>
              <a:t>03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19200" y="3632200"/>
            <a:ext cx="9652000" cy="523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200" b="1" i="0">
                <a:solidFill>
                  <a:srgbClr val="FFFFFF"/>
                </a:solidFill>
                <a:latin typeface="Calibri"/>
              </a:rPr>
              <a:t>The Project, the Site and Daily Rules</a:t>
            </a:r>
          </a:p>
        </p:txBody>
      </p:sp>
      <p:sp>
        <p:nvSpPr>
          <p:cNvPr id="9" name="Rectangle 8"/>
          <p:cNvSpPr/>
          <p:nvPr/>
        </p:nvSpPr>
        <p:spPr>
          <a:xfrm>
            <a:off x="1219200" y="4267200"/>
            <a:ext cx="1219200" cy="38100"/>
          </a:xfrm>
          <a:prstGeom prst="rect">
            <a:avLst/>
          </a:prstGeom>
          <a:solidFill>
            <a:srgbClr val="0099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219200" y="4470400"/>
            <a:ext cx="9144000" cy="6583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0" i="0">
                <a:solidFill>
                  <a:srgbClr val="9FD8D8"/>
                </a:solidFill>
                <a:latin typeface="Calibri"/>
              </a:rPr>
              <a:t>Where you are working, how the site is organised and the rules that always apply.</a:t>
            </a:r>
          </a:p>
          <a:p>
            <a:pPr algn="r" rtl="1"/>
            <a:r>
              <a:rPr sz="1300">
                <a:solidFill>
                  <a:srgbClr val="333F4C"/>
                </a:solidFill>
                <a:latin typeface="Calibri"/>
              </a:rPr>
              <a:t>أين تعمل، وكيف يُنظَّم الموقع، والقواعد التي تنطبق دائمًا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19200" y="5440680"/>
            <a:ext cx="9906000" cy="584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150" b="0" i="0">
                <a:solidFill>
                  <a:srgbClr val="8FA8BC"/>
                </a:solidFill>
                <a:latin typeface="Calibri"/>
              </a:rPr>
              <a:t>Project scope  ·  Site layout  ·  Base camp  ·  EHS organisation  ·  General rules  ·  Stop Work Authority  ·  Risk assessment  ·  Daily routine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19200" y="5943600"/>
            <a:ext cx="6350000" cy="254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C8399"/>
                </a:solidFill>
                <a:latin typeface="Calibri"/>
              </a:rPr>
              <a:t>KAZ-EHS-IND-001 · Rev. 07 · Restricted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20000" y="5943600"/>
            <a:ext cx="3505200" cy="254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C8399"/>
                </a:solidFill>
                <a:latin typeface="Calibri"/>
              </a:rPr>
              <a:t>Slide 16 of 63</a:t>
            </a:r>
          </a:p>
        </p:txBody>
      </p:sp>
      <p:pic>
        <p:nvPicPr>
          <p:cNvPr id="14" name="Picture 13" descr="signs_prohibitio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89520" y="1143000"/>
            <a:ext cx="4206240" cy="887444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0099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pic>
        <p:nvPicPr>
          <p:cNvPr id="3" name="Picture 2" descr="siemens_energy_100x31_rgb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07600" y="381000"/>
            <a:ext cx="1270000" cy="3937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4400" y="355600"/>
            <a:ext cx="8763000" cy="190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1" i="0">
                <a:solidFill>
                  <a:srgbClr val="009999"/>
                </a:solidFill>
                <a:latin typeface="Calibri"/>
              </a:rPr>
              <a:t>CHAPTER 03  ·  THE PROJECT, THE SITE AND DAILY RULES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584200"/>
            <a:ext cx="8890000" cy="47053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700" b="1" i="0">
                <a:solidFill>
                  <a:srgbClr val="12263A"/>
                </a:solidFill>
                <a:latin typeface="Calibri"/>
              </a:rPr>
              <a:t>The Project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092834"/>
            <a:ext cx="8890000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 i="0">
                <a:solidFill>
                  <a:srgbClr val="6B7A88"/>
                </a:solidFill>
                <a:latin typeface="Calibri"/>
              </a:rPr>
              <a:t>⚙️ KAZ Power Plant Upgrade Project</a:t>
            </a:r>
          </a:p>
          <a:p>
            <a:pPr algn="r" rtl="1"/>
            <a:r>
              <a:rPr sz="1200">
                <a:solidFill>
                  <a:srgbClr val="333F4C"/>
                </a:solidFill>
                <a:latin typeface="Calibri"/>
              </a:rPr>
              <a:t>تحديث مفاتيح 400/132/11 ك.ف داخل محطة كهرباء حية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914400" y="1700784"/>
            <a:ext cx="1219200" cy="0"/>
          </a:xfrm>
          <a:prstGeom prst="line">
            <a:avLst/>
          </a:prstGeom>
          <a:ln w="30480">
            <a:solidFill>
              <a:srgbClr val="00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2133600" y="1709928"/>
            <a:ext cx="9144000" cy="0"/>
          </a:xfrm>
          <a:prstGeom prst="line">
            <a:avLst/>
          </a:prstGeom>
          <a:ln w="11430">
            <a:solidFill>
              <a:srgbClr val="D5DD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914400" y="1755648"/>
            <a:ext cx="2032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1" i="0">
                <a:solidFill>
                  <a:srgbClr val="009999"/>
                </a:solidFill>
                <a:latin typeface="Calibri"/>
              </a:rPr>
              <a:t>▪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7600" y="1755648"/>
            <a:ext cx="10160000" cy="5394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0" i="0">
                <a:solidFill>
                  <a:srgbClr val="333F4C"/>
                </a:solidFill>
                <a:latin typeface="Calibri"/>
              </a:rPr>
              <a:t>Modernisation and expansion of the existing 400/132/11 kV Air Insulated Switchgear (AIS) facilities.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350008"/>
            <a:ext cx="2032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1" i="0">
                <a:solidFill>
                  <a:srgbClr val="009999"/>
                </a:solidFill>
                <a:latin typeface="Calibri"/>
              </a:rPr>
              <a:t>▪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17600" y="2350008"/>
            <a:ext cx="10160000" cy="5394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0" i="0">
                <a:solidFill>
                  <a:srgbClr val="333F4C"/>
                </a:solidFill>
                <a:latin typeface="Calibri"/>
              </a:rPr>
              <a:t>New 400 kV and 132 kV bays: circuit breakers, disconnectors, earthing switches, current and voltage transformers, surge arresters and busbar extensions.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2944368"/>
            <a:ext cx="2032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1" i="0">
                <a:solidFill>
                  <a:srgbClr val="009999"/>
                </a:solidFill>
                <a:latin typeface="Calibri"/>
              </a:rPr>
              <a:t>▪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17600" y="2944368"/>
            <a:ext cx="10160000" cy="5394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0" i="0">
                <a:solidFill>
                  <a:srgbClr val="333F4C"/>
                </a:solidFill>
                <a:latin typeface="Calibri"/>
              </a:rPr>
              <a:t>Civil works: foundations, earthing grid enhancement, steel structures, cable trenches and ducts.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3538728"/>
            <a:ext cx="2032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1" i="0">
                <a:solidFill>
                  <a:srgbClr val="009999"/>
                </a:solidFill>
                <a:latin typeface="Calibri"/>
              </a:rPr>
              <a:t>▪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17600" y="3538728"/>
            <a:ext cx="10160000" cy="2834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0" i="0">
                <a:solidFill>
                  <a:srgbClr val="333F4C"/>
                </a:solidFill>
                <a:latin typeface="Calibri"/>
              </a:rPr>
              <a:t>Electrical works: control, protection, metering, telecom and SCADA/DAS interfacing.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3877056"/>
            <a:ext cx="2032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1" i="0">
                <a:solidFill>
                  <a:srgbClr val="009999"/>
                </a:solidFill>
                <a:latin typeface="Calibri"/>
              </a:rPr>
              <a:t>▪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7600" y="3877056"/>
            <a:ext cx="10160000" cy="2834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0" i="0">
                <a:solidFill>
                  <a:srgbClr val="333F4C"/>
                </a:solidFill>
                <a:latin typeface="Calibri"/>
              </a:rPr>
              <a:t>Activities: installation, testing, commissioning and trial operation.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4215384"/>
            <a:ext cx="2032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1" i="0">
                <a:solidFill>
                  <a:srgbClr val="009999"/>
                </a:solidFill>
                <a:latin typeface="Calibri"/>
              </a:rPr>
              <a:t>▪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17600" y="4215384"/>
            <a:ext cx="10160000" cy="2834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0" i="0">
                <a:solidFill>
                  <a:srgbClr val="333F4C"/>
                </a:solidFill>
                <a:latin typeface="Calibri"/>
              </a:rPr>
              <a:t>Duration: 13.5 months. Client: MoE &amp; BGC. Principal Contractor: Siemens Energy.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" y="4589145"/>
            <a:ext cx="10363200" cy="5041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1" i="0">
                <a:solidFill>
                  <a:srgbClr val="52177A"/>
                </a:solidFill>
                <a:latin typeface="Calibri"/>
              </a:rPr>
              <a:t>Critical context: the works are executed inside a LIVE power plant — coordination with MoE Operations is mandatory for every activity.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914400" y="6350000"/>
            <a:ext cx="330200" cy="0"/>
          </a:xfrm>
          <a:prstGeom prst="line">
            <a:avLst/>
          </a:prstGeom>
          <a:ln w="30480">
            <a:solidFill>
              <a:srgbClr val="00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1244600" y="6350000"/>
            <a:ext cx="10033000" cy="0"/>
          </a:xfrm>
          <a:prstGeom prst="line">
            <a:avLst/>
          </a:prstGeom>
          <a:ln w="10160">
            <a:solidFill>
              <a:srgbClr val="D5DD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914400" y="6451600"/>
            <a:ext cx="54610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 i="0">
                <a:solidFill>
                  <a:srgbClr val="6B7A88"/>
                </a:solidFill>
                <a:latin typeface="Calibri"/>
              </a:rPr>
              <a:t>KAZ-EHS-IND-001 · Rev. 07 · Management &amp; Staff EHS Induction · Restricted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334000" y="6451600"/>
            <a:ext cx="41910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850" b="0" i="0">
                <a:solidFill>
                  <a:srgbClr val="6B7A88"/>
                </a:solidFill>
                <a:latin typeface="Calibri"/>
              </a:rPr>
              <a:t>03 · The Project, the Site and Daily Rules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890000" y="6451600"/>
            <a:ext cx="23876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50" b="0" i="0">
                <a:solidFill>
                  <a:srgbClr val="6B7A88"/>
                </a:solidFill>
                <a:latin typeface="Calibri"/>
              </a:rPr>
              <a:t>Slide 17 of 63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0099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pic>
        <p:nvPicPr>
          <p:cNvPr id="3" name="Picture 2" descr="siemens_energy_100x31_rgb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07600" y="381000"/>
            <a:ext cx="1270000" cy="3937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4400" y="355600"/>
            <a:ext cx="8763000" cy="190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1" i="0">
                <a:solidFill>
                  <a:srgbClr val="009999"/>
                </a:solidFill>
                <a:latin typeface="Calibri"/>
              </a:rPr>
              <a:t>CHAPTER 03  ·  THE PROJECT, THE SITE AND DAILY RULES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584200"/>
            <a:ext cx="8890000" cy="47053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700" b="1" i="0">
                <a:solidFill>
                  <a:srgbClr val="12263A"/>
                </a:solidFill>
                <a:latin typeface="Calibri"/>
              </a:rPr>
              <a:t>Site Layout and Emergency Facilities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092834"/>
            <a:ext cx="8890000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 i="0">
                <a:solidFill>
                  <a:srgbClr val="6B7A88"/>
                </a:solidFill>
                <a:latin typeface="Calibri"/>
              </a:rPr>
              <a:t>🗺️ Know your location before you start work</a:t>
            </a:r>
          </a:p>
          <a:p>
            <a:pPr algn="r" rtl="1"/>
            <a:r>
              <a:rPr sz="1200">
                <a:solidFill>
                  <a:srgbClr val="333F4C"/>
                </a:solidFill>
                <a:latin typeface="Calibri"/>
              </a:rPr>
              <a:t>اعرف موقعك: نقاط التجمع والإسعاف والإطفاء والمناطق الحمراء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914400" y="1700784"/>
            <a:ext cx="1219200" cy="0"/>
          </a:xfrm>
          <a:prstGeom prst="line">
            <a:avLst/>
          </a:prstGeom>
          <a:ln w="30480">
            <a:solidFill>
              <a:srgbClr val="00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2133600" y="1709928"/>
            <a:ext cx="9144000" cy="0"/>
          </a:xfrm>
          <a:prstGeom prst="line">
            <a:avLst/>
          </a:prstGeom>
          <a:ln w="11430">
            <a:solidFill>
              <a:srgbClr val="D5DD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914400" y="1758950"/>
            <a:ext cx="203200" cy="5118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1" i="0">
                <a:solidFill>
                  <a:srgbClr val="009999"/>
                </a:solidFill>
                <a:latin typeface="Calibri"/>
              </a:rPr>
              <a:t>▪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7600" y="1752600"/>
            <a:ext cx="10160000" cy="5372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0" i="0">
                <a:solidFill>
                  <a:srgbClr val="333F4C"/>
                </a:solidFill>
                <a:latin typeface="Calibri"/>
              </a:rPr>
              <a:t>Your work area, mobilisation and laydown area, warehouses, camp and offices — shown on the site plot plan.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359660"/>
            <a:ext cx="203200" cy="25590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1" i="0">
                <a:solidFill>
                  <a:srgbClr val="009999"/>
                </a:solidFill>
                <a:latin typeface="Calibri"/>
              </a:rPr>
              <a:t>▪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17600" y="2353310"/>
            <a:ext cx="10160000" cy="28130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0" i="0">
                <a:solidFill>
                  <a:srgbClr val="333F4C"/>
                </a:solidFill>
                <a:latin typeface="Calibri"/>
              </a:rPr>
              <a:t>Emergency layer you must know: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43000" y="2704465"/>
            <a:ext cx="203200" cy="23939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1" i="0">
                <a:solidFill>
                  <a:srgbClr val="6B7A88"/>
                </a:solidFill>
                <a:latin typeface="Calibri"/>
              </a:rPr>
              <a:t>•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46200" y="2698115"/>
            <a:ext cx="9931400" cy="26479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0" i="0">
                <a:solidFill>
                  <a:srgbClr val="333F4C"/>
                </a:solidFill>
                <a:latin typeface="Calibri"/>
              </a:rPr>
              <a:t>Assembly points (Muster points) for your area.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43000" y="2994660"/>
            <a:ext cx="203200" cy="23939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1" i="0">
                <a:solidFill>
                  <a:srgbClr val="6B7A88"/>
                </a:solidFill>
                <a:latin typeface="Calibri"/>
              </a:rPr>
              <a:t>•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46200" y="2988310"/>
            <a:ext cx="9931400" cy="26479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0" i="0">
                <a:solidFill>
                  <a:srgbClr val="333F4C"/>
                </a:solidFill>
                <a:latin typeface="Calibri"/>
              </a:rPr>
              <a:t>First-aid points, site clinic and the route to the nearest hospital.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43000" y="3284855"/>
            <a:ext cx="203200" cy="23939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1" i="0">
                <a:solidFill>
                  <a:srgbClr val="6B7A88"/>
                </a:solidFill>
                <a:latin typeface="Calibri"/>
              </a:rPr>
              <a:t>•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46200" y="3278505"/>
            <a:ext cx="9931400" cy="26479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0" i="0">
                <a:solidFill>
                  <a:srgbClr val="333F4C"/>
                </a:solidFill>
                <a:latin typeface="Calibri"/>
              </a:rPr>
              <a:t>Fire points, extinguishers and eyewash stations.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43000" y="3575050"/>
            <a:ext cx="203200" cy="23939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1" i="0">
                <a:solidFill>
                  <a:srgbClr val="6B7A88"/>
                </a:solidFill>
                <a:latin typeface="Calibri"/>
              </a:rPr>
              <a:t>•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46200" y="3568700"/>
            <a:ext cx="9931400" cy="26479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0" i="0">
                <a:solidFill>
                  <a:srgbClr val="333F4C"/>
                </a:solidFill>
                <a:latin typeface="Calibri"/>
              </a:rPr>
              <a:t>Emergency exits and the route for fire, ambulance and emergency vehicles.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" y="3865245"/>
            <a:ext cx="203200" cy="25590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1" i="0">
                <a:solidFill>
                  <a:srgbClr val="009999"/>
                </a:solidFill>
                <a:latin typeface="Calibri"/>
              </a:rPr>
              <a:t>▪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17600" y="3858895"/>
            <a:ext cx="10160000" cy="28130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0" i="0">
                <a:solidFill>
                  <a:srgbClr val="333F4C"/>
                </a:solidFill>
                <a:latin typeface="Calibri"/>
              </a:rPr>
              <a:t>Red zones: high-voltage areas where access is restricted and controlled.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4400" y="4210050"/>
            <a:ext cx="203200" cy="5118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1" i="0">
                <a:solidFill>
                  <a:srgbClr val="009999"/>
                </a:solidFill>
                <a:latin typeface="Calibri"/>
              </a:rPr>
              <a:t>▪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17600" y="4203700"/>
            <a:ext cx="10160000" cy="5372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0" i="0">
                <a:solidFill>
                  <a:srgbClr val="333F4C"/>
                </a:solidFill>
                <a:latin typeface="Calibri"/>
              </a:rPr>
              <a:t>The plot plan is posted at the site entrance, offices and assembly points — check it on your first day.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914400" y="6350000"/>
            <a:ext cx="330200" cy="0"/>
          </a:xfrm>
          <a:prstGeom prst="line">
            <a:avLst/>
          </a:prstGeom>
          <a:ln w="30480">
            <a:solidFill>
              <a:srgbClr val="00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1244600" y="6350000"/>
            <a:ext cx="10033000" cy="0"/>
          </a:xfrm>
          <a:prstGeom prst="line">
            <a:avLst/>
          </a:prstGeom>
          <a:ln w="10160">
            <a:solidFill>
              <a:srgbClr val="D5DD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914400" y="6451600"/>
            <a:ext cx="54610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 i="0">
                <a:solidFill>
                  <a:srgbClr val="6B7A88"/>
                </a:solidFill>
                <a:latin typeface="Calibri"/>
              </a:rPr>
              <a:t>KAZ-EHS-IND-001 · Rev. 07 · Management &amp; Staff EHS Induction · Restricted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334000" y="6451600"/>
            <a:ext cx="41910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850" b="0" i="0">
                <a:solidFill>
                  <a:srgbClr val="6B7A88"/>
                </a:solidFill>
                <a:latin typeface="Calibri"/>
              </a:rPr>
              <a:t>03 · The Project, the Site and Daily Rules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890000" y="6451600"/>
            <a:ext cx="23876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50" b="0" i="0">
                <a:solidFill>
                  <a:srgbClr val="6B7A88"/>
                </a:solidFill>
                <a:latin typeface="Calibri"/>
              </a:rPr>
              <a:t>Slide 18 of 63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0099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pic>
        <p:nvPicPr>
          <p:cNvPr id="3" name="Picture 2" descr="siemens_energy_100x31_rgb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07600" y="381000"/>
            <a:ext cx="1270000" cy="3937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4400" y="355600"/>
            <a:ext cx="8763000" cy="190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1" i="0">
                <a:solidFill>
                  <a:srgbClr val="009999"/>
                </a:solidFill>
                <a:latin typeface="Calibri"/>
              </a:rPr>
              <a:t>CHAPTER 03  ·  THE PROJECT, THE SITE AND DAILY RULES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584200"/>
            <a:ext cx="8890000" cy="47053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700" b="1" i="0">
                <a:solidFill>
                  <a:srgbClr val="12263A"/>
                </a:solidFill>
                <a:latin typeface="Calibri"/>
              </a:rPr>
              <a:t>Base Camp and Site Offices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092834"/>
            <a:ext cx="8890000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 i="0">
                <a:solidFill>
                  <a:srgbClr val="6B7A88"/>
                </a:solidFill>
                <a:latin typeface="Calibri"/>
              </a:rPr>
              <a:t>🏕️ The main office, the camp and the facilities you will use — layout on the next slide</a:t>
            </a:r>
          </a:p>
          <a:p>
            <a:pPr algn="r" rtl="1"/>
            <a:r>
              <a:rPr sz="1200">
                <a:solidFill>
                  <a:srgbClr val="333F4C"/>
                </a:solidFill>
                <a:latin typeface="Calibri"/>
              </a:rPr>
              <a:t>المخيم والمكاتب: قواعد السكن والنظافة والطوارئ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914400" y="1700784"/>
            <a:ext cx="1219200" cy="0"/>
          </a:xfrm>
          <a:prstGeom prst="line">
            <a:avLst/>
          </a:prstGeom>
          <a:ln w="30480">
            <a:solidFill>
              <a:srgbClr val="00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2133600" y="1709928"/>
            <a:ext cx="9144000" cy="0"/>
          </a:xfrm>
          <a:prstGeom prst="line">
            <a:avLst/>
          </a:prstGeom>
          <a:ln w="11430">
            <a:solidFill>
              <a:srgbClr val="D5DD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914400" y="1755648"/>
            <a:ext cx="2032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50" b="1" i="0">
                <a:solidFill>
                  <a:srgbClr val="009999"/>
                </a:solidFill>
                <a:latin typeface="Calibri"/>
              </a:rPr>
              <a:t>▪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7600" y="1755648"/>
            <a:ext cx="6527800" cy="46988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50" b="0" i="0">
                <a:solidFill>
                  <a:srgbClr val="333F4C"/>
                </a:solidFill>
                <a:latin typeface="Calibri"/>
              </a:rPr>
              <a:t>**Main office block** — project management, EHS office, document control, meeting rooms and the site clinic.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280395"/>
            <a:ext cx="2032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50" b="1" i="0">
                <a:solidFill>
                  <a:srgbClr val="009999"/>
                </a:solidFill>
                <a:latin typeface="Calibri"/>
              </a:rPr>
              <a:t>▪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17600" y="2280395"/>
            <a:ext cx="6527800" cy="46988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50" b="0" i="0">
                <a:solidFill>
                  <a:srgbClr val="333F4C"/>
                </a:solidFill>
                <a:latin typeface="Calibri"/>
              </a:rPr>
              <a:t>**Base camp** — accommodation, canteen, prayer room, laundry and recreation areas. Camp rules apply at all times.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2805143"/>
            <a:ext cx="2032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50" b="1" i="0">
                <a:solidFill>
                  <a:srgbClr val="009999"/>
                </a:solidFill>
                <a:latin typeface="Calibri"/>
              </a:rPr>
              <a:t>▪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17600" y="2805143"/>
            <a:ext cx="6527800" cy="69287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50" b="0" i="0">
                <a:solidFill>
                  <a:srgbClr val="333F4C"/>
                </a:solidFill>
                <a:latin typeface="Calibri"/>
              </a:rPr>
              <a:t>**Camp and office safety:** keep escape routes and extinguishers clear; no cooking, no smoking and no unauthorised electrical appliances inside rooms or offices.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3552886"/>
            <a:ext cx="2032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50" b="1" i="0">
                <a:solidFill>
                  <a:srgbClr val="009999"/>
                </a:solidFill>
                <a:latin typeface="Calibri"/>
              </a:rPr>
              <a:t>▪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17600" y="3552886"/>
            <a:ext cx="6527800" cy="46988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50" b="0" i="0">
                <a:solidFill>
                  <a:srgbClr val="333F4C"/>
                </a:solidFill>
                <a:latin typeface="Calibri"/>
              </a:rPr>
              <a:t>**Utilities** — potable water points, generators and UPS areas, waste collection points and the sewage / grey-water system.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4077634"/>
            <a:ext cx="2032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50" b="1" i="0">
                <a:solidFill>
                  <a:srgbClr val="009999"/>
                </a:solidFill>
                <a:latin typeface="Calibri"/>
              </a:rPr>
              <a:t>▪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7600" y="4077634"/>
            <a:ext cx="6527800" cy="69287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50" b="0" i="0">
                <a:solidFill>
                  <a:srgbClr val="333F4C"/>
                </a:solidFill>
                <a:latin typeface="Calibri"/>
              </a:rPr>
              <a:t>**Housekeeping** — bins are provided in every block; report damage, leaks, pests or a faulty air conditioner to the camp supervisor immediately.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4825377"/>
            <a:ext cx="2032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50" b="1" i="0">
                <a:solidFill>
                  <a:srgbClr val="009999"/>
                </a:solidFill>
                <a:latin typeface="Calibri"/>
              </a:rPr>
              <a:t>▪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17600" y="4825377"/>
            <a:ext cx="6527800" cy="69287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50" b="0" i="0">
                <a:solidFill>
                  <a:srgbClr val="333F4C"/>
                </a:solidFill>
                <a:latin typeface="Calibri"/>
              </a:rPr>
              <a:t>**Transport** — only approved site buses and drivers; report to the camp marshal before boarding and never leave site without authorisation.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" y="5573120"/>
            <a:ext cx="2032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50" b="1" i="0">
                <a:solidFill>
                  <a:srgbClr val="009999"/>
                </a:solidFill>
                <a:latin typeface="Calibri"/>
              </a:rPr>
              <a:t>▪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17600" y="5573120"/>
            <a:ext cx="6527800" cy="46988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50" b="0" i="0">
                <a:solidFill>
                  <a:srgbClr val="333F4C"/>
                </a:solidFill>
                <a:latin typeface="Calibri"/>
              </a:rPr>
              <a:t>**Emergency at the camp** — the camp assembly point is marked, and the clinic, first aiders and security gate are manned at all times.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026400" y="1752600"/>
            <a:ext cx="3251200" cy="3403600"/>
          </a:xfrm>
          <a:prstGeom prst="rect">
            <a:avLst/>
          </a:prstGeom>
          <a:solidFill>
            <a:srgbClr val="F4F7FA"/>
          </a:solidFill>
          <a:ln w="12700">
            <a:solidFill>
              <a:srgbClr val="B9C6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9144000" y="3073400"/>
            <a:ext cx="1016000" cy="736600"/>
          </a:xfrm>
          <a:prstGeom prst="rect">
            <a:avLst/>
          </a:prstGeom>
          <a:noFill/>
          <a:ln w="17780">
            <a:solidFill>
              <a:srgbClr val="9FB2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9245600" y="3175000"/>
            <a:ext cx="812800" cy="533400"/>
          </a:xfrm>
          <a:prstGeom prst="rect">
            <a:avLst/>
          </a:prstGeom>
          <a:solidFill>
            <a:srgbClr val="E7EE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8280400" y="3987800"/>
            <a:ext cx="2743200" cy="254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1" i="0">
                <a:solidFill>
                  <a:srgbClr val="12263A"/>
                </a:solidFill>
                <a:latin typeface="Calibri"/>
              </a:rPr>
              <a:t>INSERT SITE PHOTOGRAPH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80400" y="4216400"/>
            <a:ext cx="2743200" cy="406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30000"/>
              </a:lnSpc>
            </a:pPr>
            <a:r>
              <a:rPr sz="850" b="0" i="0">
                <a:solidFill>
                  <a:srgbClr val="6B7A88"/>
                </a:solidFill>
                <a:latin typeface="Calibri"/>
              </a:rPr>
              <a:t>Right-click the frame in PowerPoint
then choose Change Picture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026400" y="5156200"/>
            <a:ext cx="3251200" cy="558800"/>
          </a:xfrm>
          <a:prstGeom prst="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8128000" y="5219700"/>
            <a:ext cx="3048000" cy="431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0" i="0">
                <a:solidFill>
                  <a:srgbClr val="12263A"/>
                </a:solidFill>
                <a:latin typeface="Calibri"/>
              </a:rPr>
              <a:t>Base camp and main office — insert site photograph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914400" y="6350000"/>
            <a:ext cx="330200" cy="0"/>
          </a:xfrm>
          <a:prstGeom prst="line">
            <a:avLst/>
          </a:prstGeom>
          <a:ln w="30480">
            <a:solidFill>
              <a:srgbClr val="00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1244600" y="6350000"/>
            <a:ext cx="10033000" cy="0"/>
          </a:xfrm>
          <a:prstGeom prst="line">
            <a:avLst/>
          </a:prstGeom>
          <a:ln w="10160">
            <a:solidFill>
              <a:srgbClr val="D5DD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TextBox 31"/>
          <p:cNvSpPr txBox="1"/>
          <p:nvPr/>
        </p:nvSpPr>
        <p:spPr>
          <a:xfrm>
            <a:off x="914400" y="6451600"/>
            <a:ext cx="54610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 i="0">
                <a:solidFill>
                  <a:srgbClr val="6B7A88"/>
                </a:solidFill>
                <a:latin typeface="Calibri"/>
              </a:rPr>
              <a:t>KAZ-EHS-IND-001 · Rev. 07 · Management &amp; Staff EHS Induction · Restricted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334000" y="6451600"/>
            <a:ext cx="41910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850" b="0" i="0">
                <a:solidFill>
                  <a:srgbClr val="6B7A88"/>
                </a:solidFill>
                <a:latin typeface="Calibri"/>
              </a:rPr>
              <a:t>03 · The Project, the Site and Daily Rules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890000" y="6451600"/>
            <a:ext cx="23876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50" b="0" i="0">
                <a:solidFill>
                  <a:srgbClr val="6B7A88"/>
                </a:solidFill>
                <a:latin typeface="Calibri"/>
              </a:rPr>
              <a:t>Slide 19 of 63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0099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pic>
        <p:nvPicPr>
          <p:cNvPr id="3" name="Picture 2" descr="siemens_energy_100x31_rgb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07600" y="381000"/>
            <a:ext cx="1270000" cy="3937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4400" y="355600"/>
            <a:ext cx="8763000" cy="190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1" i="0">
                <a:solidFill>
                  <a:srgbClr val="009999"/>
                </a:solidFill>
                <a:latin typeface="Calibri"/>
              </a:rPr>
              <a:t>CHAPTER 02  ·  EHS LEADERSHIP AND RESPONSIBILITIES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584200"/>
            <a:ext cx="8890000" cy="47053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700" b="1" i="0">
                <a:solidFill>
                  <a:srgbClr val="12263A"/>
                </a:solidFill>
                <a:latin typeface="Calibri"/>
              </a:rPr>
              <a:t>Camp and Offices Layout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092834"/>
            <a:ext cx="8890000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 i="0">
                <a:solidFill>
                  <a:srgbClr val="6B7A88"/>
                </a:solidFill>
                <a:latin typeface="Calibri"/>
              </a:rPr>
              <a:t>🗺️ The camp model — parking, gates, offices, restaurants, workshop and muster point</a:t>
            </a:r>
          </a:p>
          <a:p>
            <a:pPr algn="r" rtl="1"/>
            <a:r>
              <a:rPr sz="1200">
                <a:solidFill>
                  <a:srgbClr val="333F4C"/>
                </a:solidFill>
                <a:latin typeface="Calibri"/>
              </a:rPr>
              <a:t>مخطط الكمب: البوابات والمكاتب والمطاعم ونقطة التجمع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914400" y="1700784"/>
            <a:ext cx="1219200" cy="0"/>
          </a:xfrm>
          <a:prstGeom prst="line">
            <a:avLst/>
          </a:prstGeom>
          <a:ln w="30480">
            <a:solidFill>
              <a:srgbClr val="00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2133600" y="1709928"/>
            <a:ext cx="9144000" cy="0"/>
          </a:xfrm>
          <a:prstGeom prst="line">
            <a:avLst/>
          </a:prstGeom>
          <a:ln w="11430">
            <a:solidFill>
              <a:srgbClr val="D5DD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914400" y="6350000"/>
            <a:ext cx="330200" cy="0"/>
          </a:xfrm>
          <a:prstGeom prst="line">
            <a:avLst/>
          </a:prstGeom>
          <a:ln w="30480">
            <a:solidFill>
              <a:srgbClr val="00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1244600" y="6350000"/>
            <a:ext cx="10033000" cy="0"/>
          </a:xfrm>
          <a:prstGeom prst="line">
            <a:avLst/>
          </a:prstGeom>
          <a:ln w="10160">
            <a:solidFill>
              <a:srgbClr val="D5DD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914400" y="6451600"/>
            <a:ext cx="54610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 i="0">
                <a:solidFill>
                  <a:srgbClr val="6B7A88"/>
                </a:solidFill>
                <a:latin typeface="Calibri"/>
              </a:rPr>
              <a:t>KAZ-EHS-IND-001 · Rev. 07 · Management &amp; Staff EHS Induction · Restricted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334000" y="6451600"/>
            <a:ext cx="41910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850" b="0" i="0">
                <a:solidFill>
                  <a:srgbClr val="6B7A88"/>
                </a:solidFill>
                <a:latin typeface="Calibri"/>
              </a:rPr>
              <a:t>02 · EHS Leadership and Responsibilities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890000" y="6451600"/>
            <a:ext cx="23876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50" b="0" i="0">
                <a:solidFill>
                  <a:srgbClr val="6B7A88"/>
                </a:solidFill>
                <a:latin typeface="Calibri"/>
              </a:rPr>
              <a:t>Slide 20 of 63</a:t>
            </a:r>
          </a:p>
        </p:txBody>
      </p:sp>
      <p:pic>
        <p:nvPicPr>
          <p:cNvPr id="30" name="Picture 29" descr="camp_model_layou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1828800"/>
            <a:ext cx="10360152" cy="3321523"/>
          </a:xfrm>
          <a:prstGeom prst="rect">
            <a:avLst/>
          </a:prstGeom>
        </p:spPr>
      </p:pic>
      <p:sp>
        <p:nvSpPr>
          <p:cNvPr id="31" name="TextBox 30"/>
          <p:cNvSpPr txBox="1"/>
          <p:nvPr/>
        </p:nvSpPr>
        <p:spPr>
          <a:xfrm>
            <a:off x="914400" y="5349240"/>
            <a:ext cx="1036015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>
                <a:solidFill>
                  <a:srgbClr val="6B7A88"/>
                </a:solidFill>
                <a:latin typeface="Calibri"/>
              </a:rPr>
              <a:t>Parking area · muster point (marked 'Master point' on the drawing) · smoking area · SE, MoE &amp; BGC and MIAL offices · MIAL and laborer restaurants · meeting rooms · workshop shed · containers · steel area · toilets · DG · gates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0099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pic>
        <p:nvPicPr>
          <p:cNvPr id="3" name="Picture 2" descr="siemens_energy_100x31_rgb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07600" y="381000"/>
            <a:ext cx="1270000" cy="3937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4400" y="355600"/>
            <a:ext cx="8763000" cy="190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1" i="0">
                <a:solidFill>
                  <a:srgbClr val="009999"/>
                </a:solidFill>
                <a:latin typeface="Calibri"/>
              </a:rPr>
              <a:t>CHAPTER 03  ·  THE PROJECT, THE SITE AND DAILY RULES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584200"/>
            <a:ext cx="8890000" cy="47053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700" b="1" i="0">
                <a:solidFill>
                  <a:srgbClr val="12263A"/>
                </a:solidFill>
                <a:latin typeface="Calibri"/>
              </a:rPr>
              <a:t>Project EHS Organisation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092834"/>
            <a:ext cx="8890000" cy="279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 i="0">
                <a:solidFill>
                  <a:srgbClr val="6B7A88"/>
                </a:solidFill>
                <a:latin typeface="Calibri"/>
              </a:rPr>
              <a:t>Who is responsible for what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914400" y="1422400"/>
            <a:ext cx="1219200" cy="0"/>
          </a:xfrm>
          <a:prstGeom prst="line">
            <a:avLst/>
          </a:prstGeom>
          <a:ln w="30480">
            <a:solidFill>
              <a:srgbClr val="00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2133600" y="1433830"/>
            <a:ext cx="9144000" cy="0"/>
          </a:xfrm>
          <a:prstGeom prst="line">
            <a:avLst/>
          </a:prstGeom>
          <a:ln w="11430">
            <a:solidFill>
              <a:srgbClr val="D5DD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914400" y="1755648"/>
            <a:ext cx="2032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1" i="0">
                <a:solidFill>
                  <a:srgbClr val="009999"/>
                </a:solidFill>
                <a:latin typeface="Calibri"/>
              </a:rPr>
              <a:t>▪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7600" y="1755648"/>
            <a:ext cx="10160000" cy="2834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0" i="0">
                <a:solidFill>
                  <a:srgbClr val="333F4C"/>
                </a:solidFill>
                <a:latin typeface="Calibri"/>
              </a:rPr>
              <a:t>Project Director / Site Manager — overall responsibility for EHS performance of the project.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093976"/>
            <a:ext cx="2032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1" i="0">
                <a:solidFill>
                  <a:srgbClr val="009999"/>
                </a:solidFill>
                <a:latin typeface="Calibri"/>
              </a:rPr>
              <a:t>▪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17600" y="2093976"/>
            <a:ext cx="10160000" cy="5394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0" i="0">
                <a:solidFill>
                  <a:srgbClr val="333F4C"/>
                </a:solidFill>
                <a:latin typeface="Calibri"/>
              </a:rPr>
              <a:t>Siemens Energy EHS Manager in Projects (EHSMIP) — governance, audits, verification and stop-work authority.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2688336"/>
            <a:ext cx="2032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1" i="0">
                <a:solidFill>
                  <a:srgbClr val="009999"/>
                </a:solidFill>
                <a:latin typeface="Calibri"/>
              </a:rPr>
              <a:t>▪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17600" y="2688336"/>
            <a:ext cx="10160000" cy="5394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0" i="0">
                <a:solidFill>
                  <a:srgbClr val="333F4C"/>
                </a:solidFill>
                <a:latin typeface="Calibri"/>
              </a:rPr>
              <a:t>Contractor EHS Manager and EHS Officers — daily supervision, permits, inspections and training.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3282696"/>
            <a:ext cx="2032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1" i="0">
                <a:solidFill>
                  <a:srgbClr val="009999"/>
                </a:solidFill>
                <a:latin typeface="Calibri"/>
              </a:rPr>
              <a:t>▪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17600" y="3282696"/>
            <a:ext cx="10160000" cy="2834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0" i="0">
                <a:solidFill>
                  <a:srgbClr val="333F4C"/>
                </a:solidFill>
                <a:latin typeface="Calibri"/>
              </a:rPr>
              <a:t>Area Authority / MoE Operations — authorises work in live operational areas.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3621024"/>
            <a:ext cx="2032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1" i="0">
                <a:solidFill>
                  <a:srgbClr val="009999"/>
                </a:solidFill>
                <a:latin typeface="Calibri"/>
              </a:rPr>
              <a:t>▪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7600" y="3621024"/>
            <a:ext cx="10160000" cy="5394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0" i="0">
                <a:solidFill>
                  <a:srgbClr val="333F4C"/>
                </a:solidFill>
                <a:latin typeface="Calibri"/>
              </a:rPr>
              <a:t>Authorized Electrical Person (AEP) / Isolation Authority — energy isolation, LOTO and energisation.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4215384"/>
            <a:ext cx="2032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1" i="0">
                <a:solidFill>
                  <a:srgbClr val="009999"/>
                </a:solidFill>
                <a:latin typeface="Calibri"/>
              </a:rPr>
              <a:t>▪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17600" y="4215384"/>
            <a:ext cx="10160000" cy="2834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0" i="0">
                <a:solidFill>
                  <a:srgbClr val="333F4C"/>
                </a:solidFill>
                <a:latin typeface="Calibri"/>
              </a:rPr>
              <a:t>First aiders, fire wardens and gas testers — appointed and posted in every area.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" y="5257800"/>
            <a:ext cx="10363200" cy="26479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1" i="0">
                <a:solidFill>
                  <a:srgbClr val="52177A"/>
                </a:solidFill>
                <a:latin typeface="Calibri"/>
              </a:rPr>
              <a:t>Rule: No EHS supervision = No work.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914400" y="6350000"/>
            <a:ext cx="330200" cy="0"/>
          </a:xfrm>
          <a:prstGeom prst="line">
            <a:avLst/>
          </a:prstGeom>
          <a:ln w="30480">
            <a:solidFill>
              <a:srgbClr val="00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1244600" y="6350000"/>
            <a:ext cx="10033000" cy="0"/>
          </a:xfrm>
          <a:prstGeom prst="line">
            <a:avLst/>
          </a:prstGeom>
          <a:ln w="10160">
            <a:solidFill>
              <a:srgbClr val="D5DD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914400" y="6451600"/>
            <a:ext cx="54610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 i="0">
                <a:solidFill>
                  <a:srgbClr val="6B7A88"/>
                </a:solidFill>
                <a:latin typeface="Calibri"/>
              </a:rPr>
              <a:t>KAZ-EHS-IND-001 · Rev. 07 · Management &amp; Staff EHS Induction · Restricted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334000" y="6451600"/>
            <a:ext cx="41910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850" b="0" i="0">
                <a:solidFill>
                  <a:srgbClr val="6B7A88"/>
                </a:solidFill>
                <a:latin typeface="Calibri"/>
              </a:rPr>
              <a:t>03 · The Project, the Site and Daily Rules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890000" y="6451600"/>
            <a:ext cx="23876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50" b="0" i="0">
                <a:solidFill>
                  <a:srgbClr val="6B7A88"/>
                </a:solidFill>
                <a:latin typeface="Calibri"/>
              </a:rPr>
              <a:t>Slide 21 of 63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4553712"/>
            <a:ext cx="2032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1" i="0">
                <a:solidFill>
                  <a:srgbClr val="009999"/>
                </a:solidFill>
                <a:latin typeface="Calibri"/>
              </a:rPr>
              <a:t>▪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15568" y="4553712"/>
            <a:ext cx="10160000" cy="5394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0" i="0">
                <a:solidFill>
                  <a:srgbClr val="333F4C"/>
                </a:solidFill>
                <a:latin typeface="Calibri"/>
              </a:rPr>
              <a:t>Several organisations share this site (MoE, BGC, Siemens Energy, contractors) — coordinate and look out for each other (SE 'Zebra site' principle).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0099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pic>
        <p:nvPicPr>
          <p:cNvPr id="3" name="Picture 2" descr="siemens_energy_100x31_rgb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07600" y="381000"/>
            <a:ext cx="1270000" cy="3937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4400" y="355600"/>
            <a:ext cx="8763000" cy="190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1" i="0">
                <a:solidFill>
                  <a:srgbClr val="009999"/>
                </a:solidFill>
                <a:latin typeface="Calibri"/>
              </a:rPr>
              <a:t>CHAPTER 03  ·  THE PROJECT, THE SITE AND DAILY RULES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584200"/>
            <a:ext cx="8890000" cy="47053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700" b="1" i="0">
                <a:solidFill>
                  <a:srgbClr val="12263A"/>
                </a:solidFill>
                <a:latin typeface="Calibri"/>
              </a:rPr>
              <a:t>General Site Rules (1)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092834"/>
            <a:ext cx="8890000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 i="0">
                <a:solidFill>
                  <a:srgbClr val="6B7A88"/>
                </a:solidFill>
                <a:latin typeface="Calibri"/>
              </a:rPr>
              <a:t>📋 Applies from the moment you enter the gate</a:t>
            </a:r>
          </a:p>
          <a:p>
            <a:pPr algn="r" rtl="1"/>
            <a:r>
              <a:rPr sz="1200">
                <a:solidFill>
                  <a:srgbClr val="333F4C"/>
                </a:solidFill>
                <a:latin typeface="Calibri"/>
              </a:rPr>
              <a:t>لا عمل بدون تصريح · لا عمل بدون إشراف · قيّم المخاطر (LMRA) قبل كل مهمة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914400" y="1700784"/>
            <a:ext cx="1219200" cy="0"/>
          </a:xfrm>
          <a:prstGeom prst="line">
            <a:avLst/>
          </a:prstGeom>
          <a:ln w="30480">
            <a:solidFill>
              <a:srgbClr val="00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2133600" y="1709928"/>
            <a:ext cx="9144000" cy="0"/>
          </a:xfrm>
          <a:prstGeom prst="line">
            <a:avLst/>
          </a:prstGeom>
          <a:ln w="11430">
            <a:solidFill>
              <a:srgbClr val="D5DD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914400" y="1755648"/>
            <a:ext cx="2032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1" i="0">
                <a:solidFill>
                  <a:srgbClr val="009999"/>
                </a:solidFill>
                <a:latin typeface="Calibri"/>
              </a:rPr>
              <a:t>▪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7600" y="1755648"/>
            <a:ext cx="10160000" cy="2834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0" i="0">
                <a:solidFill>
                  <a:srgbClr val="333F4C"/>
                </a:solidFill>
                <a:latin typeface="Calibri"/>
              </a:rPr>
              <a:t>Complete site induction and PSI before starting any work — and carry your induction card.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093976"/>
            <a:ext cx="2032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1" i="0">
                <a:solidFill>
                  <a:srgbClr val="009999"/>
                </a:solidFill>
                <a:latin typeface="Calibri"/>
              </a:rPr>
              <a:t>▪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17600" y="2093976"/>
            <a:ext cx="10160000" cy="2834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0" i="0">
                <a:solidFill>
                  <a:srgbClr val="333F4C"/>
                </a:solidFill>
                <a:latin typeface="Calibri"/>
              </a:rPr>
              <a:t>No work without a valid Permit to Work; no work without EHS supervision.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2432304"/>
            <a:ext cx="2032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1" i="0">
                <a:solidFill>
                  <a:srgbClr val="009999"/>
                </a:solidFill>
                <a:latin typeface="Calibri"/>
              </a:rPr>
              <a:t>▪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17600" y="2432304"/>
            <a:ext cx="10160000" cy="2834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0" i="0">
                <a:solidFill>
                  <a:srgbClr val="333F4C"/>
                </a:solidFill>
                <a:latin typeface="Calibri"/>
              </a:rPr>
              <a:t>Complete an LMRA before every task and attend the daily toolbox talk.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2770632"/>
            <a:ext cx="2032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1" i="0">
                <a:solidFill>
                  <a:srgbClr val="009999"/>
                </a:solidFill>
                <a:latin typeface="Calibri"/>
              </a:rPr>
              <a:t>▪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17600" y="2770632"/>
            <a:ext cx="10160000" cy="5394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0" i="0">
                <a:solidFill>
                  <a:srgbClr val="333F4C"/>
                </a:solidFill>
                <a:latin typeface="Calibri"/>
              </a:rPr>
              <a:t>Read and understand the risk assessment and method statement for your task — ask if anything is unclear.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3364992"/>
            <a:ext cx="2032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1" i="0">
                <a:solidFill>
                  <a:srgbClr val="009999"/>
                </a:solidFill>
                <a:latin typeface="Calibri"/>
              </a:rPr>
              <a:t>▪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7600" y="3364992"/>
            <a:ext cx="10160000" cy="2834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0" i="0">
                <a:solidFill>
                  <a:srgbClr val="333F4C"/>
                </a:solidFill>
                <a:latin typeface="Calibri"/>
              </a:rPr>
              <a:t>Wear the mandatory minimum PPE at all times (slide 45).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3703320"/>
            <a:ext cx="2032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1" i="0">
                <a:solidFill>
                  <a:srgbClr val="009999"/>
                </a:solidFill>
                <a:latin typeface="Calibri"/>
              </a:rPr>
              <a:t>▪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17600" y="3703320"/>
            <a:ext cx="10160000" cy="2834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0" i="0">
                <a:solidFill>
                  <a:srgbClr val="333F4C"/>
                </a:solidFill>
                <a:latin typeface="Calibri"/>
              </a:rPr>
              <a:t>Stay within your authorised area — never enter red or restricted zones without authorisation.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" y="4041648"/>
            <a:ext cx="2032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1" i="0">
                <a:solidFill>
                  <a:srgbClr val="009999"/>
                </a:solidFill>
                <a:latin typeface="Calibri"/>
              </a:rPr>
              <a:t>▪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17600" y="4041648"/>
            <a:ext cx="10160000" cy="2834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0" i="0">
                <a:solidFill>
                  <a:srgbClr val="333F4C"/>
                </a:solidFill>
                <a:latin typeface="Calibri"/>
              </a:rPr>
              <a:t>Keep your workplace clean and tidy — 'Clean everything, always.'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4400" y="4379976"/>
            <a:ext cx="2032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1" i="0">
                <a:solidFill>
                  <a:srgbClr val="009999"/>
                </a:solidFill>
                <a:latin typeface="Calibri"/>
              </a:rPr>
              <a:t>▪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17600" y="4379976"/>
            <a:ext cx="10160000" cy="2834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0" i="0">
                <a:solidFill>
                  <a:srgbClr val="333F4C"/>
                </a:solidFill>
                <a:latin typeface="Calibri"/>
              </a:rPr>
              <a:t>Report every near miss, unsafe act, unsafe condition and incident.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914400" y="6350000"/>
            <a:ext cx="330200" cy="0"/>
          </a:xfrm>
          <a:prstGeom prst="line">
            <a:avLst/>
          </a:prstGeom>
          <a:ln w="30480">
            <a:solidFill>
              <a:srgbClr val="00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1244600" y="6350000"/>
            <a:ext cx="10033000" cy="0"/>
          </a:xfrm>
          <a:prstGeom prst="line">
            <a:avLst/>
          </a:prstGeom>
          <a:ln w="10160">
            <a:solidFill>
              <a:srgbClr val="D5DD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914400" y="6451600"/>
            <a:ext cx="54610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 i="0">
                <a:solidFill>
                  <a:srgbClr val="6B7A88"/>
                </a:solidFill>
                <a:latin typeface="Calibri"/>
              </a:rPr>
              <a:t>KAZ-EHS-IND-001 · Rev. 07 · Management &amp; Staff EHS Induction · Restricted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334000" y="6451600"/>
            <a:ext cx="41910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850" b="0" i="0">
                <a:solidFill>
                  <a:srgbClr val="6B7A88"/>
                </a:solidFill>
                <a:latin typeface="Calibri"/>
              </a:rPr>
              <a:t>03 · The Project, the Site and Daily Rules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890000" y="6451600"/>
            <a:ext cx="23876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50" b="0" i="0">
                <a:solidFill>
                  <a:srgbClr val="6B7A88"/>
                </a:solidFill>
                <a:latin typeface="Calibri"/>
              </a:rPr>
              <a:t>Slide 22 of 63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0099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pic>
        <p:nvPicPr>
          <p:cNvPr id="3" name="Picture 2" descr="siemens_energy_100x31_rgb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07600" y="381000"/>
            <a:ext cx="1270000" cy="3937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4400" y="355600"/>
            <a:ext cx="8763000" cy="190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1" i="0">
                <a:solidFill>
                  <a:srgbClr val="009999"/>
                </a:solidFill>
                <a:latin typeface="Calibri"/>
              </a:rPr>
              <a:t>CHAPTER 03  ·  THE PROJECT, THE SITE AND DAILY RULES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584200"/>
            <a:ext cx="8890000" cy="47053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700" b="1" i="0">
                <a:solidFill>
                  <a:srgbClr val="12263A"/>
                </a:solidFill>
                <a:latin typeface="Calibri"/>
              </a:rPr>
              <a:t>General Site Rules (2)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092834"/>
            <a:ext cx="8890000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 i="0">
                <a:solidFill>
                  <a:srgbClr val="6B7A88"/>
                </a:solidFill>
                <a:latin typeface="Calibri"/>
              </a:rPr>
              <a:t>⏰ Working hours, competency and behaviour</a:t>
            </a:r>
          </a:p>
          <a:p>
            <a:pPr algn="r" rtl="1"/>
            <a:r>
              <a:rPr sz="1200">
                <a:solidFill>
                  <a:srgbClr val="333F4C"/>
                </a:solidFill>
                <a:latin typeface="Calibri"/>
              </a:rPr>
              <a:t>ساعات العمل 06:00–15:00 · كفاءة وشهادات · انضباط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914400" y="1700784"/>
            <a:ext cx="1219200" cy="0"/>
          </a:xfrm>
          <a:prstGeom prst="line">
            <a:avLst/>
          </a:prstGeom>
          <a:ln w="30480">
            <a:solidFill>
              <a:srgbClr val="00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2133600" y="1709928"/>
            <a:ext cx="9144000" cy="0"/>
          </a:xfrm>
          <a:prstGeom prst="line">
            <a:avLst/>
          </a:prstGeom>
          <a:ln w="11430">
            <a:solidFill>
              <a:srgbClr val="D5DD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914400" y="1755648"/>
            <a:ext cx="2032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1" i="0">
                <a:solidFill>
                  <a:srgbClr val="009999"/>
                </a:solidFill>
                <a:latin typeface="Calibri"/>
              </a:rPr>
              <a:t>▪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7600" y="1755648"/>
            <a:ext cx="10160000" cy="5394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0" i="0">
                <a:solidFill>
                  <a:srgbClr val="333F4C"/>
                </a:solidFill>
                <a:latin typeface="Calibri"/>
              </a:rPr>
              <a:t>Working hours: 06:00–15:00 (8 hours per day), six days per week; subcontractor hours must be approved by Siemens Energy.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350008"/>
            <a:ext cx="2032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1" i="0">
                <a:solidFill>
                  <a:srgbClr val="009999"/>
                </a:solidFill>
                <a:latin typeface="Calibri"/>
              </a:rPr>
              <a:t>▪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17600" y="2350008"/>
            <a:ext cx="10160000" cy="5394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0" i="0">
                <a:solidFill>
                  <a:srgbClr val="333F4C"/>
                </a:solidFill>
                <a:latin typeface="Calibri"/>
              </a:rPr>
              <a:t>Maximum 11 hours daytime / 7.5 hours night work, excluding breaks; one rest day in every seven. No fatigue working or driving.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2944368"/>
            <a:ext cx="2032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1" i="0">
                <a:solidFill>
                  <a:srgbClr val="009999"/>
                </a:solidFill>
                <a:latin typeface="Calibri"/>
              </a:rPr>
              <a:t>▪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17600" y="2944368"/>
            <a:ext cx="10160000" cy="2834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0" i="0">
                <a:solidFill>
                  <a:srgbClr val="333F4C"/>
                </a:solidFill>
                <a:latin typeface="Calibri"/>
              </a:rPr>
              <a:t>Only competent, certified persons operate plant, equipment and electrical systems.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3282696"/>
            <a:ext cx="2032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1" i="0">
                <a:solidFill>
                  <a:srgbClr val="009999"/>
                </a:solidFill>
                <a:latin typeface="Calibri"/>
              </a:rPr>
              <a:t>▪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17600" y="3282696"/>
            <a:ext cx="10160000" cy="5394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0" i="0">
                <a:solidFill>
                  <a:srgbClr val="333F4C"/>
                </a:solidFill>
                <a:latin typeface="Calibri"/>
              </a:rPr>
              <a:t>No horseplay, no sleeping on site, no unauthorised removal of materials (Material Gate Pass required).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3877056"/>
            <a:ext cx="2032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1" i="0">
                <a:solidFill>
                  <a:srgbClr val="009999"/>
                </a:solidFill>
                <a:latin typeface="Calibri"/>
              </a:rPr>
              <a:t>▪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7600" y="3877056"/>
            <a:ext cx="10160000" cy="2834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0" i="0">
                <a:solidFill>
                  <a:srgbClr val="333F4C"/>
                </a:solidFill>
                <a:latin typeface="Calibri"/>
              </a:rPr>
              <a:t>Zero tolerance: alcohol, drugs, weapons, fighting, harassment and theft.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4215384"/>
            <a:ext cx="2032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1" i="0">
                <a:solidFill>
                  <a:srgbClr val="009999"/>
                </a:solidFill>
                <a:latin typeface="Calibri"/>
              </a:rPr>
              <a:t>▪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17600" y="4215384"/>
            <a:ext cx="10160000" cy="5394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0" i="0">
                <a:solidFill>
                  <a:srgbClr val="333F4C"/>
                </a:solidFill>
                <a:latin typeface="Calibri"/>
              </a:rPr>
              <a:t>Photography and video recording on site are prohibited without written authorisation from the Site EHS/Security Manager.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" y="4809744"/>
            <a:ext cx="2032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1" i="0">
                <a:solidFill>
                  <a:srgbClr val="009999"/>
                </a:solidFill>
                <a:latin typeface="Calibri"/>
              </a:rPr>
              <a:t>▪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17600" y="4809744"/>
            <a:ext cx="10160000" cy="2834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0" i="0">
                <a:solidFill>
                  <a:srgbClr val="333F4C"/>
                </a:solidFill>
                <a:latin typeface="Calibri"/>
              </a:rPr>
              <a:t>Report to the site medic any illness, injury or medication that could affect your work.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914400" y="6350000"/>
            <a:ext cx="330200" cy="0"/>
          </a:xfrm>
          <a:prstGeom prst="line">
            <a:avLst/>
          </a:prstGeom>
          <a:ln w="30480">
            <a:solidFill>
              <a:srgbClr val="00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1244600" y="6350000"/>
            <a:ext cx="10033000" cy="0"/>
          </a:xfrm>
          <a:prstGeom prst="line">
            <a:avLst/>
          </a:prstGeom>
          <a:ln w="10160">
            <a:solidFill>
              <a:srgbClr val="D5DD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914400" y="6451600"/>
            <a:ext cx="54610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 i="0">
                <a:solidFill>
                  <a:srgbClr val="6B7A88"/>
                </a:solidFill>
                <a:latin typeface="Calibri"/>
              </a:rPr>
              <a:t>KAZ-EHS-IND-001 · Rev. 07 · Management &amp; Staff EHS Induction · Restricted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334000" y="6451600"/>
            <a:ext cx="41910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850" b="0" i="0">
                <a:solidFill>
                  <a:srgbClr val="6B7A88"/>
                </a:solidFill>
                <a:latin typeface="Calibri"/>
              </a:rPr>
              <a:t>03 · The Project, the Site and Daily Rules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890000" y="6451600"/>
            <a:ext cx="23876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50" b="0" i="0">
                <a:solidFill>
                  <a:srgbClr val="6B7A88"/>
                </a:solidFill>
                <a:latin typeface="Calibri"/>
              </a:rPr>
              <a:t>Slide 23 of 63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0099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pic>
        <p:nvPicPr>
          <p:cNvPr id="3" name="Picture 2" descr="siemens_energy_100x31_rgb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07600" y="381000"/>
            <a:ext cx="1270000" cy="3937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4400" y="355600"/>
            <a:ext cx="8763000" cy="190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1" i="0">
                <a:solidFill>
                  <a:srgbClr val="009999"/>
                </a:solidFill>
                <a:latin typeface="Calibri"/>
              </a:rPr>
              <a:t>CHAPTER 03  ·  THE PROJECT, THE SITE AND DAILY RULES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584200"/>
            <a:ext cx="8890000" cy="47053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700" b="1" i="0">
                <a:solidFill>
                  <a:srgbClr val="12263A"/>
                </a:solidFill>
                <a:latin typeface="Calibri"/>
              </a:rPr>
              <a:t>Stop Work Authority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092834"/>
            <a:ext cx="8890000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 i="0">
                <a:solidFill>
                  <a:srgbClr val="6B7A88"/>
                </a:solidFill>
                <a:latin typeface="Calibri"/>
              </a:rPr>
              <a:t>✋ You are empowered — and expected — to use it</a:t>
            </a:r>
          </a:p>
          <a:p>
            <a:pPr algn="r" rtl="1"/>
            <a:r>
              <a:rPr sz="1200">
                <a:solidFill>
                  <a:srgbClr val="333F4C"/>
                </a:solidFill>
                <a:latin typeface="Calibri"/>
              </a:rPr>
              <a:t>من حقك ومن واجبك إيقاف أي عمل خطر — ولن تُعاقب على ذلك أبداً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914400" y="1700784"/>
            <a:ext cx="1219200" cy="0"/>
          </a:xfrm>
          <a:prstGeom prst="line">
            <a:avLst/>
          </a:prstGeom>
          <a:ln w="30480">
            <a:solidFill>
              <a:srgbClr val="00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2133600" y="1709928"/>
            <a:ext cx="9144000" cy="0"/>
          </a:xfrm>
          <a:prstGeom prst="line">
            <a:avLst/>
          </a:prstGeom>
          <a:ln w="11430">
            <a:solidFill>
              <a:srgbClr val="D5DD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914400" y="1758950"/>
            <a:ext cx="203200" cy="5118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1" i="0">
                <a:solidFill>
                  <a:srgbClr val="009999"/>
                </a:solidFill>
                <a:latin typeface="Calibri"/>
              </a:rPr>
              <a:t>▪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7600" y="1752600"/>
            <a:ext cx="10160000" cy="5372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0" i="0">
                <a:solidFill>
                  <a:srgbClr val="333F4C"/>
                </a:solidFill>
                <a:latin typeface="Calibri"/>
              </a:rPr>
              <a:t>Anyone — employee, contractor or visitor — may stop any task where there is imminent danger, a rule violation, a missing control or a change in conditions.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359660"/>
            <a:ext cx="203200" cy="25590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1" i="0">
                <a:solidFill>
                  <a:srgbClr val="009999"/>
                </a:solidFill>
                <a:latin typeface="Calibri"/>
              </a:rPr>
              <a:t>▪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17600" y="2353310"/>
            <a:ext cx="10160000" cy="28130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0" i="0">
                <a:solidFill>
                  <a:srgbClr val="333F4C"/>
                </a:solidFill>
                <a:latin typeface="Calibri"/>
              </a:rPr>
              <a:t>How to apply it: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43000" y="2704465"/>
            <a:ext cx="203200" cy="23939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1" i="0">
                <a:solidFill>
                  <a:srgbClr val="6B7A88"/>
                </a:solidFill>
                <a:latin typeface="Calibri"/>
              </a:rPr>
              <a:t>•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46200" y="2698115"/>
            <a:ext cx="9931400" cy="26479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0" i="0">
                <a:solidFill>
                  <a:srgbClr val="333F4C"/>
                </a:solidFill>
                <a:latin typeface="Calibri"/>
              </a:rPr>
              <a:t>1. Stop the activity.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43000" y="2994660"/>
            <a:ext cx="203200" cy="23939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1" i="0">
                <a:solidFill>
                  <a:srgbClr val="6B7A88"/>
                </a:solidFill>
                <a:latin typeface="Calibri"/>
              </a:rPr>
              <a:t>•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46200" y="2988310"/>
            <a:ext cx="9931400" cy="26479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0" i="0">
                <a:solidFill>
                  <a:srgbClr val="333F4C"/>
                </a:solidFill>
                <a:latin typeface="Calibri"/>
              </a:rPr>
              <a:t>2. Intervene with the people involved — calmly and respectfully.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43000" y="3284855"/>
            <a:ext cx="203200" cy="23939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1" i="0">
                <a:solidFill>
                  <a:srgbClr val="6B7A88"/>
                </a:solidFill>
                <a:latin typeface="Calibri"/>
              </a:rPr>
              <a:t>•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46200" y="3278505"/>
            <a:ext cx="9931400" cy="26479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0" i="0">
                <a:solidFill>
                  <a:srgbClr val="333F4C"/>
                </a:solidFill>
                <a:latin typeface="Calibri"/>
              </a:rPr>
              <a:t>3. Escalate to the supervisor or area authority.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43000" y="3575050"/>
            <a:ext cx="203200" cy="23939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1" i="0">
                <a:solidFill>
                  <a:srgbClr val="6B7A88"/>
                </a:solidFill>
                <a:latin typeface="Calibri"/>
              </a:rPr>
              <a:t>•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46200" y="3568700"/>
            <a:ext cx="9931400" cy="26479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0" i="0">
                <a:solidFill>
                  <a:srgbClr val="333F4C"/>
                </a:solidFill>
                <a:latin typeface="Calibri"/>
              </a:rPr>
              <a:t>4. Verify and implement the required controls.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43000" y="3865245"/>
            <a:ext cx="203200" cy="23939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1" i="0">
                <a:solidFill>
                  <a:srgbClr val="6B7A88"/>
                </a:solidFill>
                <a:latin typeface="Calibri"/>
              </a:rPr>
              <a:t>•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346200" y="3858895"/>
            <a:ext cx="9931400" cy="26479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0" i="0">
                <a:solidFill>
                  <a:srgbClr val="333F4C"/>
                </a:solidFill>
                <a:latin typeface="Calibri"/>
              </a:rPr>
              <a:t>5. Restart only when authorised.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43000" y="4155440"/>
            <a:ext cx="203200" cy="23939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1" i="0">
                <a:solidFill>
                  <a:srgbClr val="6B7A88"/>
                </a:solidFill>
                <a:latin typeface="Calibri"/>
              </a:rPr>
              <a:t>•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46200" y="4149090"/>
            <a:ext cx="9931400" cy="26479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0" i="0">
                <a:solidFill>
                  <a:srgbClr val="333F4C"/>
                </a:solidFill>
                <a:latin typeface="Calibri"/>
              </a:rPr>
              <a:t>6. Record the event and give positive feedback.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4400" y="4445635"/>
            <a:ext cx="203200" cy="5118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1" i="0">
                <a:solidFill>
                  <a:srgbClr val="009999"/>
                </a:solidFill>
                <a:latin typeface="Calibri"/>
              </a:rPr>
              <a:t>▪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17600" y="4439285"/>
            <a:ext cx="10160000" cy="5372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0" i="0">
                <a:solidFill>
                  <a:srgbClr val="333F4C"/>
                </a:solidFill>
                <a:latin typeface="Calibri"/>
              </a:rPr>
              <a:t>You will not be punished, prosecuted or harassed for stopping work — this is a Siemens Energy commitment.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914400" y="6350000"/>
            <a:ext cx="330200" cy="0"/>
          </a:xfrm>
          <a:prstGeom prst="line">
            <a:avLst/>
          </a:prstGeom>
          <a:ln w="30480">
            <a:solidFill>
              <a:srgbClr val="00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1244600" y="6350000"/>
            <a:ext cx="10033000" cy="0"/>
          </a:xfrm>
          <a:prstGeom prst="line">
            <a:avLst/>
          </a:prstGeom>
          <a:ln w="10160">
            <a:solidFill>
              <a:srgbClr val="D5DD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>
            <a:off x="914400" y="6451600"/>
            <a:ext cx="54610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 i="0">
                <a:solidFill>
                  <a:srgbClr val="6B7A88"/>
                </a:solidFill>
                <a:latin typeface="Calibri"/>
              </a:rPr>
              <a:t>KAZ-EHS-IND-001 · Rev. 07 · Management &amp; Staff EHS Induction · Restricted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334000" y="6451600"/>
            <a:ext cx="41910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850" b="0" i="0">
                <a:solidFill>
                  <a:srgbClr val="6B7A88"/>
                </a:solidFill>
                <a:latin typeface="Calibri"/>
              </a:rPr>
              <a:t>03 · The Project, the Site and Daily Rules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890000" y="6451600"/>
            <a:ext cx="23876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50" b="0" i="0">
                <a:solidFill>
                  <a:srgbClr val="6B7A88"/>
                </a:solidFill>
                <a:latin typeface="Calibri"/>
              </a:rPr>
              <a:t>Slide 24 of 63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0099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pic>
        <p:nvPicPr>
          <p:cNvPr id="3" name="Picture 2" descr="siemens_energy_100x31_rgb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07600" y="381000"/>
            <a:ext cx="1270000" cy="3937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4400" y="355600"/>
            <a:ext cx="8763000" cy="190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1" i="0">
                <a:solidFill>
                  <a:srgbClr val="009999"/>
                </a:solidFill>
                <a:latin typeface="Calibri"/>
              </a:rPr>
              <a:t>CHAPTER 03  ·  THE PROJECT, THE SITE AND DAILY RULES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584200"/>
            <a:ext cx="8890000" cy="47053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700" b="1" i="0">
                <a:solidFill>
                  <a:srgbClr val="12263A"/>
                </a:solidFill>
                <a:latin typeface="Calibri"/>
              </a:rPr>
              <a:t>Risk Management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092834"/>
            <a:ext cx="8890000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 i="0">
                <a:solidFill>
                  <a:srgbClr val="6B7A88"/>
                </a:solidFill>
                <a:latin typeface="Calibri"/>
              </a:rPr>
              <a:t>⚠️ Risk Assessment · SJA · LMRA · Management of Change</a:t>
            </a:r>
          </a:p>
          <a:p>
            <a:pPr algn="r" rtl="1"/>
            <a:r>
              <a:rPr sz="1200">
                <a:solidFill>
                  <a:srgbClr val="333F4C"/>
                </a:solidFill>
                <a:latin typeface="Calibri"/>
              </a:rPr>
              <a:t>تقييم المخاطر · SJA · LMRA · إدارة التغيير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914400" y="1700784"/>
            <a:ext cx="1219200" cy="0"/>
          </a:xfrm>
          <a:prstGeom prst="line">
            <a:avLst/>
          </a:prstGeom>
          <a:ln w="30480">
            <a:solidFill>
              <a:srgbClr val="00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2133600" y="1709928"/>
            <a:ext cx="9144000" cy="0"/>
          </a:xfrm>
          <a:prstGeom prst="line">
            <a:avLst/>
          </a:prstGeom>
          <a:ln w="11430">
            <a:solidFill>
              <a:srgbClr val="D5DD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914400" y="1755648"/>
            <a:ext cx="2032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1" i="0">
                <a:solidFill>
                  <a:srgbClr val="009999"/>
                </a:solidFill>
                <a:latin typeface="Calibri"/>
              </a:rPr>
              <a:t>▪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7600" y="1755648"/>
            <a:ext cx="10160000" cy="5394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0" i="0">
                <a:solidFill>
                  <a:srgbClr val="333F4C"/>
                </a:solidFill>
                <a:latin typeface="Calibri"/>
              </a:rPr>
              <a:t>Risk assessment (RA): prepared before work starts and communicated to the team. Read it, follow the controls, never work outside its scope.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350008"/>
            <a:ext cx="2032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1" i="0">
                <a:solidFill>
                  <a:srgbClr val="009999"/>
                </a:solidFill>
                <a:latin typeface="Calibri"/>
              </a:rPr>
              <a:t>▪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17600" y="2350008"/>
            <a:ext cx="10160000" cy="5394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0" i="0">
                <a:solidFill>
                  <a:srgbClr val="333F4C"/>
                </a:solidFill>
                <a:latin typeface="Calibri"/>
              </a:rPr>
              <a:t>Safe Job Analysis (SJA): required for high-risk or non-routine tasks; prepared with the crew before work starts.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2944368"/>
            <a:ext cx="2032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1" i="0">
                <a:solidFill>
                  <a:srgbClr val="009999"/>
                </a:solidFill>
                <a:latin typeface="Calibri"/>
              </a:rPr>
              <a:t>▪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17600" y="2944368"/>
            <a:ext cx="10160000" cy="5394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0" i="0">
                <a:solidFill>
                  <a:srgbClr val="333F4C"/>
                </a:solidFill>
                <a:latin typeface="Calibri"/>
              </a:rPr>
              <a:t>Last Minute Risk Assessment (LMRA): a short check before every task — What can hurt me? What has changed? Are the controls in place? The method and the form are on the next slide.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3538728"/>
            <a:ext cx="2032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1" i="0">
                <a:solidFill>
                  <a:srgbClr val="009999"/>
                </a:solidFill>
                <a:latin typeface="Calibri"/>
              </a:rPr>
              <a:t>▪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17600" y="3538728"/>
            <a:ext cx="10160000" cy="5394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0" i="0">
                <a:solidFill>
                  <a:srgbClr val="333F4C"/>
                </a:solidFill>
                <a:latin typeface="Calibri"/>
              </a:rPr>
              <a:t>Hierarchy of controls: eliminate · substitute · engineering controls · administrative controls · PPE (PPE is the last line of defence).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4133088"/>
            <a:ext cx="2032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1" i="0">
                <a:solidFill>
                  <a:srgbClr val="009999"/>
                </a:solidFill>
                <a:latin typeface="Calibri"/>
              </a:rPr>
              <a:t>▪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7600" y="4133088"/>
            <a:ext cx="10160000" cy="5394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0" i="0">
                <a:solidFill>
                  <a:srgbClr val="333F4C"/>
                </a:solidFill>
                <a:latin typeface="Calibri"/>
              </a:rPr>
              <a:t>Management of Change: if the method, equipment, people or conditions change, stop work and revise the assessment.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4727448"/>
            <a:ext cx="2032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1" i="0">
                <a:solidFill>
                  <a:srgbClr val="009999"/>
                </a:solidFill>
                <a:latin typeface="Calibri"/>
              </a:rPr>
              <a:t>▪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17600" y="4727448"/>
            <a:ext cx="10160000" cy="2834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0" i="0">
                <a:solidFill>
                  <a:srgbClr val="333F4C"/>
                </a:solidFill>
                <a:latin typeface="Calibri"/>
              </a:rPr>
              <a:t>After any incident or high-potential near miss, the risk assessment is reviewed and updated.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914400" y="6350000"/>
            <a:ext cx="330200" cy="0"/>
          </a:xfrm>
          <a:prstGeom prst="line">
            <a:avLst/>
          </a:prstGeom>
          <a:ln w="30480">
            <a:solidFill>
              <a:srgbClr val="00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1244600" y="6350000"/>
            <a:ext cx="10033000" cy="0"/>
          </a:xfrm>
          <a:prstGeom prst="line">
            <a:avLst/>
          </a:prstGeom>
          <a:ln w="10160">
            <a:solidFill>
              <a:srgbClr val="D5DD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914400" y="6451600"/>
            <a:ext cx="54610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 i="0">
                <a:solidFill>
                  <a:srgbClr val="6B7A88"/>
                </a:solidFill>
                <a:latin typeface="Calibri"/>
              </a:rPr>
              <a:t>KAZ-EHS-IND-001 · Rev. 07 · Management &amp; Staff EHS Induction · Restricted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334000" y="6451600"/>
            <a:ext cx="41910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850" b="0" i="0">
                <a:solidFill>
                  <a:srgbClr val="6B7A88"/>
                </a:solidFill>
                <a:latin typeface="Calibri"/>
              </a:rPr>
              <a:t>03 · The Project, the Site and Daily Rules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0000" y="6451600"/>
            <a:ext cx="23876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50" b="0" i="0">
                <a:solidFill>
                  <a:srgbClr val="6B7A88"/>
                </a:solidFill>
                <a:latin typeface="Calibri"/>
              </a:rPr>
              <a:t>Slide 25 of 63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0099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pic>
        <p:nvPicPr>
          <p:cNvPr id="3" name="Picture 2" descr="siemens_energy_100x31_rgb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07600" y="381000"/>
            <a:ext cx="1270000" cy="3937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4400" y="355600"/>
            <a:ext cx="8763000" cy="190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1" i="0">
                <a:solidFill>
                  <a:srgbClr val="009999"/>
                </a:solidFill>
                <a:latin typeface="Calibri"/>
              </a:rPr>
              <a:t>CHAPTER 03  ·  THE PROJECT, THE SITE AND DAILY RULES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584200"/>
            <a:ext cx="8890000" cy="47053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700" b="1" i="0">
                <a:solidFill>
                  <a:srgbClr val="12263A"/>
                </a:solidFill>
                <a:latin typeface="Calibri"/>
              </a:rPr>
              <a:t>Hierarchy of Controls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092834"/>
            <a:ext cx="8890000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 i="0">
                <a:solidFill>
                  <a:srgbClr val="6B7A88"/>
                </a:solidFill>
                <a:latin typeface="Calibri"/>
              </a:rPr>
              <a:t>🛡️ Applies to employees, contractors and visitors</a:t>
            </a:r>
          </a:p>
          <a:p>
            <a:pPr algn="r" rtl="1"/>
            <a:r>
              <a:rPr sz="1200">
                <a:solidFill>
                  <a:srgbClr val="333F4C"/>
                </a:solidFill>
                <a:latin typeface="Calibri"/>
              </a:rPr>
              <a:t>اعتنِ بسلامتك وسلامة من حولك · التزم بالقواعد والتصاريح · أبلغ عن كل خطر وحادث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914400" y="1700784"/>
            <a:ext cx="1219200" cy="0"/>
          </a:xfrm>
          <a:prstGeom prst="line">
            <a:avLst/>
          </a:prstGeom>
          <a:ln w="30480">
            <a:solidFill>
              <a:srgbClr val="00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2133600" y="1709928"/>
            <a:ext cx="9144000" cy="0"/>
          </a:xfrm>
          <a:prstGeom prst="line">
            <a:avLst/>
          </a:prstGeom>
          <a:ln w="11430">
            <a:solidFill>
              <a:srgbClr val="D5DD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914400" y="6350000"/>
            <a:ext cx="330200" cy="0"/>
          </a:xfrm>
          <a:prstGeom prst="line">
            <a:avLst/>
          </a:prstGeom>
          <a:ln w="30480">
            <a:solidFill>
              <a:srgbClr val="00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1244600" y="6350000"/>
            <a:ext cx="10033000" cy="0"/>
          </a:xfrm>
          <a:prstGeom prst="line">
            <a:avLst/>
          </a:prstGeom>
          <a:ln w="10160">
            <a:solidFill>
              <a:srgbClr val="D5DD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914400" y="6451600"/>
            <a:ext cx="54610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 i="0">
                <a:solidFill>
                  <a:srgbClr val="6B7A88"/>
                </a:solidFill>
                <a:latin typeface="Calibri"/>
              </a:rPr>
              <a:t>KAZ-EHS-IND-001 · Rev. 07 · Management &amp; Staff EHS Induction · Restricted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334000" y="6451600"/>
            <a:ext cx="41910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850" b="0" i="0">
                <a:solidFill>
                  <a:srgbClr val="6B7A88"/>
                </a:solidFill>
                <a:latin typeface="Calibri"/>
              </a:rPr>
              <a:t>03 · The Project, the Site and Daily Rules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890000" y="6451600"/>
            <a:ext cx="23876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50" b="0" i="0">
                <a:solidFill>
                  <a:srgbClr val="6B7A88"/>
                </a:solidFill>
                <a:latin typeface="Calibri"/>
              </a:rPr>
              <a:t>Slide 26 of 63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914400" y="1874519"/>
            <a:ext cx="10360152" cy="658368"/>
          </a:xfrm>
          <a:prstGeom prst="roundRect">
            <a:avLst/>
          </a:prstGeom>
          <a:solidFill>
            <a:srgbClr val="1F7A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1 · ELIMINATE — إزالة الخطر كلياً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1705356" y="2624327"/>
            <a:ext cx="8778240" cy="658368"/>
          </a:xfrm>
          <a:prstGeom prst="roundRect">
            <a:avLst/>
          </a:prstGeom>
          <a:solidFill>
            <a:srgbClr val="4C9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2 · SUBSTITUTE — الاستبدال بطريقة أو مادة أقل خطورة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2482596" y="3374135"/>
            <a:ext cx="7223760" cy="658368"/>
          </a:xfrm>
          <a:prstGeom prst="round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3 · ENGINEERING CONTROLS — ضوابط هندسية (حواجز، عزل، تهوية)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3259836" y="4123944"/>
            <a:ext cx="5669280" cy="658368"/>
          </a:xfrm>
          <a:prstGeom prst="roundRect">
            <a:avLst/>
          </a:prstGeom>
          <a:solidFill>
            <a:srgbClr val="D97B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4 · ADMINISTRATIVE CONTROLS — ضوابط إدارية (تصاريح، إجراءات، لافتات، تدريب)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037076" y="4873752"/>
            <a:ext cx="4114800" cy="658368"/>
          </a:xfrm>
          <a:prstGeom prst="roundRect">
            <a:avLst/>
          </a:prstGeom>
          <a:solidFill>
            <a:srgbClr val="B03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5 · PPE — معدات الوقاية الشخصية (خط الدفاع الأخير)</a:t>
            </a:r>
          </a:p>
        </p:txBody>
      </p:sp>
      <p:sp>
        <p:nvSpPr>
          <p:cNvPr id="35" name="Down Arrow 34"/>
          <p:cNvSpPr/>
          <p:nvPr/>
        </p:nvSpPr>
        <p:spPr>
          <a:xfrm>
            <a:off x="320040" y="1874519"/>
            <a:ext cx="411480" cy="3657600"/>
          </a:xfrm>
          <a:prstGeom prst="downArrow">
            <a:avLst/>
          </a:prstGeom>
          <a:solidFill>
            <a:srgbClr val="6B7A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14400" y="5806440"/>
            <a:ext cx="10360152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6B7A88"/>
                </a:solidFill>
                <a:latin typeface="Calibri"/>
              </a:rPr>
              <a:t>Most effective ↑   —   الأقل فاعلية في الأسفل: لا تعتمد على معدات الوقاية وحدها ما أمكن ضبط الخطر من مصدره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0099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pic>
        <p:nvPicPr>
          <p:cNvPr id="3" name="Picture 2" descr="siemens_energy_100x31_rgb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07600" y="381000"/>
            <a:ext cx="1270000" cy="3937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4400" y="355600"/>
            <a:ext cx="8763000" cy="190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1" i="0">
                <a:solidFill>
                  <a:srgbClr val="009999"/>
                </a:solidFill>
                <a:latin typeface="Calibri"/>
              </a:rPr>
              <a:t>CHAPTER 02  ·  EHS LEADERSHIP AND RESPONSIBILITIES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584200"/>
            <a:ext cx="8890000" cy="47053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700" b="1" i="0">
                <a:solidFill>
                  <a:srgbClr val="12263A"/>
                </a:solidFill>
                <a:latin typeface="Calibri"/>
              </a:rPr>
              <a:t>The LMRA in Practice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092834"/>
            <a:ext cx="8890000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 i="0">
                <a:solidFill>
                  <a:srgbClr val="6B7A88"/>
                </a:solidFill>
                <a:latin typeface="Calibri"/>
              </a:rPr>
              <a:t>🧭 The last check before touching the work — SE form 000480 (V2)</a:t>
            </a:r>
          </a:p>
          <a:p>
            <a:pPr algn="r" rtl="1"/>
            <a:r>
              <a:rPr sz="1200">
                <a:solidFill>
                  <a:srgbClr val="333F4C"/>
                </a:solidFill>
                <a:latin typeface="Calibri"/>
              </a:rPr>
              <a:t>التحقق الأخير قبل لمس العمل — نموذج SE رقم 000480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914400" y="1700784"/>
            <a:ext cx="1219200" cy="0"/>
          </a:xfrm>
          <a:prstGeom prst="line">
            <a:avLst/>
          </a:prstGeom>
          <a:ln w="30480">
            <a:solidFill>
              <a:srgbClr val="00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2133600" y="1709928"/>
            <a:ext cx="9144000" cy="0"/>
          </a:xfrm>
          <a:prstGeom prst="line">
            <a:avLst/>
          </a:prstGeom>
          <a:ln w="11430">
            <a:solidFill>
              <a:srgbClr val="D5DD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914400" y="1755648"/>
            <a:ext cx="2032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1" i="0">
                <a:solidFill>
                  <a:srgbClr val="009999"/>
                </a:solidFill>
                <a:latin typeface="Calibri"/>
              </a:rPr>
              <a:t>▪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5568" y="1755648"/>
            <a:ext cx="10160000" cy="50468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0" i="0">
                <a:solidFill>
                  <a:srgbClr val="333F4C"/>
                </a:solidFill>
                <a:latin typeface="Calibri"/>
              </a:rPr>
              <a:t>The LMRA is the last check before touching the job — completed by the crew at the workface on SE form 000480 (V2), signed by team leader, workers and (where applicable) client representative.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315201"/>
            <a:ext cx="2032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1" i="0">
                <a:solidFill>
                  <a:srgbClr val="009999"/>
                </a:solidFill>
                <a:latin typeface="Calibri"/>
              </a:rPr>
              <a:t>▪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15568" y="2315201"/>
            <a:ext cx="10160000" cy="50468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0" i="0">
                <a:solidFill>
                  <a:srgbClr val="333F4C"/>
                </a:solidFill>
                <a:latin typeface="Calibri"/>
              </a:rPr>
              <a:t>The rule: every question is answered YES or N/A. If you cannot answer YES or N/A — do not start: state the required measures and report to your direct supervisor and the EHS specialist.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2874755"/>
            <a:ext cx="2032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1" i="0">
                <a:solidFill>
                  <a:srgbClr val="009999"/>
                </a:solidFill>
                <a:latin typeface="Calibri"/>
              </a:rPr>
              <a:t>▪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15568" y="2874755"/>
            <a:ext cx="10160000" cy="50468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0" i="0">
                <a:solidFill>
                  <a:srgbClr val="333F4C"/>
                </a:solidFill>
                <a:latin typeface="Calibri"/>
              </a:rPr>
              <a:t>Basics: client safety briefing received · an authorised, competent supervisor is assigned · minimum PPE plus task-specific PPE is appropriate and complete.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3434309"/>
            <a:ext cx="2032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1" i="0">
                <a:solidFill>
                  <a:srgbClr val="009999"/>
                </a:solidFill>
                <a:latin typeface="Calibri"/>
              </a:rPr>
              <a:t>▪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15568" y="3434309"/>
            <a:ext cx="10160000" cy="50468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0" i="0">
                <a:solidFill>
                  <a:srgbClr val="333F4C"/>
                </a:solidFill>
                <a:latin typeface="Calibri"/>
              </a:rPr>
              <a:t>Height and electricity: fall controls and inspected ladders and scaffolding · safe approach distances respected · the five safety rules applied for de-energised work · operational earthing in place.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3993863"/>
            <a:ext cx="2032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1" i="0">
                <a:solidFill>
                  <a:srgbClr val="009999"/>
                </a:solidFill>
                <a:latin typeface="Calibri"/>
              </a:rPr>
              <a:t>▪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5568" y="3993863"/>
            <a:ext cx="10160000" cy="26517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0" i="0">
                <a:solidFill>
                  <a:srgbClr val="333F4C"/>
                </a:solidFill>
                <a:latin typeface="Calibri"/>
              </a:rPr>
              <a:t>Equipment: certified lifting gear and operators · tools inspected · a suitable extinguisher at hand.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4313903"/>
            <a:ext cx="2032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1" i="0">
                <a:solidFill>
                  <a:srgbClr val="009999"/>
                </a:solidFill>
                <a:latin typeface="Calibri"/>
              </a:rPr>
              <a:t>▪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15568" y="4313903"/>
            <a:ext cx="10160000" cy="50468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0" i="0">
                <a:solidFill>
                  <a:srgbClr val="333F4C"/>
                </a:solidFill>
                <a:latin typeface="Calibri"/>
              </a:rPr>
              <a:t>Area: the work zone is demarcated with signs and barriers · slip, trip, fall and open-gap hazards controlled · vehicle routes checked for pits, ducts and ground failure.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" y="4873457"/>
            <a:ext cx="2032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1" i="0">
                <a:solidFill>
                  <a:srgbClr val="009999"/>
                </a:solidFill>
                <a:latin typeface="Calibri"/>
              </a:rPr>
              <a:t>▪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15568" y="4873457"/>
            <a:ext cx="10160000" cy="50468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0" i="0">
                <a:solidFill>
                  <a:srgbClr val="333F4C"/>
                </a:solidFill>
                <a:latin typeface="Calibri"/>
              </a:rPr>
              <a:t>Look around: identify nearby activities that could interfere with your work, and record any other chemical, mechanical or physical hazards together with the measures taken.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4400" y="5433010"/>
            <a:ext cx="2032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1" i="0">
                <a:solidFill>
                  <a:srgbClr val="009999"/>
                </a:solidFill>
                <a:latin typeface="Calibri"/>
              </a:rPr>
              <a:t>▪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15568" y="5433010"/>
            <a:ext cx="10160000" cy="50468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0" i="0">
                <a:solidFill>
                  <a:srgbClr val="333F4C"/>
                </a:solidFill>
                <a:latin typeface="Calibri"/>
              </a:rPr>
              <a:t>The LMRA verifies at the workface that every control is in place — it never replaces the RA, SJA or permit.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914400" y="6350000"/>
            <a:ext cx="330200" cy="0"/>
          </a:xfrm>
          <a:prstGeom prst="line">
            <a:avLst/>
          </a:prstGeom>
          <a:ln w="30480">
            <a:solidFill>
              <a:srgbClr val="00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1244600" y="6350000"/>
            <a:ext cx="10033000" cy="0"/>
          </a:xfrm>
          <a:prstGeom prst="line">
            <a:avLst/>
          </a:prstGeom>
          <a:ln w="10160">
            <a:solidFill>
              <a:srgbClr val="D5DD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914400" y="6451600"/>
            <a:ext cx="54610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 i="0">
                <a:solidFill>
                  <a:srgbClr val="6B7A88"/>
                </a:solidFill>
                <a:latin typeface="Calibri"/>
              </a:rPr>
              <a:t>KAZ-EHS-IND-001 · Rev. 07 · Management &amp; Staff EHS Induction · Restricted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334000" y="6451600"/>
            <a:ext cx="41910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850" b="0" i="0">
                <a:solidFill>
                  <a:srgbClr val="6B7A88"/>
                </a:solidFill>
                <a:latin typeface="Calibri"/>
              </a:rPr>
              <a:t>02 · EHS Leadership and Responsibilities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890000" y="6451600"/>
            <a:ext cx="23876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50" b="0" i="0">
                <a:solidFill>
                  <a:srgbClr val="6B7A88"/>
                </a:solidFill>
                <a:latin typeface="Calibri"/>
              </a:rPr>
              <a:t>Slide 27 of 63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0099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pic>
        <p:nvPicPr>
          <p:cNvPr id="3" name="Picture 2" descr="siemens_energy_100x31_rgb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07600" y="381000"/>
            <a:ext cx="1270000" cy="3937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4400" y="355600"/>
            <a:ext cx="8763000" cy="190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1" i="0">
                <a:solidFill>
                  <a:srgbClr val="009999"/>
                </a:solidFill>
                <a:latin typeface="Calibri"/>
              </a:rPr>
              <a:t>CHAPTER 03  ·  THE PROJECT, THE SITE AND DAILY RULES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584200"/>
            <a:ext cx="8890000" cy="47053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700" b="1" i="0">
                <a:solidFill>
                  <a:srgbClr val="12263A"/>
                </a:solidFill>
                <a:latin typeface="Calibri"/>
              </a:rPr>
              <a:t>The Daily Safety Routine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092834"/>
            <a:ext cx="8890000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 i="0">
                <a:solidFill>
                  <a:srgbClr val="6B7A88"/>
                </a:solidFill>
                <a:latin typeface="Calibri"/>
              </a:rPr>
              <a:t>🔁 Start of shift · during work · end of shift</a:t>
            </a:r>
          </a:p>
          <a:p>
            <a:pPr algn="r" rtl="1"/>
            <a:r>
              <a:rPr sz="1200">
                <a:solidFill>
                  <a:srgbClr val="333F4C"/>
                </a:solidFill>
                <a:latin typeface="Calibri"/>
              </a:rPr>
              <a:t>بداية الوردية · أثناء العمل · نهاية الوردية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914400" y="1700784"/>
            <a:ext cx="1219200" cy="0"/>
          </a:xfrm>
          <a:prstGeom prst="line">
            <a:avLst/>
          </a:prstGeom>
          <a:ln w="30480">
            <a:solidFill>
              <a:srgbClr val="00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2133600" y="1709928"/>
            <a:ext cx="9144000" cy="0"/>
          </a:xfrm>
          <a:prstGeom prst="line">
            <a:avLst/>
          </a:prstGeom>
          <a:ln w="11430">
            <a:solidFill>
              <a:srgbClr val="D5DD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914400" y="1755648"/>
            <a:ext cx="2032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1" i="0">
                <a:solidFill>
                  <a:srgbClr val="009999"/>
                </a:solidFill>
                <a:latin typeface="Calibri"/>
              </a:rPr>
              <a:t>▪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7600" y="1755648"/>
            <a:ext cx="10160000" cy="2834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0" i="0">
                <a:solidFill>
                  <a:srgbClr val="333F4C"/>
                </a:solidFill>
                <a:latin typeface="Calibri"/>
              </a:rPr>
              <a:t>Start of shift: toolbox talk → LMRA → permit verification → PPE and equipment pre-use checks.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093976"/>
            <a:ext cx="2032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1" i="0">
                <a:solidFill>
                  <a:srgbClr val="009999"/>
                </a:solidFill>
                <a:latin typeface="Calibri"/>
              </a:rPr>
              <a:t>▪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17600" y="2093976"/>
            <a:ext cx="10160000" cy="5394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0" i="0">
                <a:solidFill>
                  <a:srgbClr val="333F4C"/>
                </a:solidFill>
                <a:latin typeface="Calibri"/>
              </a:rPr>
              <a:t>During work: supervision present, barriers and signage in place, housekeeping maintained, no lone working on high-risk tasks.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2688336"/>
            <a:ext cx="2032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1" i="0">
                <a:solidFill>
                  <a:srgbClr val="009999"/>
                </a:solidFill>
                <a:latin typeface="Calibri"/>
              </a:rPr>
              <a:t>▪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17600" y="2688336"/>
            <a:ext cx="10160000" cy="5394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0" i="0">
                <a:solidFill>
                  <a:srgbClr val="333F4C"/>
                </a:solidFill>
                <a:latin typeface="Calibri"/>
              </a:rPr>
              <a:t>End of shift: close and endorse permits, restore isolations per the LOTO register, secure the area.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3282696"/>
            <a:ext cx="2032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1" i="0">
                <a:solidFill>
                  <a:srgbClr val="009999"/>
                </a:solidFill>
                <a:latin typeface="Calibri"/>
              </a:rPr>
              <a:t>▪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17600" y="3282696"/>
            <a:ext cx="10160000" cy="5394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0" i="0">
                <a:solidFill>
                  <a:srgbClr val="333F4C"/>
                </a:solidFill>
                <a:latin typeface="Calibri"/>
              </a:rPr>
              <a:t>Shift handover for isolated work: joint re-verification of permit conditions, isolation status and zero-energy state, signed by all parties.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3877056"/>
            <a:ext cx="2032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1" i="0">
                <a:solidFill>
                  <a:srgbClr val="009999"/>
                </a:solidFill>
                <a:latin typeface="Calibri"/>
              </a:rPr>
              <a:t>▪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7600" y="3877056"/>
            <a:ext cx="10160000" cy="2834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0" i="0">
                <a:solidFill>
                  <a:srgbClr val="333F4C"/>
                </a:solidFill>
                <a:latin typeface="Calibri"/>
              </a:rPr>
              <a:t>Any change of plan during the shift is briefed to the crew and, where required, re-approved.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914400" y="6350000"/>
            <a:ext cx="330200" cy="0"/>
          </a:xfrm>
          <a:prstGeom prst="line">
            <a:avLst/>
          </a:prstGeom>
          <a:ln w="30480">
            <a:solidFill>
              <a:srgbClr val="00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1244600" y="6350000"/>
            <a:ext cx="10033000" cy="0"/>
          </a:xfrm>
          <a:prstGeom prst="line">
            <a:avLst/>
          </a:prstGeom>
          <a:ln w="10160">
            <a:solidFill>
              <a:srgbClr val="D5DD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914400" y="6451600"/>
            <a:ext cx="54610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 i="0">
                <a:solidFill>
                  <a:srgbClr val="6B7A88"/>
                </a:solidFill>
                <a:latin typeface="Calibri"/>
              </a:rPr>
              <a:t>KAZ-EHS-IND-001 · Rev. 07 · Management &amp; Staff EHS Induction · Restricted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334000" y="6451600"/>
            <a:ext cx="41910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850" b="0" i="0">
                <a:solidFill>
                  <a:srgbClr val="6B7A88"/>
                </a:solidFill>
                <a:latin typeface="Calibri"/>
              </a:rPr>
              <a:t>03 · The Project, the Site and Daily Rules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890000" y="6451600"/>
            <a:ext cx="23876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50" b="0" i="0">
                <a:solidFill>
                  <a:srgbClr val="6B7A88"/>
                </a:solidFill>
                <a:latin typeface="Calibri"/>
              </a:rPr>
              <a:t>Slide 28 of 63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226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0099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76200"/>
            <a:ext cx="76200" cy="6781800"/>
          </a:xfrm>
          <a:prstGeom prst="rect">
            <a:avLst/>
          </a:prstGeom>
          <a:solidFill>
            <a:srgbClr val="0099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8585200" y="304800"/>
            <a:ext cx="3302000" cy="1041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pic>
        <p:nvPicPr>
          <p:cNvPr id="6" name="Picture 5" descr="siemens_energy_244x74_rgb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6800" y="381000"/>
            <a:ext cx="3098800" cy="9398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219200" y="1625600"/>
            <a:ext cx="3810000" cy="1905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0" b="1" i="0">
                <a:solidFill>
                  <a:srgbClr val="183851"/>
                </a:solidFill>
                <a:latin typeface="Calibri"/>
              </a:rPr>
              <a:t>04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19200" y="3632200"/>
            <a:ext cx="9652000" cy="523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200" b="1" i="0">
                <a:solidFill>
                  <a:srgbClr val="FFFFFF"/>
                </a:solidFill>
                <a:latin typeface="Calibri"/>
              </a:rPr>
              <a:t>Permit to Work and Electrical Safety</a:t>
            </a:r>
          </a:p>
        </p:txBody>
      </p:sp>
      <p:sp>
        <p:nvSpPr>
          <p:cNvPr id="9" name="Rectangle 8"/>
          <p:cNvSpPr/>
          <p:nvPr/>
        </p:nvSpPr>
        <p:spPr>
          <a:xfrm>
            <a:off x="1219200" y="4267200"/>
            <a:ext cx="1219200" cy="38100"/>
          </a:xfrm>
          <a:prstGeom prst="rect">
            <a:avLst/>
          </a:prstGeom>
          <a:solidFill>
            <a:srgbClr val="0099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219200" y="4470400"/>
            <a:ext cx="9144000" cy="6583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0" i="0">
                <a:solidFill>
                  <a:srgbClr val="9FD8D8"/>
                </a:solidFill>
                <a:latin typeface="Calibri"/>
              </a:rPr>
              <a:t>The control system for hazardous work and the rules that keep the plant safe.</a:t>
            </a:r>
          </a:p>
          <a:p>
            <a:pPr algn="r" rtl="1"/>
            <a:r>
              <a:rPr sz="1300">
                <a:solidFill>
                  <a:srgbClr val="333F4C"/>
                </a:solidFill>
                <a:latin typeface="Calibri"/>
              </a:rPr>
              <a:t>نظام التحكم بالأعمال الخطرة والقواعد التي تُبقي المحطة آمنة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19200" y="5440680"/>
            <a:ext cx="9906000" cy="584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150" b="0" i="0">
                <a:solidFill>
                  <a:srgbClr val="8FA8BC"/>
                </a:solidFill>
                <a:latin typeface="Calibri"/>
              </a:rPr>
              <a:t>Permit to Work  ·  Lock-Out / Tag-Out  ·  Electrical rules  ·  Arc flash  ·  Live plant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19200" y="5943600"/>
            <a:ext cx="6350000" cy="254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C8399"/>
                </a:solidFill>
                <a:latin typeface="Calibri"/>
              </a:rPr>
              <a:t>KAZ-EHS-IND-001 · Rev. 07 · Restricted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20000" y="5943600"/>
            <a:ext cx="3505200" cy="254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C8399"/>
                </a:solidFill>
                <a:latin typeface="Calibri"/>
              </a:rPr>
              <a:t>Slide 29 of 63</a:t>
            </a:r>
          </a:p>
        </p:txBody>
      </p:sp>
      <p:pic>
        <p:nvPicPr>
          <p:cNvPr id="14" name="Picture 13" descr="signs_warning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89520" y="1143000"/>
            <a:ext cx="4206240" cy="2059860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0099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pic>
        <p:nvPicPr>
          <p:cNvPr id="3" name="Picture 2" descr="siemens_energy_100x31_rgb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07600" y="381000"/>
            <a:ext cx="1270000" cy="3937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4400" y="355600"/>
            <a:ext cx="8763000" cy="190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1" i="0">
                <a:solidFill>
                  <a:srgbClr val="009999"/>
                </a:solidFill>
                <a:latin typeface="Calibri"/>
              </a:rPr>
              <a:t>CHAPTER 04  ·  PERMIT TO WORK AND ELECTRICAL SAFETY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584200"/>
            <a:ext cx="8890000" cy="47053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700" b="1" i="0">
                <a:solidFill>
                  <a:srgbClr val="12263A"/>
                </a:solidFill>
                <a:latin typeface="Calibri"/>
              </a:rPr>
              <a:t>Permit to Work (1)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092834"/>
            <a:ext cx="8890000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 i="0">
                <a:solidFill>
                  <a:srgbClr val="6B7A88"/>
                </a:solidFill>
                <a:latin typeface="Calibri"/>
              </a:rPr>
              <a:t>📝 System, roles and principles</a:t>
            </a:r>
          </a:p>
          <a:p>
            <a:pPr algn="r" rtl="1"/>
            <a:r>
              <a:rPr sz="1200">
                <a:solidFill>
                  <a:srgbClr val="333F4C"/>
                </a:solidFill>
                <a:latin typeface="Calibri"/>
              </a:rPr>
              <a:t>لا تصريح = لا عمل · الأدوار وشروط إصدار التصريح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914400" y="1700784"/>
            <a:ext cx="1219200" cy="0"/>
          </a:xfrm>
          <a:prstGeom prst="line">
            <a:avLst/>
          </a:prstGeom>
          <a:ln w="30480">
            <a:solidFill>
              <a:srgbClr val="00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2133600" y="1709928"/>
            <a:ext cx="9144000" cy="0"/>
          </a:xfrm>
          <a:prstGeom prst="line">
            <a:avLst/>
          </a:prstGeom>
          <a:ln w="11430">
            <a:solidFill>
              <a:srgbClr val="D5DD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914400" y="1755648"/>
            <a:ext cx="2032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1" i="0">
                <a:solidFill>
                  <a:srgbClr val="009999"/>
                </a:solidFill>
                <a:latin typeface="Calibri"/>
              </a:rPr>
              <a:t>▪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7600" y="1755648"/>
            <a:ext cx="6527800" cy="50468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0" i="0">
                <a:solidFill>
                  <a:srgbClr val="333F4C"/>
                </a:solidFill>
                <a:latin typeface="Calibri"/>
              </a:rPr>
              <a:t>No permit = no work. The PTW system is administered and controlled by Siemens Energy.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315201"/>
            <a:ext cx="2032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1" i="0">
                <a:solidFill>
                  <a:srgbClr val="009999"/>
                </a:solidFill>
                <a:latin typeface="Calibri"/>
              </a:rPr>
              <a:t>▪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17600" y="2315201"/>
            <a:ext cx="6527800" cy="74420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0" i="0">
                <a:solidFill>
                  <a:srgbClr val="333F4C"/>
                </a:solidFill>
                <a:latin typeface="Calibri"/>
              </a:rPr>
              <a:t>For work on live or operational plant and client-controlled areas, the MoE/BGC permit system and its Area/Isolation Authority take precedence.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3114269"/>
            <a:ext cx="2032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1" i="0">
                <a:solidFill>
                  <a:srgbClr val="009999"/>
                </a:solidFill>
                <a:latin typeface="Calibri"/>
              </a:rPr>
              <a:t>▪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17600" y="3114269"/>
            <a:ext cx="6527800" cy="74420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0" i="0">
                <a:solidFill>
                  <a:srgbClr val="333F4C"/>
                </a:solidFill>
                <a:latin typeface="Calibri"/>
              </a:rPr>
              <a:t>Roles: Permit Issuer (SE) · Permit Holder (contractor supervisor) · Area Authority (operations) · Isolation Authority / AEP · EHS Reviewer · Authorized Gas Tester.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3913337"/>
            <a:ext cx="2032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1" i="0">
                <a:solidFill>
                  <a:srgbClr val="009999"/>
                </a:solidFill>
                <a:latin typeface="Calibri"/>
              </a:rPr>
              <a:t>▪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17600" y="3913337"/>
            <a:ext cx="6527800" cy="74420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0" i="0">
                <a:solidFill>
                  <a:srgbClr val="333F4C"/>
                </a:solidFill>
                <a:latin typeface="Calibri"/>
              </a:rPr>
              <a:t>Every permit requires: approved JSA / method statement, controls verified on site, briefed working party, valid certificates and inspections.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4712404"/>
            <a:ext cx="2032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1" i="0">
                <a:solidFill>
                  <a:srgbClr val="009999"/>
                </a:solidFill>
                <a:latin typeface="Calibri"/>
              </a:rPr>
              <a:t>▪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7600" y="4712404"/>
            <a:ext cx="6527800" cy="50468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0" i="0">
                <a:solidFill>
                  <a:srgbClr val="333F4C"/>
                </a:solidFill>
                <a:latin typeface="Calibri"/>
              </a:rPr>
              <a:t>EHS reviews and audits permits; technical approval belongs to the Area Authority; isolation authority belongs to the AEP.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5271958"/>
            <a:ext cx="2032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1" i="0">
                <a:solidFill>
                  <a:srgbClr val="009999"/>
                </a:solidFill>
                <a:latin typeface="Calibri"/>
              </a:rPr>
              <a:t>▪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17600" y="5271958"/>
            <a:ext cx="6527800" cy="50468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0" i="0">
                <a:solidFill>
                  <a:srgbClr val="333F4C"/>
                </a:solidFill>
                <a:latin typeface="Calibri"/>
              </a:rPr>
              <a:t>Never work outside the scope, time or conditions stated on the permit.</a:t>
            </a:r>
          </a:p>
        </p:txBody>
      </p:sp>
      <p:pic>
        <p:nvPicPr>
          <p:cNvPr id="21" name="Picture 20" descr="03_ptw_loto_256x268_rgb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26400" y="1752600"/>
            <a:ext cx="3251200" cy="3403600"/>
          </a:xfrm>
          <a:prstGeom prst="rect">
            <a:avLst/>
          </a:prstGeom>
        </p:spPr>
      </p:pic>
      <p:sp>
        <p:nvSpPr>
          <p:cNvPr id="22" name="Rectangle 21"/>
          <p:cNvSpPr/>
          <p:nvPr/>
        </p:nvSpPr>
        <p:spPr>
          <a:xfrm>
            <a:off x="8026400" y="1752600"/>
            <a:ext cx="3251200" cy="3403600"/>
          </a:xfrm>
          <a:prstGeom prst="rect">
            <a:avLst/>
          </a:prstGeom>
          <a:noFill/>
          <a:ln w="10160">
            <a:solidFill>
              <a:srgbClr val="D5DD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8026400" y="5156200"/>
            <a:ext cx="3251200" cy="381000"/>
          </a:xfrm>
          <a:prstGeom prst="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8128000" y="5219700"/>
            <a:ext cx="3048000" cy="254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0" i="0">
                <a:solidFill>
                  <a:srgbClr val="12263A"/>
                </a:solidFill>
                <a:latin typeface="Calibri"/>
              </a:rPr>
              <a:t>No permit — no work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914400" y="6350000"/>
            <a:ext cx="330200" cy="0"/>
          </a:xfrm>
          <a:prstGeom prst="line">
            <a:avLst/>
          </a:prstGeom>
          <a:ln w="30480">
            <a:solidFill>
              <a:srgbClr val="00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1244600" y="6350000"/>
            <a:ext cx="10033000" cy="0"/>
          </a:xfrm>
          <a:prstGeom prst="line">
            <a:avLst/>
          </a:prstGeom>
          <a:ln w="10160">
            <a:solidFill>
              <a:srgbClr val="D5DD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914400" y="6451600"/>
            <a:ext cx="54610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 i="0">
                <a:solidFill>
                  <a:srgbClr val="6B7A88"/>
                </a:solidFill>
                <a:latin typeface="Calibri"/>
              </a:rPr>
              <a:t>KAZ-EHS-IND-001 · Rev. 07 · Management &amp; Staff EHS Induction · Restricted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334000" y="6451600"/>
            <a:ext cx="41910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850" b="0" i="0">
                <a:solidFill>
                  <a:srgbClr val="6B7A88"/>
                </a:solidFill>
                <a:latin typeface="Calibri"/>
              </a:rPr>
              <a:t>04 · Permit to Work and Electrical Safety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890000" y="6451600"/>
            <a:ext cx="23876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50" b="0" i="0">
                <a:solidFill>
                  <a:srgbClr val="6B7A88"/>
                </a:solidFill>
                <a:latin typeface="Calibri"/>
              </a:rPr>
              <a:t>Slide 30 of 63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0099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pic>
        <p:nvPicPr>
          <p:cNvPr id="3" name="Picture 2" descr="siemens_energy_100x31_rgb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07600" y="381000"/>
            <a:ext cx="1270000" cy="3937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4400" y="355600"/>
            <a:ext cx="8763000" cy="190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1" i="0">
                <a:solidFill>
                  <a:srgbClr val="009999"/>
                </a:solidFill>
                <a:latin typeface="Calibri"/>
              </a:rPr>
              <a:t>CHAPTER 04  ·  PERMIT TO WORK AND ELECTRICAL SAFETY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584200"/>
            <a:ext cx="8890000" cy="47053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700" b="1" i="0">
                <a:solidFill>
                  <a:srgbClr val="12263A"/>
                </a:solidFill>
                <a:latin typeface="Calibri"/>
              </a:rPr>
              <a:t>Permit to Work (2)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092834"/>
            <a:ext cx="8890000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 i="0">
                <a:solidFill>
                  <a:srgbClr val="6B7A88"/>
                </a:solidFill>
                <a:latin typeface="Calibri"/>
              </a:rPr>
              <a:t>⏳ Permit types and validity on this project</a:t>
            </a:r>
          </a:p>
          <a:p>
            <a:pPr algn="r" rtl="1"/>
            <a:r>
              <a:rPr sz="1200">
                <a:solidFill>
                  <a:srgbClr val="333F4C"/>
                </a:solidFill>
                <a:latin typeface="Calibri"/>
              </a:rPr>
              <a:t>الحفر والكولد 7 أيام · جميع التصاريح الأخرى يومية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914400" y="1700784"/>
            <a:ext cx="1219200" cy="0"/>
          </a:xfrm>
          <a:prstGeom prst="line">
            <a:avLst/>
          </a:prstGeom>
          <a:ln w="30480">
            <a:solidFill>
              <a:srgbClr val="00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2133600" y="1709928"/>
            <a:ext cx="9144000" cy="0"/>
          </a:xfrm>
          <a:prstGeom prst="line">
            <a:avLst/>
          </a:prstGeom>
          <a:ln w="11430">
            <a:solidFill>
              <a:srgbClr val="D5DD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ctangle 8"/>
          <p:cNvSpPr/>
          <p:nvPr/>
        </p:nvSpPr>
        <p:spPr>
          <a:xfrm>
            <a:off x="914400" y="1955800"/>
            <a:ext cx="10363200" cy="431800"/>
          </a:xfrm>
          <a:prstGeom prst="rect">
            <a:avLst/>
          </a:prstGeom>
          <a:solidFill>
            <a:srgbClr val="1226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041400" y="2057400"/>
            <a:ext cx="6171184" cy="304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Permit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66584" y="2057400"/>
            <a:ext cx="3684016" cy="304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Typical validity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41400" y="2451100"/>
            <a:ext cx="6171184" cy="177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35" b="0" i="0">
                <a:solidFill>
                  <a:srgbClr val="333F4C"/>
                </a:solidFill>
                <a:latin typeface="Calibri"/>
              </a:rPr>
              <a:t>General Cold Work Permit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466584" y="2451100"/>
            <a:ext cx="3684016" cy="177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35" b="0" i="0">
                <a:solidFill>
                  <a:srgbClr val="333F4C"/>
                </a:solidFill>
                <a:latin typeface="Calibri"/>
              </a:rPr>
              <a:t>7 days with daily endorsement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914400" y="2692400"/>
            <a:ext cx="10363200" cy="0"/>
          </a:xfrm>
          <a:prstGeom prst="line">
            <a:avLst/>
          </a:prstGeom>
          <a:ln w="7620">
            <a:solidFill>
              <a:srgbClr val="D5DD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ectangle 14"/>
          <p:cNvSpPr/>
          <p:nvPr/>
        </p:nvSpPr>
        <p:spPr>
          <a:xfrm>
            <a:off x="914400" y="2692400"/>
            <a:ext cx="10363200" cy="304800"/>
          </a:xfrm>
          <a:prstGeom prst="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1041400" y="2755900"/>
            <a:ext cx="6171184" cy="177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35" b="0" i="0">
                <a:solidFill>
                  <a:srgbClr val="333F4C"/>
                </a:solidFill>
                <a:latin typeface="Calibri"/>
              </a:rPr>
              <a:t>Electrical Cold Work Permit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466584" y="2755900"/>
            <a:ext cx="3684016" cy="177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35" b="0" i="0">
                <a:solidFill>
                  <a:srgbClr val="333F4C"/>
                </a:solidFill>
                <a:latin typeface="Calibri"/>
              </a:rPr>
              <a:t>Daily / each shift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914400" y="2997200"/>
            <a:ext cx="10363200" cy="0"/>
          </a:xfrm>
          <a:prstGeom prst="line">
            <a:avLst/>
          </a:prstGeom>
          <a:ln w="7620">
            <a:solidFill>
              <a:srgbClr val="D5DD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1041400" y="3060700"/>
            <a:ext cx="6171184" cy="177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35" b="0" i="0">
                <a:solidFill>
                  <a:srgbClr val="333F4C"/>
                </a:solidFill>
                <a:latin typeface="Calibri"/>
              </a:rPr>
              <a:t>Electrical Hot Work &amp; Commissioning Permit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466584" y="3060700"/>
            <a:ext cx="3684016" cy="177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35" b="0" i="0">
                <a:solidFill>
                  <a:srgbClr val="333F4C"/>
                </a:solidFill>
                <a:latin typeface="Calibri"/>
              </a:rPr>
              <a:t>Daily / each shift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914400" y="3302000"/>
            <a:ext cx="10363200" cy="0"/>
          </a:xfrm>
          <a:prstGeom prst="line">
            <a:avLst/>
          </a:prstGeom>
          <a:ln w="7620">
            <a:solidFill>
              <a:srgbClr val="D5DD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ectangle 21"/>
          <p:cNvSpPr/>
          <p:nvPr/>
        </p:nvSpPr>
        <p:spPr>
          <a:xfrm>
            <a:off x="914400" y="3302000"/>
            <a:ext cx="10363200" cy="304800"/>
          </a:xfrm>
          <a:prstGeom prst="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1041400" y="3365500"/>
            <a:ext cx="6171184" cy="177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35" b="0" i="0">
                <a:solidFill>
                  <a:srgbClr val="333F4C"/>
                </a:solidFill>
                <a:latin typeface="Calibri"/>
              </a:rPr>
              <a:t>Energy Isolation (LOTO) Permit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466584" y="3365500"/>
            <a:ext cx="3684016" cy="177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35" b="0" i="0">
                <a:solidFill>
                  <a:srgbClr val="333F4C"/>
                </a:solidFill>
                <a:latin typeface="Calibri"/>
              </a:rPr>
              <a:t>Daily / each shift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914400" y="3606800"/>
            <a:ext cx="10363200" cy="0"/>
          </a:xfrm>
          <a:prstGeom prst="line">
            <a:avLst/>
          </a:prstGeom>
          <a:ln w="7620">
            <a:solidFill>
              <a:srgbClr val="D5DD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1041400" y="3670300"/>
            <a:ext cx="6171184" cy="177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35" b="0" i="0">
                <a:solidFill>
                  <a:srgbClr val="333F4C"/>
                </a:solidFill>
                <a:latin typeface="Calibri"/>
              </a:rPr>
              <a:t>Hot Work Permit (welding, cutting, grinding)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466584" y="3670300"/>
            <a:ext cx="3684016" cy="177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35" b="0" i="0">
                <a:solidFill>
                  <a:srgbClr val="333F4C"/>
                </a:solidFill>
                <a:latin typeface="Calibri"/>
              </a:rPr>
              <a:t>Daily / each shift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914400" y="3911600"/>
            <a:ext cx="10363200" cy="0"/>
          </a:xfrm>
          <a:prstGeom prst="line">
            <a:avLst/>
          </a:prstGeom>
          <a:ln w="7620">
            <a:solidFill>
              <a:srgbClr val="D5DD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ectangle 28"/>
          <p:cNvSpPr/>
          <p:nvPr/>
        </p:nvSpPr>
        <p:spPr>
          <a:xfrm>
            <a:off x="914400" y="3911600"/>
            <a:ext cx="10363200" cy="304800"/>
          </a:xfrm>
          <a:prstGeom prst="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1041400" y="3975100"/>
            <a:ext cx="6171184" cy="177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35" b="0" i="0">
                <a:solidFill>
                  <a:srgbClr val="333F4C"/>
                </a:solidFill>
                <a:latin typeface="Calibri"/>
              </a:rPr>
              <a:t>Excavation &amp; Trenching Permit (over 30 cm)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466584" y="3975100"/>
            <a:ext cx="3684016" cy="177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35" b="0" i="0">
                <a:solidFill>
                  <a:srgbClr val="333F4C"/>
                </a:solidFill>
                <a:latin typeface="Calibri"/>
              </a:rPr>
              <a:t>7 days with daily endorsement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914400" y="4216400"/>
            <a:ext cx="10363200" cy="0"/>
          </a:xfrm>
          <a:prstGeom prst="line">
            <a:avLst/>
          </a:prstGeom>
          <a:ln w="7620">
            <a:solidFill>
              <a:srgbClr val="D5DD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TextBox 32"/>
          <p:cNvSpPr txBox="1"/>
          <p:nvPr/>
        </p:nvSpPr>
        <p:spPr>
          <a:xfrm>
            <a:off x="1041400" y="4279900"/>
            <a:ext cx="6171184" cy="177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35" b="0" i="0">
                <a:solidFill>
                  <a:srgbClr val="333F4C"/>
                </a:solidFill>
                <a:latin typeface="Calibri"/>
              </a:rPr>
              <a:t>Lifting Permit (all lifts; engineered plan for critical lifts)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466584" y="4279900"/>
            <a:ext cx="3684016" cy="177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35" b="0" i="0">
                <a:solidFill>
                  <a:srgbClr val="333F4C"/>
                </a:solidFill>
                <a:latin typeface="Calibri"/>
              </a:rPr>
              <a:t>Daily / each shift</a:t>
            </a:r>
          </a:p>
        </p:txBody>
      </p:sp>
      <p:cxnSp>
        <p:nvCxnSpPr>
          <p:cNvPr id="35" name="Connector 34"/>
          <p:cNvCxnSpPr/>
          <p:nvPr/>
        </p:nvCxnSpPr>
        <p:spPr>
          <a:xfrm>
            <a:off x="914400" y="4521200"/>
            <a:ext cx="10363200" cy="0"/>
          </a:xfrm>
          <a:prstGeom prst="line">
            <a:avLst/>
          </a:prstGeom>
          <a:ln w="7620">
            <a:solidFill>
              <a:srgbClr val="D5DD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Rectangle 35"/>
          <p:cNvSpPr/>
          <p:nvPr/>
        </p:nvSpPr>
        <p:spPr>
          <a:xfrm>
            <a:off x="914400" y="4521200"/>
            <a:ext cx="10363200" cy="304800"/>
          </a:xfrm>
          <a:prstGeom prst="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1041400" y="4584700"/>
            <a:ext cx="6171184" cy="177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35" b="0" i="0">
                <a:solidFill>
                  <a:srgbClr val="333F4C"/>
                </a:solidFill>
                <a:latin typeface="Calibri"/>
              </a:rPr>
              <a:t>Work at Height Permit (1.8 m and above)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466584" y="4584700"/>
            <a:ext cx="3684016" cy="177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35" b="0" i="0">
                <a:solidFill>
                  <a:srgbClr val="333F4C"/>
                </a:solidFill>
                <a:latin typeface="Calibri"/>
              </a:rPr>
              <a:t>Daily / each shift</a:t>
            </a:r>
          </a:p>
        </p:txBody>
      </p:sp>
      <p:cxnSp>
        <p:nvCxnSpPr>
          <p:cNvPr id="39" name="Connector 38"/>
          <p:cNvCxnSpPr/>
          <p:nvPr/>
        </p:nvCxnSpPr>
        <p:spPr>
          <a:xfrm>
            <a:off x="914400" y="4826000"/>
            <a:ext cx="10363200" cy="0"/>
          </a:xfrm>
          <a:prstGeom prst="line">
            <a:avLst/>
          </a:prstGeom>
          <a:ln w="7620">
            <a:solidFill>
              <a:srgbClr val="D5DD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TextBox 39"/>
          <p:cNvSpPr txBox="1"/>
          <p:nvPr/>
        </p:nvSpPr>
        <p:spPr>
          <a:xfrm>
            <a:off x="1041400" y="4889500"/>
            <a:ext cx="6171184" cy="177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35" b="0" i="0">
                <a:solidFill>
                  <a:srgbClr val="333F4C"/>
                </a:solidFill>
                <a:latin typeface="Calibri"/>
              </a:rPr>
              <a:t>Confined Space Entry Permit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466584" y="4889500"/>
            <a:ext cx="3684016" cy="177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35" b="0" i="0">
                <a:solidFill>
                  <a:srgbClr val="333F4C"/>
                </a:solidFill>
                <a:latin typeface="Calibri"/>
              </a:rPr>
              <a:t>Daily / each shift</a:t>
            </a:r>
          </a:p>
        </p:txBody>
      </p:sp>
      <p:cxnSp>
        <p:nvCxnSpPr>
          <p:cNvPr id="42" name="Connector 41"/>
          <p:cNvCxnSpPr/>
          <p:nvPr/>
        </p:nvCxnSpPr>
        <p:spPr>
          <a:xfrm>
            <a:off x="914400" y="5130800"/>
            <a:ext cx="10363200" cy="0"/>
          </a:xfrm>
          <a:prstGeom prst="line">
            <a:avLst/>
          </a:prstGeom>
          <a:ln w="7620">
            <a:solidFill>
              <a:srgbClr val="D5DD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Rectangle 42"/>
          <p:cNvSpPr/>
          <p:nvPr/>
        </p:nvSpPr>
        <p:spPr>
          <a:xfrm>
            <a:off x="914400" y="1955800"/>
            <a:ext cx="10363200" cy="3175000"/>
          </a:xfrm>
          <a:prstGeom prst="rect">
            <a:avLst/>
          </a:prstGeom>
          <a:noFill/>
          <a:ln w="10160">
            <a:solidFill>
              <a:srgbClr val="C3C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cxnSp>
        <p:nvCxnSpPr>
          <p:cNvPr id="44" name="Connector 43"/>
          <p:cNvCxnSpPr/>
          <p:nvPr/>
        </p:nvCxnSpPr>
        <p:spPr>
          <a:xfrm>
            <a:off x="914400" y="6350000"/>
            <a:ext cx="330200" cy="0"/>
          </a:xfrm>
          <a:prstGeom prst="line">
            <a:avLst/>
          </a:prstGeom>
          <a:ln w="30480">
            <a:solidFill>
              <a:srgbClr val="00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>
            <a:off x="1244600" y="6350000"/>
            <a:ext cx="10033000" cy="0"/>
          </a:xfrm>
          <a:prstGeom prst="line">
            <a:avLst/>
          </a:prstGeom>
          <a:ln w="10160">
            <a:solidFill>
              <a:srgbClr val="D5DD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TextBox 45"/>
          <p:cNvSpPr txBox="1"/>
          <p:nvPr/>
        </p:nvSpPr>
        <p:spPr>
          <a:xfrm>
            <a:off x="914400" y="6451600"/>
            <a:ext cx="54610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 i="0">
                <a:solidFill>
                  <a:srgbClr val="6B7A88"/>
                </a:solidFill>
                <a:latin typeface="Calibri"/>
              </a:rPr>
              <a:t>KAZ-EHS-IND-001 · Rev. 07 · Management &amp; Staff EHS Induction · Restricted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334000" y="6451600"/>
            <a:ext cx="41910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850" b="0" i="0">
                <a:solidFill>
                  <a:srgbClr val="6B7A88"/>
                </a:solidFill>
                <a:latin typeface="Calibri"/>
              </a:rPr>
              <a:t>04 · Permit to Work and Electrical Safety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890000" y="6451600"/>
            <a:ext cx="23876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50" b="0" i="0">
                <a:solidFill>
                  <a:srgbClr val="6B7A88"/>
                </a:solidFill>
                <a:latin typeface="Calibri"/>
              </a:rPr>
              <a:t>Slide 31 of 63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0099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pic>
        <p:nvPicPr>
          <p:cNvPr id="3" name="Picture 2" descr="siemens_energy_100x31_rgb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07600" y="381000"/>
            <a:ext cx="1270000" cy="3937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4400" y="355600"/>
            <a:ext cx="8763000" cy="190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1" i="0">
                <a:solidFill>
                  <a:srgbClr val="009999"/>
                </a:solidFill>
                <a:latin typeface="Calibri"/>
              </a:rPr>
              <a:t>CHAPTER 04  ·  PERMIT TO WORK AND ELECTRICAL SAFETY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584200"/>
            <a:ext cx="8890000" cy="47053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700" b="1" i="0">
                <a:solidFill>
                  <a:srgbClr val="12263A"/>
                </a:solidFill>
                <a:latin typeface="Calibri"/>
              </a:rPr>
              <a:t>Lock-Out / Tag-Out and Energy Isolation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092834"/>
            <a:ext cx="8890000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 i="0">
                <a:solidFill>
                  <a:srgbClr val="6B7A88"/>
                </a:solidFill>
                <a:latin typeface="Calibri"/>
              </a:rPr>
              <a:t>🔒 Control every energy source</a:t>
            </a:r>
          </a:p>
          <a:p>
            <a:pPr algn="r" rtl="1"/>
            <a:r>
              <a:rPr sz="1200">
                <a:solidFill>
                  <a:srgbClr val="333F4C"/>
                </a:solidFill>
                <a:latin typeface="Calibri"/>
              </a:rPr>
              <a:t>اعزل كل مصادر الطاقة · قفلك الشخصي إلزامي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914400" y="1700784"/>
            <a:ext cx="1219200" cy="0"/>
          </a:xfrm>
          <a:prstGeom prst="line">
            <a:avLst/>
          </a:prstGeom>
          <a:ln w="30480">
            <a:solidFill>
              <a:srgbClr val="00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2133600" y="1709928"/>
            <a:ext cx="9144000" cy="0"/>
          </a:xfrm>
          <a:prstGeom prst="line">
            <a:avLst/>
          </a:prstGeom>
          <a:ln w="11430">
            <a:solidFill>
              <a:srgbClr val="D5DD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914400" y="1755648"/>
            <a:ext cx="2032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1" i="0">
                <a:solidFill>
                  <a:srgbClr val="009999"/>
                </a:solidFill>
                <a:latin typeface="Calibri"/>
              </a:rPr>
              <a:t>▪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7600" y="1755648"/>
            <a:ext cx="10160000" cy="5394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0" i="0">
                <a:solidFill>
                  <a:srgbClr val="333F4C"/>
                </a:solidFill>
                <a:latin typeface="Calibri"/>
              </a:rPr>
              <a:t>Cover all energy sources: electrical, mechanical, pneumatic, hydraulic, thermal and stored energy.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350008"/>
            <a:ext cx="2032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1" i="0">
                <a:solidFill>
                  <a:srgbClr val="009999"/>
                </a:solidFill>
                <a:latin typeface="Calibri"/>
              </a:rPr>
              <a:t>▪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17600" y="2350008"/>
            <a:ext cx="10160000" cy="5394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0" i="0">
                <a:solidFill>
                  <a:srgbClr val="333F4C"/>
                </a:solidFill>
                <a:latin typeface="Calibri"/>
              </a:rPr>
              <a:t>Sequence: notify → isolate → lock and tag → release stored energy → verify zero energy → work.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2944368"/>
            <a:ext cx="2032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1" i="0">
                <a:solidFill>
                  <a:srgbClr val="009999"/>
                </a:solidFill>
                <a:latin typeface="Calibri"/>
              </a:rPr>
              <a:t>▪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17600" y="2944368"/>
            <a:ext cx="10160000" cy="2834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0" i="0">
                <a:solidFill>
                  <a:srgbClr val="333F4C"/>
                </a:solidFill>
                <a:latin typeface="Calibri"/>
              </a:rPr>
              <a:t>Every worker applies their own personal lock; keys are controlled in the lockbox by the AEP.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3282696"/>
            <a:ext cx="2032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1" i="0">
                <a:solidFill>
                  <a:srgbClr val="009999"/>
                </a:solidFill>
                <a:latin typeface="Calibri"/>
              </a:rPr>
              <a:t>▪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17600" y="3282696"/>
            <a:ext cx="10160000" cy="5394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0" i="0">
                <a:solidFill>
                  <a:srgbClr val="333F4C"/>
                </a:solidFill>
                <a:latin typeface="Calibri"/>
              </a:rPr>
              <a:t>PTW validity and LOTO validity are managed separately — permit expiry never releases an isolation.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3877056"/>
            <a:ext cx="2032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1" i="0">
                <a:solidFill>
                  <a:srgbClr val="009999"/>
                </a:solidFill>
                <a:latin typeface="Calibri"/>
              </a:rPr>
              <a:t>▪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7600" y="3877056"/>
            <a:ext cx="10160000" cy="2834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0" i="0">
                <a:solidFill>
                  <a:srgbClr val="333F4C"/>
                </a:solidFill>
                <a:latin typeface="Calibri"/>
              </a:rPr>
              <a:t>Only the AEP de-isolates, through the controlled de-isolation process and the key register.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4215384"/>
            <a:ext cx="2032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1" i="0">
                <a:solidFill>
                  <a:srgbClr val="009999"/>
                </a:solidFill>
                <a:latin typeface="Calibri"/>
              </a:rPr>
              <a:t>▪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17600" y="4215384"/>
            <a:ext cx="10160000" cy="2834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0" i="0">
                <a:solidFill>
                  <a:srgbClr val="333F4C"/>
                </a:solidFill>
                <a:latin typeface="Calibri"/>
              </a:rPr>
              <a:t>Never remove another person's lock or tag — this is a dismissible offence.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" y="4553712"/>
            <a:ext cx="2032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1" i="0">
                <a:solidFill>
                  <a:srgbClr val="009999"/>
                </a:solidFill>
                <a:latin typeface="Calibri"/>
              </a:rPr>
              <a:t>▪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17600" y="4553712"/>
            <a:ext cx="10160000" cy="2834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0" i="0">
                <a:solidFill>
                  <a:srgbClr val="333F4C"/>
                </a:solidFill>
                <a:latin typeface="Calibri"/>
              </a:rPr>
              <a:t>Test before touch: prove the tester, prove dead, and prove the tester again.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914400" y="6350000"/>
            <a:ext cx="330200" cy="0"/>
          </a:xfrm>
          <a:prstGeom prst="line">
            <a:avLst/>
          </a:prstGeom>
          <a:ln w="30480">
            <a:solidFill>
              <a:srgbClr val="00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1244600" y="6350000"/>
            <a:ext cx="10033000" cy="0"/>
          </a:xfrm>
          <a:prstGeom prst="line">
            <a:avLst/>
          </a:prstGeom>
          <a:ln w="10160">
            <a:solidFill>
              <a:srgbClr val="D5DD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914400" y="6451600"/>
            <a:ext cx="54610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 i="0">
                <a:solidFill>
                  <a:srgbClr val="6B7A88"/>
                </a:solidFill>
                <a:latin typeface="Calibri"/>
              </a:rPr>
              <a:t>KAZ-EHS-IND-001 · Rev. 07 · Management &amp; Staff EHS Induction · Restricted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334000" y="6451600"/>
            <a:ext cx="41910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850" b="0" i="0">
                <a:solidFill>
                  <a:srgbClr val="6B7A88"/>
                </a:solidFill>
                <a:latin typeface="Calibri"/>
              </a:rPr>
              <a:t>04 · Permit to Work and Electrical Safety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890000" y="6451600"/>
            <a:ext cx="23876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50" b="0" i="0">
                <a:solidFill>
                  <a:srgbClr val="6B7A88"/>
                </a:solidFill>
                <a:latin typeface="Calibri"/>
              </a:rPr>
              <a:t>Slide 32 of 63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0099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pic>
        <p:nvPicPr>
          <p:cNvPr id="3" name="Picture 2" descr="siemens_energy_100x31_rgb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07600" y="381000"/>
            <a:ext cx="1270000" cy="3937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4400" y="355600"/>
            <a:ext cx="8763000" cy="190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1" i="0">
                <a:solidFill>
                  <a:srgbClr val="009999"/>
                </a:solidFill>
                <a:latin typeface="Calibri"/>
              </a:rPr>
              <a:t>CHAPTER 04  ·  PERMIT TO WORK AND ELECTRICAL SAFETY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584200"/>
            <a:ext cx="8890000" cy="47053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700" b="1" i="0">
                <a:solidFill>
                  <a:srgbClr val="12263A"/>
                </a:solidFill>
                <a:latin typeface="Calibri"/>
              </a:rPr>
              <a:t>Energy Isolation Sequence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092834"/>
            <a:ext cx="8890000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 i="0">
                <a:solidFill>
                  <a:srgbClr val="6B7A88"/>
                </a:solidFill>
                <a:latin typeface="Calibri"/>
              </a:rPr>
              <a:t>🔋 Applies to employees, contractors and visitors</a:t>
            </a:r>
          </a:p>
          <a:p>
            <a:pPr algn="r" rtl="1"/>
            <a:r>
              <a:rPr sz="1200">
                <a:solidFill>
                  <a:srgbClr val="333F4C"/>
                </a:solidFill>
                <a:latin typeface="Calibri"/>
              </a:rPr>
              <a:t>اعتنِ بسلامتك وسلامة من حولك · التزم بالقواعد والتصاريح · أبلغ عن كل خطر وحادث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914400" y="1700784"/>
            <a:ext cx="1219200" cy="0"/>
          </a:xfrm>
          <a:prstGeom prst="line">
            <a:avLst/>
          </a:prstGeom>
          <a:ln w="30480">
            <a:solidFill>
              <a:srgbClr val="00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2133600" y="1709928"/>
            <a:ext cx="9144000" cy="0"/>
          </a:xfrm>
          <a:prstGeom prst="line">
            <a:avLst/>
          </a:prstGeom>
          <a:ln w="11430">
            <a:solidFill>
              <a:srgbClr val="D5DD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914400" y="6350000"/>
            <a:ext cx="330200" cy="0"/>
          </a:xfrm>
          <a:prstGeom prst="line">
            <a:avLst/>
          </a:prstGeom>
          <a:ln w="30480">
            <a:solidFill>
              <a:srgbClr val="00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1244600" y="6350000"/>
            <a:ext cx="10033000" cy="0"/>
          </a:xfrm>
          <a:prstGeom prst="line">
            <a:avLst/>
          </a:prstGeom>
          <a:ln w="10160">
            <a:solidFill>
              <a:srgbClr val="D5DD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914400" y="6451600"/>
            <a:ext cx="54610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 i="0">
                <a:solidFill>
                  <a:srgbClr val="6B7A88"/>
                </a:solidFill>
                <a:latin typeface="Calibri"/>
              </a:rPr>
              <a:t>KAZ-EHS-IND-001 · Rev. 07 · Management &amp; Staff EHS Induction · Restricted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334000" y="6451600"/>
            <a:ext cx="41910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850" b="0" i="0">
                <a:solidFill>
                  <a:srgbClr val="6B7A88"/>
                </a:solidFill>
                <a:latin typeface="Calibri"/>
              </a:rPr>
              <a:t>04 · Permit to Work and Electrical Safety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890000" y="6451600"/>
            <a:ext cx="23876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50" b="0" i="0">
                <a:solidFill>
                  <a:srgbClr val="6B7A88"/>
                </a:solidFill>
                <a:latin typeface="Calibri"/>
              </a:rPr>
              <a:t>Slide 33 of 63</a:t>
            </a:r>
          </a:p>
        </p:txBody>
      </p:sp>
      <p:sp>
        <p:nvSpPr>
          <p:cNvPr id="30" name="Chevron 29"/>
          <p:cNvSpPr/>
          <p:nvPr/>
        </p:nvSpPr>
        <p:spPr>
          <a:xfrm>
            <a:off x="502920" y="2103120"/>
            <a:ext cx="2057400" cy="1371600"/>
          </a:xfrm>
          <a:prstGeom prst="chevron">
            <a:avLst/>
          </a:prstGeom>
          <a:solidFill>
            <a:srgbClr val="00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1</a:t>
            </a:r>
          </a:p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NOTIFY</a:t>
            </a:r>
          </a:p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إخطار</a:t>
            </a:r>
          </a:p>
        </p:txBody>
      </p:sp>
      <p:sp>
        <p:nvSpPr>
          <p:cNvPr id="31" name="Chevron 30"/>
          <p:cNvSpPr/>
          <p:nvPr/>
        </p:nvSpPr>
        <p:spPr>
          <a:xfrm>
            <a:off x="2377439" y="2103120"/>
            <a:ext cx="2057400" cy="1371600"/>
          </a:xfrm>
          <a:prstGeom prst="chevron">
            <a:avLst/>
          </a:prstGeom>
          <a:solidFill>
            <a:srgbClr val="007A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2</a:t>
            </a:r>
          </a:p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ISOLATE</a:t>
            </a:r>
          </a:p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عزل</a:t>
            </a:r>
          </a:p>
        </p:txBody>
      </p:sp>
      <p:sp>
        <p:nvSpPr>
          <p:cNvPr id="32" name="Chevron 31"/>
          <p:cNvSpPr/>
          <p:nvPr/>
        </p:nvSpPr>
        <p:spPr>
          <a:xfrm>
            <a:off x="4251959" y="2103120"/>
            <a:ext cx="2057400" cy="1371600"/>
          </a:xfrm>
          <a:prstGeom prst="chevron">
            <a:avLst/>
          </a:prstGeom>
          <a:solidFill>
            <a:srgbClr val="008F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3</a:t>
            </a:r>
          </a:p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LOCK &amp; TAG</a:t>
            </a:r>
          </a:p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قفل وتعليق</a:t>
            </a:r>
          </a:p>
        </p:txBody>
      </p:sp>
      <p:sp>
        <p:nvSpPr>
          <p:cNvPr id="33" name="Chevron 32"/>
          <p:cNvSpPr/>
          <p:nvPr/>
        </p:nvSpPr>
        <p:spPr>
          <a:xfrm>
            <a:off x="6126479" y="2103120"/>
            <a:ext cx="2057400" cy="1371600"/>
          </a:xfrm>
          <a:prstGeom prst="chevron">
            <a:avLst/>
          </a:prstGeom>
          <a:solidFill>
            <a:srgbClr val="0099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4</a:t>
            </a:r>
          </a:p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RELEASE STORED ENERGY</a:t>
            </a:r>
          </a:p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تفريغ الطاقة المختزنة</a:t>
            </a:r>
          </a:p>
        </p:txBody>
      </p:sp>
      <p:sp>
        <p:nvSpPr>
          <p:cNvPr id="34" name="Chevron 33"/>
          <p:cNvSpPr/>
          <p:nvPr/>
        </p:nvSpPr>
        <p:spPr>
          <a:xfrm>
            <a:off x="8001000" y="2103120"/>
            <a:ext cx="2057400" cy="1371600"/>
          </a:xfrm>
          <a:prstGeom prst="chevron">
            <a:avLst/>
          </a:prstGeom>
          <a:solidFill>
            <a:srgbClr val="0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5</a:t>
            </a:r>
          </a:p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VERIFY ZERO ENERGY</a:t>
            </a:r>
          </a:p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التحقق من صفر الطاقة</a:t>
            </a:r>
          </a:p>
        </p:txBody>
      </p:sp>
      <p:sp>
        <p:nvSpPr>
          <p:cNvPr id="35" name="Chevron 34"/>
          <p:cNvSpPr/>
          <p:nvPr/>
        </p:nvSpPr>
        <p:spPr>
          <a:xfrm>
            <a:off x="9875520" y="2103120"/>
            <a:ext cx="2057400" cy="1371600"/>
          </a:xfrm>
          <a:prstGeom prst="chevron">
            <a:avLst/>
          </a:prstGeom>
          <a:solidFill>
            <a:srgbClr val="0066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6</a:t>
            </a:r>
          </a:p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TEST BEFORE TOUCH</a:t>
            </a:r>
          </a:p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اختبر قبل اللمس ثم اعمل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914400" y="4206240"/>
            <a:ext cx="10360152" cy="868680"/>
          </a:xfrm>
          <a:prstGeom prst="roundRect">
            <a:avLst/>
          </a:prstGeom>
          <a:solidFill>
            <a:srgbClr val="FDEFF1"/>
          </a:solidFill>
          <a:ln>
            <a:solidFill>
              <a:srgbClr val="B030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B0303A"/>
                </a:solidFill>
                <a:latin typeface="Calibri"/>
              </a:rPr>
              <a:t>Only the AEP de-isolates · every worker applies his own personal lock · never remove another person's lock — dismissible offence</a:t>
            </a:r>
          </a:p>
          <a:p>
            <a:pPr algn="ctr"/>
            <a:r>
              <a:rPr sz="1200" b="1">
                <a:solidFill>
                  <a:srgbClr val="B0303A"/>
                </a:solidFill>
                <a:latin typeface="Calibri"/>
              </a:rPr>
              <a:t>فك العزل من صلاحية AEP فقط · كل عامل يضع قفله الشخصي · لا تُزل قفل غيرك أبداً — مخالفة تستوجب الفصل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0099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pic>
        <p:nvPicPr>
          <p:cNvPr id="3" name="Picture 2" descr="siemens_energy_100x31_rgb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07600" y="381000"/>
            <a:ext cx="1270000" cy="3937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4400" y="355600"/>
            <a:ext cx="8763000" cy="190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1" i="0">
                <a:solidFill>
                  <a:srgbClr val="009999"/>
                </a:solidFill>
                <a:latin typeface="Calibri"/>
              </a:rPr>
              <a:t>CHAPTER 04  ·  PERMIT TO WORK AND ELECTRICAL SAFETY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584200"/>
            <a:ext cx="8890000" cy="47053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700" b="1" i="0">
                <a:solidFill>
                  <a:srgbClr val="12263A"/>
                </a:solidFill>
                <a:latin typeface="Calibri"/>
              </a:rPr>
              <a:t>Electrical Safety Rules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092834"/>
            <a:ext cx="8890000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 i="0">
                <a:solidFill>
                  <a:srgbClr val="6B7A88"/>
                </a:solidFill>
                <a:latin typeface="Calibri"/>
              </a:rPr>
              <a:t>⚡ The golden rule of this project</a:t>
            </a:r>
          </a:p>
          <a:p>
            <a:pPr algn="r" rtl="1"/>
            <a:r>
              <a:rPr sz="1200">
                <a:solidFill>
                  <a:srgbClr val="333F4C"/>
                </a:solidFill>
                <a:latin typeface="Calibri"/>
              </a:rPr>
              <a:t>القاعدة الذهبية: اعزل — أقفل — علّق — اختَبِر قبل اللمس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914400" y="1700784"/>
            <a:ext cx="1219200" cy="0"/>
          </a:xfrm>
          <a:prstGeom prst="line">
            <a:avLst/>
          </a:prstGeom>
          <a:ln w="30480">
            <a:solidFill>
              <a:srgbClr val="00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2133600" y="1709928"/>
            <a:ext cx="9144000" cy="0"/>
          </a:xfrm>
          <a:prstGeom prst="line">
            <a:avLst/>
          </a:prstGeom>
          <a:ln w="11430">
            <a:solidFill>
              <a:srgbClr val="D5DD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914400" y="1755648"/>
            <a:ext cx="2032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1" i="0">
                <a:solidFill>
                  <a:srgbClr val="009999"/>
                </a:solidFill>
                <a:latin typeface="Calibri"/>
              </a:rPr>
              <a:t>▪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7600" y="1755648"/>
            <a:ext cx="6527800" cy="26517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0" i="0">
                <a:solidFill>
                  <a:srgbClr val="333F4C"/>
                </a:solidFill>
                <a:latin typeface="Calibri"/>
              </a:rPr>
              <a:t>Treat every electrical circuit as live until proven dead.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075688"/>
            <a:ext cx="2032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1" i="0">
                <a:solidFill>
                  <a:srgbClr val="009999"/>
                </a:solidFill>
                <a:latin typeface="Calibri"/>
              </a:rPr>
              <a:t>▪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17600" y="2075688"/>
            <a:ext cx="6527800" cy="26517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0" i="0">
                <a:solidFill>
                  <a:srgbClr val="333F4C"/>
                </a:solidFill>
                <a:latin typeface="Calibri"/>
              </a:rPr>
              <a:t>Isolate the source and apply LOTO before starting any work.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2395728"/>
            <a:ext cx="2032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1" i="0">
                <a:solidFill>
                  <a:srgbClr val="009999"/>
                </a:solidFill>
                <a:latin typeface="Calibri"/>
              </a:rPr>
              <a:t>▪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17600" y="2395728"/>
            <a:ext cx="6527800" cy="50468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0" i="0">
                <a:solidFill>
                  <a:srgbClr val="333F4C"/>
                </a:solidFill>
                <a:latin typeface="Calibri"/>
              </a:rPr>
              <a:t>Only an Authorized Electrical Person may isolate, de-isolate or energise.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2955281"/>
            <a:ext cx="2032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1" i="0">
                <a:solidFill>
                  <a:srgbClr val="009999"/>
                </a:solidFill>
                <a:latin typeface="Calibri"/>
              </a:rPr>
              <a:t>▪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17600" y="2955281"/>
            <a:ext cx="6527800" cy="50468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0" i="0">
                <a:solidFill>
                  <a:srgbClr val="333F4C"/>
                </a:solidFill>
                <a:latin typeface="Calibri"/>
              </a:rPr>
              <a:t>Verify absence of voltage with an approved, calibrated tester — prove the tester before and after.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3514835"/>
            <a:ext cx="2032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1" i="0">
                <a:solidFill>
                  <a:srgbClr val="009999"/>
                </a:solidFill>
                <a:latin typeface="Calibri"/>
              </a:rPr>
              <a:t>▪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7600" y="3514835"/>
            <a:ext cx="6527800" cy="50468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0" i="0">
                <a:solidFill>
                  <a:srgbClr val="333F4C"/>
                </a:solidFill>
                <a:latin typeface="Calibri"/>
              </a:rPr>
              <a:t>Use insulated tools rated for the voltage; inspect them before use.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4074389"/>
            <a:ext cx="2032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1" i="0">
                <a:solidFill>
                  <a:srgbClr val="009999"/>
                </a:solidFill>
                <a:latin typeface="Calibri"/>
              </a:rPr>
              <a:t>▪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17600" y="4074389"/>
            <a:ext cx="6527800" cy="50468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0" i="0">
                <a:solidFill>
                  <a:srgbClr val="333F4C"/>
                </a:solidFill>
                <a:latin typeface="Calibri"/>
              </a:rPr>
              <a:t>Maintain safe approach distances at all times; respect barriers, interlocks and signage.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" y="4633943"/>
            <a:ext cx="2032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1" i="0">
                <a:solidFill>
                  <a:srgbClr val="009999"/>
                </a:solidFill>
                <a:latin typeface="Calibri"/>
              </a:rPr>
              <a:t>▪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17600" y="4633943"/>
            <a:ext cx="6527800" cy="50468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0" i="0">
                <a:solidFill>
                  <a:srgbClr val="333F4C"/>
                </a:solidFill>
                <a:latin typeface="Calibri"/>
              </a:rPr>
              <a:t>Never work on live equipment unless formally authorised and only under an Electrical Hot Work / Commissioning Permit.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4400" y="5247639"/>
            <a:ext cx="6731000" cy="24828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50" b="1" i="0">
                <a:solidFill>
                  <a:srgbClr val="52177A"/>
                </a:solidFill>
                <a:latin typeface="Calibri"/>
              </a:rPr>
              <a:t>GOLDEN RULE: ISOLATE — LOCK OUT — TAG OUT — TEST BEFORE TOUCH.</a:t>
            </a:r>
          </a:p>
        </p:txBody>
      </p:sp>
      <p:pic>
        <p:nvPicPr>
          <p:cNvPr id="24" name="Picture 23" descr="04_arc_flash_ppe_256x268_rgb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26400" y="1752600"/>
            <a:ext cx="3251200" cy="3403600"/>
          </a:xfrm>
          <a:prstGeom prst="rect">
            <a:avLst/>
          </a:prstGeom>
        </p:spPr>
      </p:pic>
      <p:sp>
        <p:nvSpPr>
          <p:cNvPr id="25" name="Rectangle 24"/>
          <p:cNvSpPr/>
          <p:nvPr/>
        </p:nvSpPr>
        <p:spPr>
          <a:xfrm>
            <a:off x="8026400" y="1752600"/>
            <a:ext cx="3251200" cy="3403600"/>
          </a:xfrm>
          <a:prstGeom prst="rect">
            <a:avLst/>
          </a:prstGeom>
          <a:noFill/>
          <a:ln w="10160">
            <a:solidFill>
              <a:srgbClr val="D5DD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8026400" y="5156200"/>
            <a:ext cx="3251200" cy="381000"/>
          </a:xfrm>
          <a:prstGeom prst="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8128000" y="5219700"/>
            <a:ext cx="3048000" cy="254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0" i="0">
                <a:solidFill>
                  <a:srgbClr val="12263A"/>
                </a:solidFill>
                <a:latin typeface="Calibri"/>
              </a:rPr>
              <a:t>Arc-rated PPE and approach boundary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914400" y="6350000"/>
            <a:ext cx="330200" cy="0"/>
          </a:xfrm>
          <a:prstGeom prst="line">
            <a:avLst/>
          </a:prstGeom>
          <a:ln w="30480">
            <a:solidFill>
              <a:srgbClr val="00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1244600" y="6350000"/>
            <a:ext cx="10033000" cy="0"/>
          </a:xfrm>
          <a:prstGeom prst="line">
            <a:avLst/>
          </a:prstGeom>
          <a:ln w="10160">
            <a:solidFill>
              <a:srgbClr val="D5DD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Box 29"/>
          <p:cNvSpPr txBox="1"/>
          <p:nvPr/>
        </p:nvSpPr>
        <p:spPr>
          <a:xfrm>
            <a:off x="914400" y="6451600"/>
            <a:ext cx="54610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 i="0">
                <a:solidFill>
                  <a:srgbClr val="6B7A88"/>
                </a:solidFill>
                <a:latin typeface="Calibri"/>
              </a:rPr>
              <a:t>KAZ-EHS-IND-001 · Rev. 07 · Management &amp; Staff EHS Induction · Restricted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334000" y="6451600"/>
            <a:ext cx="41910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850" b="0" i="0">
                <a:solidFill>
                  <a:srgbClr val="6B7A88"/>
                </a:solidFill>
                <a:latin typeface="Calibri"/>
              </a:rPr>
              <a:t>04 · Permit to Work and Electrical Safety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890000" y="6451600"/>
            <a:ext cx="23876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50" b="0" i="0">
                <a:solidFill>
                  <a:srgbClr val="6B7A88"/>
                </a:solidFill>
                <a:latin typeface="Calibri"/>
              </a:rPr>
              <a:t>Slide 34 of 63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0099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pic>
        <p:nvPicPr>
          <p:cNvPr id="3" name="Picture 2" descr="siemens_energy_100x31_rgb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07600" y="381000"/>
            <a:ext cx="1270000" cy="3937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4400" y="355600"/>
            <a:ext cx="8763000" cy="190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1" i="0">
                <a:solidFill>
                  <a:srgbClr val="009999"/>
                </a:solidFill>
                <a:latin typeface="Calibri"/>
              </a:rPr>
              <a:t>CHAPTER 04  ·  PERMIT TO WORK AND ELECTRICAL SAFETY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584200"/>
            <a:ext cx="8890000" cy="47053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700" b="1" i="0">
                <a:solidFill>
                  <a:srgbClr val="12263A"/>
                </a:solidFill>
                <a:latin typeface="Calibri"/>
              </a:rPr>
              <a:t>Arc Flash and Safe Approach Distances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092834"/>
            <a:ext cx="8890000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 i="0">
                <a:solidFill>
                  <a:srgbClr val="6B7A88"/>
                </a:solidFill>
                <a:latin typeface="Calibri"/>
              </a:rPr>
              <a:t>⚡ Boundaries must be approved for this site — do not use generic values</a:t>
            </a:r>
          </a:p>
          <a:p>
            <a:pPr algn="r" rtl="1"/>
            <a:r>
              <a:rPr sz="1200">
                <a:solidFill>
                  <a:srgbClr val="333F4C"/>
                </a:solidFill>
                <a:latin typeface="Calibri"/>
              </a:rPr>
              <a:t>مسافات الاقتراب حسب جدول المشروع المعتمد فقط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914400" y="1700784"/>
            <a:ext cx="1219200" cy="0"/>
          </a:xfrm>
          <a:prstGeom prst="line">
            <a:avLst/>
          </a:prstGeom>
          <a:ln w="30480">
            <a:solidFill>
              <a:srgbClr val="00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2133600" y="1709928"/>
            <a:ext cx="9144000" cy="0"/>
          </a:xfrm>
          <a:prstGeom prst="line">
            <a:avLst/>
          </a:prstGeom>
          <a:ln w="11430">
            <a:solidFill>
              <a:srgbClr val="D5DD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ctangle 8"/>
          <p:cNvSpPr/>
          <p:nvPr/>
        </p:nvSpPr>
        <p:spPr>
          <a:xfrm>
            <a:off x="914400" y="1955800"/>
            <a:ext cx="10363200" cy="431800"/>
          </a:xfrm>
          <a:prstGeom prst="rect">
            <a:avLst/>
          </a:prstGeom>
          <a:solidFill>
            <a:srgbClr val="1226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041400" y="2057400"/>
            <a:ext cx="2025904" cy="304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Nominal voltage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21304" y="2057400"/>
            <a:ext cx="2647696" cy="304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Minimum approach distance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23000" y="2057400"/>
            <a:ext cx="1611376" cy="304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Arc flash boundary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88376" y="2057400"/>
            <a:ext cx="3062224" cy="304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Notes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41400" y="2451100"/>
            <a:ext cx="2025904" cy="3683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333F4C"/>
                </a:solidFill>
                <a:latin typeface="Calibri"/>
              </a:rPr>
              <a:t>11 kV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321304" y="2451100"/>
            <a:ext cx="2647696" cy="3683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333F4C"/>
                </a:solidFill>
                <a:latin typeface="Calibri"/>
              </a:rPr>
              <a:t>per approved project table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23000" y="2451100"/>
            <a:ext cx="1611376" cy="3683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333F4C"/>
                </a:solidFill>
                <a:latin typeface="Calibri"/>
              </a:rPr>
              <a:t>per arc flash study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088376" y="2451100"/>
            <a:ext cx="3062224" cy="3683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333F4C"/>
                </a:solidFill>
                <a:latin typeface="Calibri"/>
              </a:rPr>
              <a:t>Limited / restricted approach per NFPA 70E and client rules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914400" y="2882900"/>
            <a:ext cx="10363200" cy="0"/>
          </a:xfrm>
          <a:prstGeom prst="line">
            <a:avLst/>
          </a:prstGeom>
          <a:ln w="7620">
            <a:solidFill>
              <a:srgbClr val="D5DD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ectangle 18"/>
          <p:cNvSpPr/>
          <p:nvPr/>
        </p:nvSpPr>
        <p:spPr>
          <a:xfrm>
            <a:off x="914400" y="2882900"/>
            <a:ext cx="10363200" cy="304800"/>
          </a:xfrm>
          <a:prstGeom prst="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1041400" y="2946400"/>
            <a:ext cx="2025904" cy="177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333F4C"/>
                </a:solidFill>
                <a:latin typeface="Calibri"/>
              </a:rPr>
              <a:t>132 kV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321304" y="2946400"/>
            <a:ext cx="2647696" cy="177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333F4C"/>
                </a:solidFill>
                <a:latin typeface="Calibri"/>
              </a:rPr>
              <a:t>per approved project table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23000" y="2946400"/>
            <a:ext cx="1611376" cy="177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333F4C"/>
                </a:solidFill>
                <a:latin typeface="Calibri"/>
              </a:rPr>
              <a:t>per arc flash study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088376" y="2946400"/>
            <a:ext cx="3062224" cy="177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333F4C"/>
                </a:solidFill>
                <a:latin typeface="Calibri"/>
              </a:rPr>
              <a:t>Client operational rules apply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914400" y="3187700"/>
            <a:ext cx="10363200" cy="0"/>
          </a:xfrm>
          <a:prstGeom prst="line">
            <a:avLst/>
          </a:prstGeom>
          <a:ln w="7620">
            <a:solidFill>
              <a:srgbClr val="D5DD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1041400" y="3251200"/>
            <a:ext cx="2025904" cy="3683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333F4C"/>
                </a:solidFill>
                <a:latin typeface="Calibri"/>
              </a:rPr>
              <a:t>400 kV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321304" y="3251200"/>
            <a:ext cx="2647696" cy="3683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333F4C"/>
                </a:solidFill>
                <a:latin typeface="Calibri"/>
              </a:rPr>
              <a:t>per approved project table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223000" y="3251200"/>
            <a:ext cx="1611376" cy="3683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333F4C"/>
                </a:solidFill>
                <a:latin typeface="Calibri"/>
              </a:rPr>
              <a:t>per arc flash study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088376" y="3251200"/>
            <a:ext cx="3062224" cy="3683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333F4C"/>
                </a:solidFill>
                <a:latin typeface="Calibri"/>
              </a:rPr>
              <a:t>Highest risk on this site — client operational rules apply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914400" y="3683000"/>
            <a:ext cx="10363200" cy="0"/>
          </a:xfrm>
          <a:prstGeom prst="line">
            <a:avLst/>
          </a:prstGeom>
          <a:ln w="7620">
            <a:solidFill>
              <a:srgbClr val="D5DD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ectangle 29"/>
          <p:cNvSpPr/>
          <p:nvPr/>
        </p:nvSpPr>
        <p:spPr>
          <a:xfrm>
            <a:off x="914400" y="3683000"/>
            <a:ext cx="10363200" cy="495300"/>
          </a:xfrm>
          <a:prstGeom prst="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1041400" y="3746500"/>
            <a:ext cx="2025904" cy="3683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333F4C"/>
                </a:solidFill>
                <a:latin typeface="Calibri"/>
              </a:rPr>
              <a:t>Work within 30 m of HV system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321304" y="3746500"/>
            <a:ext cx="2647696" cy="3683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333F4C"/>
                </a:solidFill>
                <a:latin typeface="Calibri"/>
              </a:rPr>
              <a:t>Agreement with plant owner + physical demarcation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223000" y="3746500"/>
            <a:ext cx="1611376" cy="3683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333F4C"/>
                </a:solidFill>
                <a:latin typeface="Calibri"/>
              </a:rPr>
              <a:t>—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088376" y="3746500"/>
            <a:ext cx="3062224" cy="3683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333F4C"/>
                </a:solidFill>
                <a:latin typeface="Calibri"/>
              </a:rPr>
              <a:t>Mandatory before any activity</a:t>
            </a:r>
          </a:p>
        </p:txBody>
      </p:sp>
      <p:cxnSp>
        <p:nvCxnSpPr>
          <p:cNvPr id="35" name="Connector 34"/>
          <p:cNvCxnSpPr/>
          <p:nvPr/>
        </p:nvCxnSpPr>
        <p:spPr>
          <a:xfrm>
            <a:off x="914400" y="4178300"/>
            <a:ext cx="10363200" cy="0"/>
          </a:xfrm>
          <a:prstGeom prst="line">
            <a:avLst/>
          </a:prstGeom>
          <a:ln w="7620">
            <a:solidFill>
              <a:srgbClr val="D5DD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Rectangle 35"/>
          <p:cNvSpPr/>
          <p:nvPr/>
        </p:nvSpPr>
        <p:spPr>
          <a:xfrm>
            <a:off x="914400" y="1955800"/>
            <a:ext cx="10363200" cy="2222500"/>
          </a:xfrm>
          <a:prstGeom prst="rect">
            <a:avLst/>
          </a:prstGeom>
          <a:noFill/>
          <a:ln w="10160">
            <a:solidFill>
              <a:srgbClr val="C3C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cxnSp>
        <p:nvCxnSpPr>
          <p:cNvPr id="37" name="Connector 36"/>
          <p:cNvCxnSpPr/>
          <p:nvPr/>
        </p:nvCxnSpPr>
        <p:spPr>
          <a:xfrm>
            <a:off x="914400" y="6350000"/>
            <a:ext cx="330200" cy="0"/>
          </a:xfrm>
          <a:prstGeom prst="line">
            <a:avLst/>
          </a:prstGeom>
          <a:ln w="30480">
            <a:solidFill>
              <a:srgbClr val="00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>
            <a:off x="1244600" y="6350000"/>
            <a:ext cx="10033000" cy="0"/>
          </a:xfrm>
          <a:prstGeom prst="line">
            <a:avLst/>
          </a:prstGeom>
          <a:ln w="10160">
            <a:solidFill>
              <a:srgbClr val="D5DD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TextBox 38"/>
          <p:cNvSpPr txBox="1"/>
          <p:nvPr/>
        </p:nvSpPr>
        <p:spPr>
          <a:xfrm>
            <a:off x="914400" y="6451600"/>
            <a:ext cx="54610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 i="0">
                <a:solidFill>
                  <a:srgbClr val="6B7A88"/>
                </a:solidFill>
                <a:latin typeface="Calibri"/>
              </a:rPr>
              <a:t>KAZ-EHS-IND-001 · Rev. 07 · Management &amp; Staff EHS Induction · Restricted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334000" y="6451600"/>
            <a:ext cx="41910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850" b="0" i="0">
                <a:solidFill>
                  <a:srgbClr val="6B7A88"/>
                </a:solidFill>
                <a:latin typeface="Calibri"/>
              </a:rPr>
              <a:t>04 · Permit to Work and Electrical Safety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890000" y="6451600"/>
            <a:ext cx="23876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50" b="0" i="0">
                <a:solidFill>
                  <a:srgbClr val="6B7A88"/>
                </a:solidFill>
                <a:latin typeface="Calibri"/>
              </a:rPr>
              <a:t>Slide 35 of 63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0099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pic>
        <p:nvPicPr>
          <p:cNvPr id="3" name="Picture 2" descr="siemens_energy_100x31_rgb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07600" y="381000"/>
            <a:ext cx="1270000" cy="3937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4400" y="355600"/>
            <a:ext cx="8763000" cy="190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1" i="0">
                <a:solidFill>
                  <a:srgbClr val="009999"/>
                </a:solidFill>
                <a:latin typeface="Calibri"/>
              </a:rPr>
              <a:t>CHAPTER 04  ·  PERMIT TO WORK AND ELECTRICAL SAFETY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584200"/>
            <a:ext cx="8890000" cy="47053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700" b="1" i="0">
                <a:solidFill>
                  <a:srgbClr val="12263A"/>
                </a:solidFill>
                <a:latin typeface="Calibri"/>
              </a:rPr>
              <a:t>Working in a Live Power Plant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092834"/>
            <a:ext cx="8890000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 i="0">
                <a:solidFill>
                  <a:srgbClr val="6B7A88"/>
                </a:solidFill>
                <a:latin typeface="Calibri"/>
              </a:rPr>
              <a:t>🏭 Coordination with MoE Operations</a:t>
            </a:r>
          </a:p>
          <a:p>
            <a:pPr algn="r" rtl="1"/>
            <a:r>
              <a:rPr sz="1200">
                <a:solidFill>
                  <a:srgbClr val="333F4C"/>
                </a:solidFill>
                <a:latin typeface="Calibri"/>
              </a:rPr>
              <a:t>التنسيق إلزامي مع عمليات الكهرباء · إيقاف العمل عند الصواعق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914400" y="1700784"/>
            <a:ext cx="1219200" cy="0"/>
          </a:xfrm>
          <a:prstGeom prst="line">
            <a:avLst/>
          </a:prstGeom>
          <a:ln w="30480">
            <a:solidFill>
              <a:srgbClr val="00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2133600" y="1709928"/>
            <a:ext cx="9144000" cy="0"/>
          </a:xfrm>
          <a:prstGeom prst="line">
            <a:avLst/>
          </a:prstGeom>
          <a:ln w="11430">
            <a:solidFill>
              <a:srgbClr val="D5DD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914400" y="1755648"/>
            <a:ext cx="2032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1" i="0">
                <a:solidFill>
                  <a:srgbClr val="009999"/>
                </a:solidFill>
                <a:latin typeface="Calibri"/>
              </a:rPr>
              <a:t>▪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7600" y="1755648"/>
            <a:ext cx="10160000" cy="5394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0" i="0">
                <a:solidFill>
                  <a:srgbClr val="333F4C"/>
                </a:solidFill>
                <a:latin typeface="Calibri"/>
              </a:rPr>
              <a:t>Work near or on live systems is governed by the client's operational rules in addition to ours.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350008"/>
            <a:ext cx="2032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1" i="0">
                <a:solidFill>
                  <a:srgbClr val="009999"/>
                </a:solidFill>
                <a:latin typeface="Calibri"/>
              </a:rPr>
              <a:t>▪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17600" y="2350008"/>
            <a:ext cx="10160000" cy="5394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0" i="0">
                <a:solidFill>
                  <a:srgbClr val="333F4C"/>
                </a:solidFill>
                <a:latin typeface="Calibri"/>
              </a:rPr>
              <a:t>A nominated Operations Manager is responsible for the installation; a Switching Supervisor controls switching.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2944368"/>
            <a:ext cx="2032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1" i="0">
                <a:solidFill>
                  <a:srgbClr val="009999"/>
                </a:solidFill>
                <a:latin typeface="Calibri"/>
              </a:rPr>
              <a:t>▪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17600" y="2944368"/>
            <a:ext cx="10160000" cy="5394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0" i="0">
                <a:solidFill>
                  <a:srgbClr val="333F4C"/>
                </a:solidFill>
                <a:latin typeface="Calibri"/>
              </a:rPr>
              <a:t>No work starts without: agreed method, permit, isolation and the operational authority's confirmation that the plant condition is safe.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3538728"/>
            <a:ext cx="2032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1" i="0">
                <a:solidFill>
                  <a:srgbClr val="009999"/>
                </a:solidFill>
                <a:latin typeface="Calibri"/>
              </a:rPr>
              <a:t>▪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17600" y="3538728"/>
            <a:ext cx="10160000" cy="5394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0" i="0">
                <a:solidFill>
                  <a:srgbClr val="333F4C"/>
                </a:solidFill>
                <a:latin typeface="Calibri"/>
              </a:rPr>
              <a:t>Maintain physical demarcation between live and work areas; never breach a barrier or open a panel without authorisation.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4133088"/>
            <a:ext cx="2032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1" i="0">
                <a:solidFill>
                  <a:srgbClr val="009999"/>
                </a:solidFill>
                <a:latin typeface="Calibri"/>
              </a:rPr>
              <a:t>▪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7600" y="4133088"/>
            <a:ext cx="10160000" cy="5394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0" i="0">
                <a:solidFill>
                  <a:srgbClr val="333F4C"/>
                </a:solidFill>
                <a:latin typeface="Calibri"/>
              </a:rPr>
              <a:t>Stop all work during thunderstorms — cranes, lifts, scaffolding and installation work are suspended (lightning and induced voltage).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4727448"/>
            <a:ext cx="2032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1" i="0">
                <a:solidFill>
                  <a:srgbClr val="009999"/>
                </a:solidFill>
                <a:latin typeface="Calibri"/>
              </a:rPr>
              <a:t>▪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17600" y="4727448"/>
            <a:ext cx="10160000" cy="2834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0" i="0">
                <a:solidFill>
                  <a:srgbClr val="333F4C"/>
                </a:solidFill>
                <a:latin typeface="Calibri"/>
              </a:rPr>
              <a:t>Report any contact with a conductor, any flash and any damaged insulation immediately.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" y="5065776"/>
            <a:ext cx="2032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1" i="0">
                <a:solidFill>
                  <a:srgbClr val="009999"/>
                </a:solidFill>
                <a:latin typeface="Calibri"/>
              </a:rPr>
              <a:t>▪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17600" y="5065776"/>
            <a:ext cx="10160000" cy="2834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0" i="0">
                <a:solidFill>
                  <a:srgbClr val="333F4C"/>
                </a:solidFill>
                <a:latin typeface="Calibri"/>
              </a:rPr>
              <a:t>Never touch an electric-shock casualty before the supply is isolated.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914400" y="6350000"/>
            <a:ext cx="330200" cy="0"/>
          </a:xfrm>
          <a:prstGeom prst="line">
            <a:avLst/>
          </a:prstGeom>
          <a:ln w="30480">
            <a:solidFill>
              <a:srgbClr val="00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1244600" y="6350000"/>
            <a:ext cx="10033000" cy="0"/>
          </a:xfrm>
          <a:prstGeom prst="line">
            <a:avLst/>
          </a:prstGeom>
          <a:ln w="10160">
            <a:solidFill>
              <a:srgbClr val="D5DD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914400" y="6451600"/>
            <a:ext cx="54610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 i="0">
                <a:solidFill>
                  <a:srgbClr val="6B7A88"/>
                </a:solidFill>
                <a:latin typeface="Calibri"/>
              </a:rPr>
              <a:t>KAZ-EHS-IND-001 · Rev. 07 · Management &amp; Staff EHS Induction · Restricted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334000" y="6451600"/>
            <a:ext cx="41910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850" b="0" i="0">
                <a:solidFill>
                  <a:srgbClr val="6B7A88"/>
                </a:solidFill>
                <a:latin typeface="Calibri"/>
              </a:rPr>
              <a:t>04 · Permit to Work and Electrical Safety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890000" y="6451600"/>
            <a:ext cx="23876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50" b="0" i="0">
                <a:solidFill>
                  <a:srgbClr val="6B7A88"/>
                </a:solidFill>
                <a:latin typeface="Calibri"/>
              </a:rPr>
              <a:t>Slide 36 of 63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226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0099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76200"/>
            <a:ext cx="76200" cy="6781800"/>
          </a:xfrm>
          <a:prstGeom prst="rect">
            <a:avLst/>
          </a:prstGeom>
          <a:solidFill>
            <a:srgbClr val="0099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8585200" y="304800"/>
            <a:ext cx="3302000" cy="1041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pic>
        <p:nvPicPr>
          <p:cNvPr id="6" name="Picture 5" descr="siemens_energy_244x74_rgb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6800" y="381000"/>
            <a:ext cx="3098800" cy="9398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219200" y="1625600"/>
            <a:ext cx="3810000" cy="1905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0" b="1" i="0">
                <a:solidFill>
                  <a:srgbClr val="183851"/>
                </a:solidFill>
                <a:latin typeface="Calibri"/>
              </a:rPr>
              <a:t>05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19200" y="3632200"/>
            <a:ext cx="9652000" cy="48133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900" b="1" i="0">
                <a:solidFill>
                  <a:srgbClr val="FFFFFF"/>
                </a:solidFill>
                <a:latin typeface="Calibri"/>
              </a:rPr>
              <a:t>High-Risk Activities and Occupational Health</a:t>
            </a:r>
          </a:p>
        </p:txBody>
      </p:sp>
      <p:sp>
        <p:nvSpPr>
          <p:cNvPr id="9" name="Rectangle 8"/>
          <p:cNvSpPr/>
          <p:nvPr/>
        </p:nvSpPr>
        <p:spPr>
          <a:xfrm>
            <a:off x="1219200" y="4267200"/>
            <a:ext cx="1219200" cy="38100"/>
          </a:xfrm>
          <a:prstGeom prst="rect">
            <a:avLst/>
          </a:prstGeom>
          <a:solidFill>
            <a:srgbClr val="0099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219200" y="4470400"/>
            <a:ext cx="9144000" cy="6583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0" i="0">
                <a:solidFill>
                  <a:srgbClr val="9FD8D8"/>
                </a:solidFill>
                <a:latin typeface="Calibri"/>
              </a:rPr>
              <a:t>The activities that cause the most serious injuries and how each one is controlled.</a:t>
            </a:r>
          </a:p>
          <a:p>
            <a:pPr algn="r" rtl="1"/>
            <a:r>
              <a:rPr sz="1300">
                <a:solidFill>
                  <a:srgbClr val="333F4C"/>
                </a:solidFill>
                <a:latin typeface="Calibri"/>
              </a:rPr>
              <a:t>الأنشطة الأكثر خطورة وكيف يُتحكم بها، والصحة المهنية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19200" y="5440680"/>
            <a:ext cx="9906000" cy="584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150" b="0" i="0">
                <a:solidFill>
                  <a:srgbClr val="8FA8BC"/>
                </a:solidFill>
                <a:latin typeface="Calibri"/>
              </a:rPr>
              <a:t>Work at height  ·  Lifting  ·  Excavation  ·  Confined space  ·  Hot work  ·  Tools  ·  Manual handling  ·  PPE  ·  Heat stress  ·  First aid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19200" y="5943600"/>
            <a:ext cx="6350000" cy="254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C8399"/>
                </a:solidFill>
                <a:latin typeface="Calibri"/>
              </a:rPr>
              <a:t>KAZ-EHS-IND-001 · Rev. 07 · Restricted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20000" y="5943600"/>
            <a:ext cx="3505200" cy="254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C8399"/>
                </a:solidFill>
                <a:latin typeface="Calibri"/>
              </a:rPr>
              <a:t>Slide 37 of 63</a:t>
            </a:r>
          </a:p>
        </p:txBody>
      </p:sp>
      <p:pic>
        <p:nvPicPr>
          <p:cNvPr id="14" name="Picture 13" descr="signs_mandatory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89520" y="1143000"/>
            <a:ext cx="4206240" cy="661243"/>
          </a:xfrm>
          <a:prstGeom prst="rect">
            <a:avLst/>
          </a:prstGeom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0099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pic>
        <p:nvPicPr>
          <p:cNvPr id="3" name="Picture 2" descr="siemens_energy_100x31_rgb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07600" y="381000"/>
            <a:ext cx="1270000" cy="3937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4400" y="355600"/>
            <a:ext cx="8763000" cy="190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1" i="0">
                <a:solidFill>
                  <a:srgbClr val="009999"/>
                </a:solidFill>
                <a:latin typeface="Calibri"/>
              </a:rPr>
              <a:t>CHAPTER 05  ·  HIGH-RISK ACTIVITIES AND OCCUPATIONAL HEALTH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584200"/>
            <a:ext cx="8890000" cy="47053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700" b="1" i="0">
                <a:solidFill>
                  <a:srgbClr val="12263A"/>
                </a:solidFill>
                <a:latin typeface="Calibri"/>
              </a:rPr>
              <a:t>Work at Height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092834"/>
            <a:ext cx="8890000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 i="0">
                <a:solidFill>
                  <a:srgbClr val="6B7A88"/>
                </a:solidFill>
                <a:latin typeface="Calibri"/>
              </a:rPr>
              <a:t>🧗 Fall protection from 1.8 m</a:t>
            </a:r>
          </a:p>
          <a:p>
            <a:pPr algn="r" rtl="1"/>
            <a:r>
              <a:rPr sz="1200">
                <a:solidFill>
                  <a:srgbClr val="333F4C"/>
                </a:solidFill>
                <a:latin typeface="Calibri"/>
              </a:rPr>
              <a:t>حماية من السقوط من ارتفاع 1.8 متر · ربط دائم بحبل مزدوج بنقطة تثبيت معتمدة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914400" y="1700784"/>
            <a:ext cx="1219200" cy="0"/>
          </a:xfrm>
          <a:prstGeom prst="line">
            <a:avLst/>
          </a:prstGeom>
          <a:ln w="30480">
            <a:solidFill>
              <a:srgbClr val="00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2133600" y="1709928"/>
            <a:ext cx="9144000" cy="0"/>
          </a:xfrm>
          <a:prstGeom prst="line">
            <a:avLst/>
          </a:prstGeom>
          <a:ln w="11430">
            <a:solidFill>
              <a:srgbClr val="D5DD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914400" y="1755648"/>
            <a:ext cx="2032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1" i="0">
                <a:solidFill>
                  <a:srgbClr val="009999"/>
                </a:solidFill>
                <a:latin typeface="Calibri"/>
              </a:rPr>
              <a:t>▪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7600" y="1755648"/>
            <a:ext cx="6527800" cy="50468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0" i="0">
                <a:solidFill>
                  <a:srgbClr val="333F4C"/>
                </a:solidFill>
                <a:latin typeface="Calibri"/>
              </a:rPr>
              <a:t>Fall protection is required from 1.8 m, or wherever a fall hazard exists.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315201"/>
            <a:ext cx="2032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1" i="0">
                <a:solidFill>
                  <a:srgbClr val="009999"/>
                </a:solidFill>
                <a:latin typeface="Calibri"/>
              </a:rPr>
              <a:t>▪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17600" y="2315201"/>
            <a:ext cx="6527800" cy="50468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0" i="0">
                <a:solidFill>
                  <a:srgbClr val="333F4C"/>
                </a:solidFill>
                <a:latin typeface="Calibri"/>
              </a:rPr>
              <a:t>Use approved scaffolding, work platforms or MEWPs — with guardrails and toe boards.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2874755"/>
            <a:ext cx="2032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1" i="0">
                <a:solidFill>
                  <a:srgbClr val="009999"/>
                </a:solidFill>
                <a:latin typeface="Calibri"/>
              </a:rPr>
              <a:t>▪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17600" y="2874755"/>
            <a:ext cx="6527800" cy="50468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0" i="0">
                <a:solidFill>
                  <a:srgbClr val="333F4C"/>
                </a:solidFill>
                <a:latin typeface="Calibri"/>
              </a:rPr>
              <a:t>Harness with double lanyard and shock absorber, 100% tie-off to a certified anchor point (above 22 kN).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3434309"/>
            <a:ext cx="2032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1" i="0">
                <a:solidFill>
                  <a:srgbClr val="009999"/>
                </a:solidFill>
                <a:latin typeface="Calibri"/>
              </a:rPr>
              <a:t>▪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17600" y="3434309"/>
            <a:ext cx="6527800" cy="74420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0" i="0">
                <a:solidFill>
                  <a:srgbClr val="333F4C"/>
                </a:solidFill>
                <a:latin typeface="Calibri"/>
              </a:rPr>
              <a:t>Scaffolding: erected and altered only by certified scaffolders; green tag valid; inspected before each shift and after any alteration. Never work on a red-tagged scaffold.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4233377"/>
            <a:ext cx="2032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1" i="0">
                <a:solidFill>
                  <a:srgbClr val="009999"/>
                </a:solidFill>
                <a:latin typeface="Calibri"/>
              </a:rPr>
              <a:t>▪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7600" y="4233377"/>
            <a:ext cx="6527800" cy="50468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0" i="0">
                <a:solidFill>
                  <a:srgbClr val="333F4C"/>
                </a:solidFill>
                <a:latin typeface="Calibri"/>
              </a:rPr>
              <a:t>Ladders: short-duration work only, secured, three points of contact, no loads carried.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4792930"/>
            <a:ext cx="2032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1" i="0">
                <a:solidFill>
                  <a:srgbClr val="009999"/>
                </a:solidFill>
                <a:latin typeface="Calibri"/>
              </a:rPr>
              <a:t>▪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17600" y="4792930"/>
            <a:ext cx="6527800" cy="50468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0" i="0">
                <a:solidFill>
                  <a:srgbClr val="333F4C"/>
                </a:solidFill>
                <a:latin typeface="Calibri"/>
              </a:rPr>
              <a:t>Barricade the area below, tether tools, protect openings and edges, and never work at several levels without protection.</a:t>
            </a:r>
          </a:p>
        </p:txBody>
      </p:sp>
      <p:pic>
        <p:nvPicPr>
          <p:cNvPr id="21" name="Picture 20" descr="05_work_at_height_256x268_rgb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26400" y="1752600"/>
            <a:ext cx="3251200" cy="3403600"/>
          </a:xfrm>
          <a:prstGeom prst="rect">
            <a:avLst/>
          </a:prstGeom>
        </p:spPr>
      </p:pic>
      <p:sp>
        <p:nvSpPr>
          <p:cNvPr id="22" name="Rectangle 21"/>
          <p:cNvSpPr/>
          <p:nvPr/>
        </p:nvSpPr>
        <p:spPr>
          <a:xfrm>
            <a:off x="8026400" y="1752600"/>
            <a:ext cx="3251200" cy="3403600"/>
          </a:xfrm>
          <a:prstGeom prst="rect">
            <a:avLst/>
          </a:prstGeom>
          <a:noFill/>
          <a:ln w="10160">
            <a:solidFill>
              <a:srgbClr val="D5DD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8026400" y="5156200"/>
            <a:ext cx="3251200" cy="381000"/>
          </a:xfrm>
          <a:prstGeom prst="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8128000" y="5219700"/>
            <a:ext cx="3048000" cy="254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0" i="0">
                <a:solidFill>
                  <a:srgbClr val="12263A"/>
                </a:solidFill>
                <a:latin typeface="Calibri"/>
              </a:rPr>
              <a:t>100% tie-off to certified anchor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914400" y="6350000"/>
            <a:ext cx="330200" cy="0"/>
          </a:xfrm>
          <a:prstGeom prst="line">
            <a:avLst/>
          </a:prstGeom>
          <a:ln w="30480">
            <a:solidFill>
              <a:srgbClr val="00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1244600" y="6350000"/>
            <a:ext cx="10033000" cy="0"/>
          </a:xfrm>
          <a:prstGeom prst="line">
            <a:avLst/>
          </a:prstGeom>
          <a:ln w="10160">
            <a:solidFill>
              <a:srgbClr val="D5DD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914400" y="6451600"/>
            <a:ext cx="54610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 i="0">
                <a:solidFill>
                  <a:srgbClr val="6B7A88"/>
                </a:solidFill>
                <a:latin typeface="Calibri"/>
              </a:rPr>
              <a:t>KAZ-EHS-IND-001 · Rev. 07 · Management &amp; Staff EHS Induction · Restricted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334000" y="6451600"/>
            <a:ext cx="41910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850" b="0" i="0">
                <a:solidFill>
                  <a:srgbClr val="6B7A88"/>
                </a:solidFill>
                <a:latin typeface="Calibri"/>
              </a:rPr>
              <a:t>05 · High-Risk Activities and Occupational Health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890000" y="6451600"/>
            <a:ext cx="23876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50" b="0" i="0">
                <a:solidFill>
                  <a:srgbClr val="6B7A88"/>
                </a:solidFill>
                <a:latin typeface="Calibri"/>
              </a:rPr>
              <a:t>Slide 38 of 63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0099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pic>
        <p:nvPicPr>
          <p:cNvPr id="3" name="Picture 2" descr="siemens_energy_100x31_rgb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07600" y="381000"/>
            <a:ext cx="1270000" cy="3937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4400" y="355600"/>
            <a:ext cx="8763000" cy="190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1" i="0">
                <a:solidFill>
                  <a:srgbClr val="009999"/>
                </a:solidFill>
                <a:latin typeface="Calibri"/>
              </a:rPr>
              <a:t>CHAPTER 05  ·  HIGH-RISK ACTIVITIES AND OCCUPATIONAL HEALTH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584200"/>
            <a:ext cx="8890000" cy="47053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700" b="1" i="0">
                <a:solidFill>
                  <a:srgbClr val="12263A"/>
                </a:solidFill>
                <a:latin typeface="Calibri"/>
              </a:rPr>
              <a:t>Lifting Operations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092834"/>
            <a:ext cx="8890000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 i="0">
                <a:solidFill>
                  <a:srgbClr val="6B7A88"/>
                </a:solidFill>
                <a:latin typeface="Calibri"/>
              </a:rPr>
              <a:t>🏗️ Every lift is planned and permitted</a:t>
            </a:r>
          </a:p>
          <a:p>
            <a:pPr algn="r" rtl="1"/>
            <a:r>
              <a:rPr sz="1200">
                <a:solidFill>
                  <a:srgbClr val="333F4C"/>
                </a:solidFill>
                <a:latin typeface="Calibri"/>
              </a:rPr>
              <a:t>كل رفعة مخططة ومرخصة · لا رفع فوق 9.5 م/ث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914400" y="1700784"/>
            <a:ext cx="1219200" cy="0"/>
          </a:xfrm>
          <a:prstGeom prst="line">
            <a:avLst/>
          </a:prstGeom>
          <a:ln w="30480">
            <a:solidFill>
              <a:srgbClr val="00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2133600" y="1709928"/>
            <a:ext cx="9144000" cy="0"/>
          </a:xfrm>
          <a:prstGeom prst="line">
            <a:avLst/>
          </a:prstGeom>
          <a:ln w="11430">
            <a:solidFill>
              <a:srgbClr val="D5DD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914400" y="1755648"/>
            <a:ext cx="2032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1" i="0">
                <a:solidFill>
                  <a:srgbClr val="009999"/>
                </a:solidFill>
                <a:latin typeface="Calibri"/>
              </a:rPr>
              <a:t>▪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7600" y="1755648"/>
            <a:ext cx="6527800" cy="50468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0" i="0">
                <a:solidFill>
                  <a:srgbClr val="333F4C"/>
                </a:solidFill>
                <a:latin typeface="Calibri"/>
              </a:rPr>
              <a:t>All lifts require a permit; critical lifts require a detailed engineered lifting plan.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315201"/>
            <a:ext cx="2032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1" i="0">
                <a:solidFill>
                  <a:srgbClr val="009999"/>
                </a:solidFill>
                <a:latin typeface="Calibri"/>
              </a:rPr>
              <a:t>▪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17600" y="2315201"/>
            <a:ext cx="6527800" cy="50468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0" i="0">
                <a:solidFill>
                  <a:srgbClr val="333F4C"/>
                </a:solidFill>
                <a:latin typeface="Calibri"/>
              </a:rPr>
              <a:t>Critical lifts include: loads above 75% of rated capacity, multi-crane lifts, lifts over live plant, and non-routine rigging.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2874755"/>
            <a:ext cx="2032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1" i="0">
                <a:solidFill>
                  <a:srgbClr val="009999"/>
                </a:solidFill>
                <a:latin typeface="Calibri"/>
              </a:rPr>
              <a:t>▪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17600" y="2874755"/>
            <a:ext cx="6527800" cy="50468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0" i="0">
                <a:solidFill>
                  <a:srgbClr val="333F4C"/>
                </a:solidFill>
                <a:latin typeface="Calibri"/>
              </a:rPr>
              <a:t>Only certified cranes and lifting tackle (third-party certificates), competent operators, riggers and banksmen.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3434309"/>
            <a:ext cx="2032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1" i="0">
                <a:solidFill>
                  <a:srgbClr val="009999"/>
                </a:solidFill>
                <a:latin typeface="Calibri"/>
              </a:rPr>
              <a:t>▪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17600" y="3434309"/>
            <a:ext cx="6527800" cy="50468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0" i="0">
                <a:solidFill>
                  <a:srgbClr val="333F4C"/>
                </a:solidFill>
                <a:latin typeface="Calibri"/>
              </a:rPr>
              <a:t>Outriggers fully extended on timber pads on firm, verified ground.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3993863"/>
            <a:ext cx="2032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1" i="0">
                <a:solidFill>
                  <a:srgbClr val="009999"/>
                </a:solidFill>
                <a:latin typeface="Calibri"/>
              </a:rPr>
              <a:t>▪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7600" y="3993863"/>
            <a:ext cx="6527800" cy="50468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0" i="0">
                <a:solidFill>
                  <a:srgbClr val="333F4C"/>
                </a:solidFill>
                <a:latin typeface="Calibri"/>
              </a:rPr>
              <a:t>Exclusion zone barricaded — nobody under the load, no side pulls, no shock loading.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4553417"/>
            <a:ext cx="2032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1" i="0">
                <a:solidFill>
                  <a:srgbClr val="009999"/>
                </a:solidFill>
                <a:latin typeface="Calibri"/>
              </a:rPr>
              <a:t>▪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17600" y="4553417"/>
            <a:ext cx="6527800" cy="50468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0" i="0">
                <a:solidFill>
                  <a:srgbClr val="333F4C"/>
                </a:solidFill>
                <a:latin typeface="Calibri"/>
              </a:rPr>
              <a:t>No lifting when wind exceeds 9.5 m/s (≈34 km/h) or in poor visibility.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" y="5112970"/>
            <a:ext cx="2032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1" i="0">
                <a:solidFill>
                  <a:srgbClr val="009999"/>
                </a:solidFill>
                <a:latin typeface="Calibri"/>
              </a:rPr>
              <a:t>▪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17600" y="5112970"/>
            <a:ext cx="6527800" cy="50468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0" i="0">
                <a:solidFill>
                  <a:srgbClr val="333F4C"/>
                </a:solidFill>
                <a:latin typeface="Calibri"/>
              </a:rPr>
              <a:t>Taglines for load control; the banksman is the only person who signals the operator.</a:t>
            </a:r>
          </a:p>
        </p:txBody>
      </p:sp>
      <p:pic>
        <p:nvPicPr>
          <p:cNvPr id="23" name="Picture 22" descr="06_lifting_operation_256x268_rgb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26400" y="1752600"/>
            <a:ext cx="3251200" cy="3403600"/>
          </a:xfrm>
          <a:prstGeom prst="rect">
            <a:avLst/>
          </a:prstGeom>
        </p:spPr>
      </p:pic>
      <p:sp>
        <p:nvSpPr>
          <p:cNvPr id="24" name="Rectangle 23"/>
          <p:cNvSpPr/>
          <p:nvPr/>
        </p:nvSpPr>
        <p:spPr>
          <a:xfrm>
            <a:off x="8026400" y="1752600"/>
            <a:ext cx="3251200" cy="3403600"/>
          </a:xfrm>
          <a:prstGeom prst="rect">
            <a:avLst/>
          </a:prstGeom>
          <a:noFill/>
          <a:ln w="10160">
            <a:solidFill>
              <a:srgbClr val="D5DD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8026400" y="5156200"/>
            <a:ext cx="3251200" cy="381000"/>
          </a:xfrm>
          <a:prstGeom prst="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8128000" y="5219700"/>
            <a:ext cx="3048000" cy="254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0" i="0">
                <a:solidFill>
                  <a:srgbClr val="12263A"/>
                </a:solidFill>
                <a:latin typeface="Calibri"/>
              </a:rPr>
              <a:t>Exclusion zone · taglines · banksman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914400" y="6350000"/>
            <a:ext cx="330200" cy="0"/>
          </a:xfrm>
          <a:prstGeom prst="line">
            <a:avLst/>
          </a:prstGeom>
          <a:ln w="30480">
            <a:solidFill>
              <a:srgbClr val="00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1244600" y="6350000"/>
            <a:ext cx="10033000" cy="0"/>
          </a:xfrm>
          <a:prstGeom prst="line">
            <a:avLst/>
          </a:prstGeom>
          <a:ln w="10160">
            <a:solidFill>
              <a:srgbClr val="D5DD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>
            <a:off x="914400" y="6451600"/>
            <a:ext cx="54610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 i="0">
                <a:solidFill>
                  <a:srgbClr val="6B7A88"/>
                </a:solidFill>
                <a:latin typeface="Calibri"/>
              </a:rPr>
              <a:t>KAZ-EHS-IND-001 · Rev. 07 · Management &amp; Staff EHS Induction · Restricted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334000" y="6451600"/>
            <a:ext cx="41910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850" b="0" i="0">
                <a:solidFill>
                  <a:srgbClr val="6B7A88"/>
                </a:solidFill>
                <a:latin typeface="Calibri"/>
              </a:rPr>
              <a:t>05 · High-Risk Activities and Occupational Health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890000" y="6451600"/>
            <a:ext cx="23876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50" b="0" i="0">
                <a:solidFill>
                  <a:srgbClr val="6B7A88"/>
                </a:solidFill>
                <a:latin typeface="Calibri"/>
              </a:rPr>
              <a:t>Slide 39 of 63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0099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pic>
        <p:nvPicPr>
          <p:cNvPr id="3" name="Picture 2" descr="siemens_energy_100x31_rgb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07600" y="381000"/>
            <a:ext cx="1270000" cy="3937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4400" y="355600"/>
            <a:ext cx="8763000" cy="190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1" i="0">
                <a:solidFill>
                  <a:srgbClr val="009999"/>
                </a:solidFill>
                <a:latin typeface="Calibri"/>
              </a:rPr>
              <a:t>CHAPTER 05  ·  HIGH-RISK ACTIVITIES AND OCCUPATIONAL HEALTH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584200"/>
            <a:ext cx="8890000" cy="47053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700" b="1" i="0">
                <a:solidFill>
                  <a:srgbClr val="12263A"/>
                </a:solidFill>
                <a:latin typeface="Calibri"/>
              </a:rPr>
              <a:t>Excavation and Trenching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092834"/>
            <a:ext cx="8890000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 i="0">
                <a:solidFill>
                  <a:srgbClr val="6B7A88"/>
                </a:solidFill>
                <a:latin typeface="Calibri"/>
              </a:rPr>
              <a:t>⛏️ Permit required beyond 30 cm</a:t>
            </a:r>
          </a:p>
          <a:p>
            <a:pPr algn="r" rtl="1"/>
            <a:r>
              <a:rPr sz="1200">
                <a:solidFill>
                  <a:srgbClr val="333F4C"/>
                </a:solidFill>
                <a:latin typeface="Calibri"/>
              </a:rPr>
              <a:t>تصريح لحفر أعمق من 30 سم · تدعيم أعمق من 1.2 م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914400" y="1700784"/>
            <a:ext cx="1219200" cy="0"/>
          </a:xfrm>
          <a:prstGeom prst="line">
            <a:avLst/>
          </a:prstGeom>
          <a:ln w="30480">
            <a:solidFill>
              <a:srgbClr val="00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2133600" y="1709928"/>
            <a:ext cx="9144000" cy="0"/>
          </a:xfrm>
          <a:prstGeom prst="line">
            <a:avLst/>
          </a:prstGeom>
          <a:ln w="11430">
            <a:solidFill>
              <a:srgbClr val="D5DD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914400" y="1755648"/>
            <a:ext cx="2032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1" i="0">
                <a:solidFill>
                  <a:srgbClr val="009999"/>
                </a:solidFill>
                <a:latin typeface="Calibri"/>
              </a:rPr>
              <a:t>▪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7600" y="1755648"/>
            <a:ext cx="6527800" cy="50468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0" i="0">
                <a:solidFill>
                  <a:srgbClr val="333F4C"/>
                </a:solidFill>
                <a:latin typeface="Calibri"/>
              </a:rPr>
              <a:t>A permit is required for any ground penetration deeper than 30 cm.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315201"/>
            <a:ext cx="2032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1" i="0">
                <a:solidFill>
                  <a:srgbClr val="009999"/>
                </a:solidFill>
                <a:latin typeface="Calibri"/>
              </a:rPr>
              <a:t>▪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17600" y="2315201"/>
            <a:ext cx="6527800" cy="50468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0" i="0">
                <a:solidFill>
                  <a:srgbClr val="333F4C"/>
                </a:solidFill>
                <a:latin typeface="Calibri"/>
              </a:rPr>
              <a:t>Obtain the signed underground utility clearance before digging; hand-dig trial pits near services and the earthing grid.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2874755"/>
            <a:ext cx="2032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1" i="0">
                <a:solidFill>
                  <a:srgbClr val="009999"/>
                </a:solidFill>
                <a:latin typeface="Calibri"/>
              </a:rPr>
              <a:t>▪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17600" y="2874755"/>
            <a:ext cx="6527800" cy="50468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0" i="0">
                <a:solidFill>
                  <a:srgbClr val="333F4C"/>
                </a:solidFill>
                <a:latin typeface="Calibri"/>
              </a:rPr>
              <a:t>Protective systems — shoring, benching or sloping — are mandatory for excavations deeper than 1.2 m.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3434309"/>
            <a:ext cx="2032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1" i="0">
                <a:solidFill>
                  <a:srgbClr val="009999"/>
                </a:solidFill>
                <a:latin typeface="Calibri"/>
              </a:rPr>
              <a:t>▪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17600" y="3434309"/>
            <a:ext cx="6527800" cy="50468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0" i="0">
                <a:solidFill>
                  <a:srgbClr val="333F4C"/>
                </a:solidFill>
                <a:latin typeface="Calibri"/>
              </a:rPr>
              <a:t>Spoil heaps set back at least 1.0 m from the edge; materials and plant kept away from the crest.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3993863"/>
            <a:ext cx="2032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1" i="0">
                <a:solidFill>
                  <a:srgbClr val="009999"/>
                </a:solidFill>
                <a:latin typeface="Calibri"/>
              </a:rPr>
              <a:t>▪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7600" y="3993863"/>
            <a:ext cx="6527800" cy="50468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0" i="0">
                <a:solidFill>
                  <a:srgbClr val="333F4C"/>
                </a:solidFill>
                <a:latin typeface="Calibri"/>
              </a:rPr>
              <a:t>Barricade, sign and light all excavations; access ladders every 7.5 m for emergency egress.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4553417"/>
            <a:ext cx="2032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1" i="0">
                <a:solidFill>
                  <a:srgbClr val="009999"/>
                </a:solidFill>
                <a:latin typeface="Calibri"/>
              </a:rPr>
              <a:t>▪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17600" y="4553417"/>
            <a:ext cx="6527800" cy="50468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0" i="0">
                <a:solidFill>
                  <a:srgbClr val="333F4C"/>
                </a:solidFill>
                <a:latin typeface="Calibri"/>
              </a:rPr>
              <a:t>Inspect after rain or any ground movement; never enter an unprotected trench.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" y="5112970"/>
            <a:ext cx="2032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1" i="0">
                <a:solidFill>
                  <a:srgbClr val="009999"/>
                </a:solidFill>
                <a:latin typeface="Calibri"/>
              </a:rPr>
              <a:t>▪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17600" y="5112970"/>
            <a:ext cx="6527800" cy="50468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0" i="0">
                <a:solidFill>
                  <a:srgbClr val="333F4C"/>
                </a:solidFill>
                <a:latin typeface="Calibri"/>
              </a:rPr>
              <a:t>A competent banksman controls plant movement around the excavation.</a:t>
            </a:r>
          </a:p>
        </p:txBody>
      </p:sp>
      <p:pic>
        <p:nvPicPr>
          <p:cNvPr id="23" name="Picture 22" descr="07_excavation_256x268_rgb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26400" y="1752600"/>
            <a:ext cx="3251200" cy="3403600"/>
          </a:xfrm>
          <a:prstGeom prst="rect">
            <a:avLst/>
          </a:prstGeom>
        </p:spPr>
      </p:pic>
      <p:sp>
        <p:nvSpPr>
          <p:cNvPr id="24" name="Rectangle 23"/>
          <p:cNvSpPr/>
          <p:nvPr/>
        </p:nvSpPr>
        <p:spPr>
          <a:xfrm>
            <a:off x="8026400" y="1752600"/>
            <a:ext cx="3251200" cy="3403600"/>
          </a:xfrm>
          <a:prstGeom prst="rect">
            <a:avLst/>
          </a:prstGeom>
          <a:noFill/>
          <a:ln w="10160">
            <a:solidFill>
              <a:srgbClr val="D5DD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8026400" y="5156200"/>
            <a:ext cx="3251200" cy="381000"/>
          </a:xfrm>
          <a:prstGeom prst="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8128000" y="5219700"/>
            <a:ext cx="3048000" cy="254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0" i="0">
                <a:solidFill>
                  <a:srgbClr val="12263A"/>
                </a:solidFill>
                <a:latin typeface="Calibri"/>
              </a:rPr>
              <a:t>Shoring · barriers · access ladder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914400" y="6350000"/>
            <a:ext cx="330200" cy="0"/>
          </a:xfrm>
          <a:prstGeom prst="line">
            <a:avLst/>
          </a:prstGeom>
          <a:ln w="30480">
            <a:solidFill>
              <a:srgbClr val="00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1244600" y="6350000"/>
            <a:ext cx="10033000" cy="0"/>
          </a:xfrm>
          <a:prstGeom prst="line">
            <a:avLst/>
          </a:prstGeom>
          <a:ln w="10160">
            <a:solidFill>
              <a:srgbClr val="D5DD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>
            <a:off x="914400" y="6451600"/>
            <a:ext cx="54610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 i="0">
                <a:solidFill>
                  <a:srgbClr val="6B7A88"/>
                </a:solidFill>
                <a:latin typeface="Calibri"/>
              </a:rPr>
              <a:t>KAZ-EHS-IND-001 · Rev. 07 · Management &amp; Staff EHS Induction · Restricted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334000" y="6451600"/>
            <a:ext cx="41910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850" b="0" i="0">
                <a:solidFill>
                  <a:srgbClr val="6B7A88"/>
                </a:solidFill>
                <a:latin typeface="Calibri"/>
              </a:rPr>
              <a:t>05 · High-Risk Activities and Occupational Health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890000" y="6451600"/>
            <a:ext cx="23876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50" b="0" i="0">
                <a:solidFill>
                  <a:srgbClr val="6B7A88"/>
                </a:solidFill>
                <a:latin typeface="Calibri"/>
              </a:rPr>
              <a:t>Slide 40 of 63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0099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pic>
        <p:nvPicPr>
          <p:cNvPr id="3" name="Picture 2" descr="siemens_energy_100x31_rgb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07600" y="381000"/>
            <a:ext cx="1270000" cy="3937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4400" y="355600"/>
            <a:ext cx="8763000" cy="190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1" i="0">
                <a:solidFill>
                  <a:srgbClr val="009999"/>
                </a:solidFill>
                <a:latin typeface="Calibri"/>
              </a:rPr>
              <a:t>CHAPTER 05  ·  HIGH-RISK ACTIVITIES AND OCCUPATIONAL HEALTH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584200"/>
            <a:ext cx="8890000" cy="47053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700" b="1" i="0">
                <a:solidFill>
                  <a:srgbClr val="12263A"/>
                </a:solidFill>
                <a:latin typeface="Calibri"/>
              </a:rPr>
              <a:t>Confined Space Entry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092834"/>
            <a:ext cx="8890000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 i="0">
                <a:solidFill>
                  <a:srgbClr val="6B7A88"/>
                </a:solidFill>
                <a:latin typeface="Calibri"/>
              </a:rPr>
              <a:t>🚪 Permit · gas test · attendant · rescue plan</a:t>
            </a:r>
          </a:p>
          <a:p>
            <a:pPr algn="r" rtl="1"/>
            <a:r>
              <a:rPr sz="1200">
                <a:solidFill>
                  <a:srgbClr val="333F4C"/>
                </a:solidFill>
                <a:latin typeface="Calibri"/>
              </a:rPr>
              <a:t>تصريح + فحص غازات + مراقب دائم + خطة إنقاذ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914400" y="1700784"/>
            <a:ext cx="1219200" cy="0"/>
          </a:xfrm>
          <a:prstGeom prst="line">
            <a:avLst/>
          </a:prstGeom>
          <a:ln w="30480">
            <a:solidFill>
              <a:srgbClr val="00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2133600" y="1709928"/>
            <a:ext cx="9144000" cy="0"/>
          </a:xfrm>
          <a:prstGeom prst="line">
            <a:avLst/>
          </a:prstGeom>
          <a:ln w="11430">
            <a:solidFill>
              <a:srgbClr val="D5DD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914400" y="1755648"/>
            <a:ext cx="2032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1" i="0">
                <a:solidFill>
                  <a:srgbClr val="009999"/>
                </a:solidFill>
                <a:latin typeface="Calibri"/>
              </a:rPr>
              <a:t>▪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7600" y="1755648"/>
            <a:ext cx="6527800" cy="50468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0" i="0">
                <a:solidFill>
                  <a:srgbClr val="333F4C"/>
                </a:solidFill>
                <a:latin typeface="Calibri"/>
              </a:rPr>
              <a:t>Entry only with a Confined Space Entry Permit, trained entrants and attendants, and a rescue plan in place.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315201"/>
            <a:ext cx="2032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1" i="0">
                <a:solidFill>
                  <a:srgbClr val="009999"/>
                </a:solidFill>
                <a:latin typeface="Calibri"/>
              </a:rPr>
              <a:t>▪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17600" y="2315201"/>
            <a:ext cx="6527800" cy="50468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0" i="0">
                <a:solidFill>
                  <a:srgbClr val="333F4C"/>
                </a:solidFill>
                <a:latin typeface="Calibri"/>
              </a:rPr>
              <a:t>Atmospheric testing before entry and continuously during the work: oxygen, LEL, H2S and CO, by an Authorized Gas Tester.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2874755"/>
            <a:ext cx="2032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1" i="0">
                <a:solidFill>
                  <a:srgbClr val="009999"/>
                </a:solidFill>
                <a:latin typeface="Calibri"/>
              </a:rPr>
              <a:t>▪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17600" y="2874755"/>
            <a:ext cx="6527800" cy="26517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0" i="0">
                <a:solidFill>
                  <a:srgbClr val="333F4C"/>
                </a:solidFill>
                <a:latin typeface="Calibri"/>
              </a:rPr>
              <a:t>Ventilation and isolation (LOTO) in place before entry.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3194795"/>
            <a:ext cx="2032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1" i="0">
                <a:solidFill>
                  <a:srgbClr val="009999"/>
                </a:solidFill>
                <a:latin typeface="Calibri"/>
              </a:rPr>
              <a:t>▪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17600" y="3194795"/>
            <a:ext cx="6527800" cy="50468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0" i="0">
                <a:solidFill>
                  <a:srgbClr val="333F4C"/>
                </a:solidFill>
                <a:latin typeface="Calibri"/>
              </a:rPr>
              <a:t>The attendant remains at the entry at all times and maintains communication with the entrant.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3754349"/>
            <a:ext cx="2032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1" i="0">
                <a:solidFill>
                  <a:srgbClr val="009999"/>
                </a:solidFill>
                <a:latin typeface="Calibri"/>
              </a:rPr>
              <a:t>▪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7600" y="3754349"/>
            <a:ext cx="6527800" cy="50468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0" i="0">
                <a:solidFill>
                  <a:srgbClr val="333F4C"/>
                </a:solidFill>
                <a:latin typeface="Calibri"/>
              </a:rPr>
              <a:t>Never enter to rescue without breathing apparatus and the rescue team — most confined-space fatalities are would-be rescuers.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4313903"/>
            <a:ext cx="2032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1" i="0">
                <a:solidFill>
                  <a:srgbClr val="009999"/>
                </a:solidFill>
                <a:latin typeface="Calibri"/>
              </a:rPr>
              <a:t>▪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17600" y="4313903"/>
            <a:ext cx="6527800" cy="50468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0" i="0">
                <a:solidFill>
                  <a:srgbClr val="333F4C"/>
                </a:solidFill>
                <a:latin typeface="Calibri"/>
              </a:rPr>
              <a:t>Classification as a confined space is based on risk assessment of the actual conditions.</a:t>
            </a:r>
          </a:p>
        </p:txBody>
      </p:sp>
      <p:pic>
        <p:nvPicPr>
          <p:cNvPr id="21" name="Picture 20" descr="08_confined_space_256x268_rgb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26400" y="1752600"/>
            <a:ext cx="3251200" cy="3403600"/>
          </a:xfrm>
          <a:prstGeom prst="rect">
            <a:avLst/>
          </a:prstGeom>
        </p:spPr>
      </p:pic>
      <p:sp>
        <p:nvSpPr>
          <p:cNvPr id="22" name="Rectangle 21"/>
          <p:cNvSpPr/>
          <p:nvPr/>
        </p:nvSpPr>
        <p:spPr>
          <a:xfrm>
            <a:off x="8026400" y="1752600"/>
            <a:ext cx="3251200" cy="3403600"/>
          </a:xfrm>
          <a:prstGeom prst="rect">
            <a:avLst/>
          </a:prstGeom>
          <a:noFill/>
          <a:ln w="10160">
            <a:solidFill>
              <a:srgbClr val="D5DD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8026400" y="5156200"/>
            <a:ext cx="3251200" cy="381000"/>
          </a:xfrm>
          <a:prstGeom prst="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8128000" y="5219700"/>
            <a:ext cx="3048000" cy="254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0" i="0">
                <a:solidFill>
                  <a:srgbClr val="12263A"/>
                </a:solidFill>
                <a:latin typeface="Calibri"/>
              </a:rPr>
              <a:t>Gas monitoring · attendant · tripod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914400" y="6350000"/>
            <a:ext cx="330200" cy="0"/>
          </a:xfrm>
          <a:prstGeom prst="line">
            <a:avLst/>
          </a:prstGeom>
          <a:ln w="30480">
            <a:solidFill>
              <a:srgbClr val="00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1244600" y="6350000"/>
            <a:ext cx="10033000" cy="0"/>
          </a:xfrm>
          <a:prstGeom prst="line">
            <a:avLst/>
          </a:prstGeom>
          <a:ln w="10160">
            <a:solidFill>
              <a:srgbClr val="D5DD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914400" y="6451600"/>
            <a:ext cx="54610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 i="0">
                <a:solidFill>
                  <a:srgbClr val="6B7A88"/>
                </a:solidFill>
                <a:latin typeface="Calibri"/>
              </a:rPr>
              <a:t>KAZ-EHS-IND-001 · Rev. 07 · Management &amp; Staff EHS Induction · Restricted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334000" y="6451600"/>
            <a:ext cx="41910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850" b="0" i="0">
                <a:solidFill>
                  <a:srgbClr val="6B7A88"/>
                </a:solidFill>
                <a:latin typeface="Calibri"/>
              </a:rPr>
              <a:t>05 · High-Risk Activities and Occupational Health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890000" y="6451600"/>
            <a:ext cx="23876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50" b="0" i="0">
                <a:solidFill>
                  <a:srgbClr val="6B7A88"/>
                </a:solidFill>
                <a:latin typeface="Calibri"/>
              </a:rPr>
              <a:t>Slide 41 of 63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0099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pic>
        <p:nvPicPr>
          <p:cNvPr id="3" name="Picture 2" descr="siemens_energy_100x31_rgb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07600" y="381000"/>
            <a:ext cx="1270000" cy="3937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4400" y="355600"/>
            <a:ext cx="8763000" cy="190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1" i="0">
                <a:solidFill>
                  <a:srgbClr val="009999"/>
                </a:solidFill>
                <a:latin typeface="Calibri"/>
              </a:rPr>
              <a:t>CHAPTER 05  ·  HIGH-RISK ACTIVITIES AND OCCUPATIONAL HEALTH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584200"/>
            <a:ext cx="8890000" cy="47053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700" b="1" i="0">
                <a:solidFill>
                  <a:srgbClr val="12263A"/>
                </a:solidFill>
                <a:latin typeface="Calibri"/>
              </a:rPr>
              <a:t>Hot Work and Fire Watch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092834"/>
            <a:ext cx="8890000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 i="0">
                <a:solidFill>
                  <a:srgbClr val="6B7A88"/>
                </a:solidFill>
                <a:latin typeface="Calibri"/>
              </a:rPr>
              <a:t>🔥 Sparks and flames are controlled, permitted activities</a:t>
            </a:r>
          </a:p>
          <a:p>
            <a:pPr algn="r" rtl="1"/>
            <a:r>
              <a:rPr sz="1200">
                <a:solidFill>
                  <a:srgbClr val="333F4C"/>
                </a:solidFill>
                <a:latin typeface="Calibri"/>
              </a:rPr>
              <a:t>مراقب حريق 30 دقيقة بعد العمل · 3 طفايات كحد أدنى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914400" y="1700784"/>
            <a:ext cx="1219200" cy="0"/>
          </a:xfrm>
          <a:prstGeom prst="line">
            <a:avLst/>
          </a:prstGeom>
          <a:ln w="30480">
            <a:solidFill>
              <a:srgbClr val="00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2133600" y="1709928"/>
            <a:ext cx="9144000" cy="0"/>
          </a:xfrm>
          <a:prstGeom prst="line">
            <a:avLst/>
          </a:prstGeom>
          <a:ln w="11430">
            <a:solidFill>
              <a:srgbClr val="D5DD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914400" y="1755648"/>
            <a:ext cx="2032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1" i="0">
                <a:solidFill>
                  <a:srgbClr val="009999"/>
                </a:solidFill>
                <a:latin typeface="Calibri"/>
              </a:rPr>
              <a:t>▪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7600" y="1755648"/>
            <a:ext cx="6527800" cy="74420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0" i="0">
                <a:solidFill>
                  <a:srgbClr val="333F4C"/>
                </a:solidFill>
                <a:latin typeface="Calibri"/>
              </a:rPr>
              <a:t>Hot Work Permit required for welding, cutting, grinding, soldering, thermal spraying or any activity producing sparks, flames or heat above 100 °C.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554715"/>
            <a:ext cx="2032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1" i="0">
                <a:solidFill>
                  <a:srgbClr val="009999"/>
                </a:solidFill>
                <a:latin typeface="Calibri"/>
              </a:rPr>
              <a:t>▪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17600" y="2554715"/>
            <a:ext cx="6527800" cy="26517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0" i="0">
                <a:solidFill>
                  <a:srgbClr val="333F4C"/>
                </a:solidFill>
                <a:latin typeface="Calibri"/>
              </a:rPr>
              <a:t>Certified welder or cutter; PPE and screens to protect others.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2874755"/>
            <a:ext cx="2032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1" i="0">
                <a:solidFill>
                  <a:srgbClr val="009999"/>
                </a:solidFill>
                <a:latin typeface="Calibri"/>
              </a:rPr>
              <a:t>▪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17600" y="2874755"/>
            <a:ext cx="6527800" cy="50468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0" i="0">
                <a:solidFill>
                  <a:srgbClr val="333F4C"/>
                </a:solidFill>
                <a:latin typeface="Calibri"/>
              </a:rPr>
              <a:t>Fire blanket containment and at least 10 m clearance of combustible materials.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3434309"/>
            <a:ext cx="2032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1" i="0">
                <a:solidFill>
                  <a:srgbClr val="009999"/>
                </a:solidFill>
                <a:latin typeface="Calibri"/>
              </a:rPr>
              <a:t>▪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17600" y="3434309"/>
            <a:ext cx="6527800" cy="50468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0" i="0">
                <a:solidFill>
                  <a:srgbClr val="333F4C"/>
                </a:solidFill>
                <a:latin typeface="Calibri"/>
              </a:rPr>
              <a:t>A dedicated Fire Watch is present during the work and for 30 minutes after it ends.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3993863"/>
            <a:ext cx="2032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1" i="0">
                <a:solidFill>
                  <a:srgbClr val="009999"/>
                </a:solidFill>
                <a:latin typeface="Calibri"/>
              </a:rPr>
              <a:t>▪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7600" y="3993863"/>
            <a:ext cx="6527800" cy="50468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0" i="0">
                <a:solidFill>
                  <a:srgbClr val="333F4C"/>
                </a:solidFill>
                <a:latin typeface="Calibri"/>
              </a:rPr>
              <a:t>Minimum three extinguishers (more where the activity requires) and a fire blanket at the work site.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4553417"/>
            <a:ext cx="2032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1" i="0">
                <a:solidFill>
                  <a:srgbClr val="009999"/>
                </a:solidFill>
                <a:latin typeface="Calibri"/>
              </a:rPr>
              <a:t>▪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17600" y="4553417"/>
            <a:ext cx="6527800" cy="50468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0" i="0">
                <a:solidFill>
                  <a:srgbClr val="333F4C"/>
                </a:solidFill>
                <a:latin typeface="Calibri"/>
              </a:rPr>
              <a:t>Gas cylinders secured upright, caps fitted, oxygen and fuel gas stored separately.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" y="5112970"/>
            <a:ext cx="2032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1" i="0">
                <a:solidFill>
                  <a:srgbClr val="009999"/>
                </a:solidFill>
                <a:latin typeface="Calibri"/>
              </a:rPr>
              <a:t>▪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17600" y="5112970"/>
            <a:ext cx="6527800" cy="50468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0" i="0">
                <a:solidFill>
                  <a:srgbClr val="333F4C"/>
                </a:solidFill>
                <a:latin typeface="Calibri"/>
              </a:rPr>
              <a:t>Gas test required near fuel, chemical or potentially flammable areas — never hot work in a flammable atmosphere.</a:t>
            </a:r>
          </a:p>
        </p:txBody>
      </p:sp>
      <p:pic>
        <p:nvPicPr>
          <p:cNvPr id="23" name="Picture 22" descr="09_hot_work_256x268_rgb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26400" y="1752600"/>
            <a:ext cx="3251200" cy="3403600"/>
          </a:xfrm>
          <a:prstGeom prst="rect">
            <a:avLst/>
          </a:prstGeom>
        </p:spPr>
      </p:pic>
      <p:sp>
        <p:nvSpPr>
          <p:cNvPr id="24" name="Rectangle 23"/>
          <p:cNvSpPr/>
          <p:nvPr/>
        </p:nvSpPr>
        <p:spPr>
          <a:xfrm>
            <a:off x="8026400" y="1752600"/>
            <a:ext cx="3251200" cy="3403600"/>
          </a:xfrm>
          <a:prstGeom prst="rect">
            <a:avLst/>
          </a:prstGeom>
          <a:noFill/>
          <a:ln w="10160">
            <a:solidFill>
              <a:srgbClr val="D5DD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8026400" y="5156200"/>
            <a:ext cx="3251200" cy="381000"/>
          </a:xfrm>
          <a:prstGeom prst="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8128000" y="5219700"/>
            <a:ext cx="3048000" cy="254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0" i="0">
                <a:solidFill>
                  <a:srgbClr val="12263A"/>
                </a:solidFill>
                <a:latin typeface="Calibri"/>
              </a:rPr>
              <a:t>Fire watch · containment · 10 m clearance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914400" y="6350000"/>
            <a:ext cx="330200" cy="0"/>
          </a:xfrm>
          <a:prstGeom prst="line">
            <a:avLst/>
          </a:prstGeom>
          <a:ln w="30480">
            <a:solidFill>
              <a:srgbClr val="00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1244600" y="6350000"/>
            <a:ext cx="10033000" cy="0"/>
          </a:xfrm>
          <a:prstGeom prst="line">
            <a:avLst/>
          </a:prstGeom>
          <a:ln w="10160">
            <a:solidFill>
              <a:srgbClr val="D5DD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>
            <a:off x="914400" y="6451600"/>
            <a:ext cx="54610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 i="0">
                <a:solidFill>
                  <a:srgbClr val="6B7A88"/>
                </a:solidFill>
                <a:latin typeface="Calibri"/>
              </a:rPr>
              <a:t>KAZ-EHS-IND-001 · Rev. 07 · Management &amp; Staff EHS Induction · Restricted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334000" y="6451600"/>
            <a:ext cx="41910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850" b="0" i="0">
                <a:solidFill>
                  <a:srgbClr val="6B7A88"/>
                </a:solidFill>
                <a:latin typeface="Calibri"/>
              </a:rPr>
              <a:t>05 · High-Risk Activities and Occupational Health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890000" y="6451600"/>
            <a:ext cx="23876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50" b="0" i="0">
                <a:solidFill>
                  <a:srgbClr val="6B7A88"/>
                </a:solidFill>
                <a:latin typeface="Calibri"/>
              </a:rPr>
              <a:t>Slide 42 of 63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0099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pic>
        <p:nvPicPr>
          <p:cNvPr id="3" name="Picture 2" descr="siemens_energy_100x31_rgb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07600" y="381000"/>
            <a:ext cx="1270000" cy="3937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4400" y="355600"/>
            <a:ext cx="8763000" cy="190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1" i="0">
                <a:solidFill>
                  <a:srgbClr val="009999"/>
                </a:solidFill>
                <a:latin typeface="Calibri"/>
              </a:rPr>
              <a:t>CHAPTER 05  ·  HIGH-RISK ACTIVITIES AND OCCUPATIONAL HEALTH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584200"/>
            <a:ext cx="8890000" cy="47053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700" b="1" i="0">
                <a:solidFill>
                  <a:srgbClr val="12263A"/>
                </a:solidFill>
                <a:latin typeface="Calibri"/>
              </a:rPr>
              <a:t>Hand and Power Tools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092834"/>
            <a:ext cx="8890000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 i="0">
                <a:solidFill>
                  <a:srgbClr val="6B7A88"/>
                </a:solidFill>
                <a:latin typeface="Calibri"/>
              </a:rPr>
              <a:t>🛠️ The right tool, inspected, used correctly</a:t>
            </a:r>
          </a:p>
          <a:p>
            <a:pPr algn="r" rtl="1"/>
            <a:r>
              <a:rPr sz="1200">
                <a:solidFill>
                  <a:srgbClr val="333F4C"/>
                </a:solidFill>
                <a:latin typeface="Calibri"/>
              </a:rPr>
              <a:t>الأداة الصحيحة المفحوصة والاستخدام السليم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914400" y="1700784"/>
            <a:ext cx="1219200" cy="0"/>
          </a:xfrm>
          <a:prstGeom prst="line">
            <a:avLst/>
          </a:prstGeom>
          <a:ln w="30480">
            <a:solidFill>
              <a:srgbClr val="00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2133600" y="1709928"/>
            <a:ext cx="9144000" cy="0"/>
          </a:xfrm>
          <a:prstGeom prst="line">
            <a:avLst/>
          </a:prstGeom>
          <a:ln w="11430">
            <a:solidFill>
              <a:srgbClr val="D5DD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914400" y="1755648"/>
            <a:ext cx="2032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1" i="0">
                <a:solidFill>
                  <a:srgbClr val="009999"/>
                </a:solidFill>
                <a:latin typeface="Calibri"/>
              </a:rPr>
              <a:t>▪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7600" y="1755648"/>
            <a:ext cx="10160000" cy="5394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0" i="0">
                <a:solidFill>
                  <a:srgbClr val="333F4C"/>
                </a:solidFill>
                <a:latin typeface="Calibri"/>
              </a:rPr>
              <a:t>Use the right tool for the job; inspect before use; remove defective tools from service immediately.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350008"/>
            <a:ext cx="2032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1" i="0">
                <a:solidFill>
                  <a:srgbClr val="009999"/>
                </a:solidFill>
                <a:latin typeface="Calibri"/>
              </a:rPr>
              <a:t>▪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17600" y="2350008"/>
            <a:ext cx="10160000" cy="5394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0" i="0">
                <a:solidFill>
                  <a:srgbClr val="333F4C"/>
                </a:solidFill>
                <a:latin typeface="Calibri"/>
              </a:rPr>
              <a:t>Portable electrical tools: 30 mA RCD protection, undamaged armoured cables, earthing verified, no taped joints.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2944368"/>
            <a:ext cx="2032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1" i="0">
                <a:solidFill>
                  <a:srgbClr val="009999"/>
                </a:solidFill>
                <a:latin typeface="Calibri"/>
              </a:rPr>
              <a:t>▪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17600" y="2944368"/>
            <a:ext cx="10160000" cy="2834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0" i="0">
                <a:solidFill>
                  <a:srgbClr val="333F4C"/>
                </a:solidFill>
                <a:latin typeface="Calibri"/>
              </a:rPr>
              <a:t>Angle grinders: guard in place, correct disc for the material, never over-speed a disc.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3282696"/>
            <a:ext cx="2032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1" i="0">
                <a:solidFill>
                  <a:srgbClr val="009999"/>
                </a:solidFill>
                <a:latin typeface="Calibri"/>
              </a:rPr>
              <a:t>▪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17600" y="3282696"/>
            <a:ext cx="10160000" cy="2834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0" i="0">
                <a:solidFill>
                  <a:srgbClr val="333F4C"/>
                </a:solidFill>
                <a:latin typeface="Calibri"/>
              </a:rPr>
              <a:t>Wear a full face shield (EN 166) plus safety glasses and gloves for grinding and cutting.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3621024"/>
            <a:ext cx="2032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1" i="0">
                <a:solidFill>
                  <a:srgbClr val="009999"/>
                </a:solidFill>
                <a:latin typeface="Calibri"/>
              </a:rPr>
              <a:t>▪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7600" y="3621024"/>
            <a:ext cx="10160000" cy="2834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0" i="0">
                <a:solidFill>
                  <a:srgbClr val="333F4C"/>
                </a:solidFill>
                <a:latin typeface="Calibri"/>
              </a:rPr>
              <a:t>Secure the workpiece; never cut towards your body; keep hands clear of the cutting line.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3959352"/>
            <a:ext cx="2032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1" i="0">
                <a:solidFill>
                  <a:srgbClr val="009999"/>
                </a:solidFill>
                <a:latin typeface="Calibri"/>
              </a:rPr>
              <a:t>▪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17600" y="3959352"/>
            <a:ext cx="10160000" cy="2834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0" i="0">
                <a:solidFill>
                  <a:srgbClr val="333F4C"/>
                </a:solidFill>
                <a:latin typeface="Calibri"/>
              </a:rPr>
              <a:t>No loose clothing, no jewellery, no rings; tie back long hair.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" y="4297680"/>
            <a:ext cx="2032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1" i="0">
                <a:solidFill>
                  <a:srgbClr val="009999"/>
                </a:solidFill>
                <a:latin typeface="Calibri"/>
              </a:rPr>
              <a:t>▪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17600" y="4297680"/>
            <a:ext cx="10160000" cy="2834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0" i="0">
                <a:solidFill>
                  <a:srgbClr val="333F4C"/>
                </a:solidFill>
                <a:latin typeface="Calibri"/>
              </a:rPr>
              <a:t>Never use compressed air to clean clothing or skin.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914400" y="6350000"/>
            <a:ext cx="330200" cy="0"/>
          </a:xfrm>
          <a:prstGeom prst="line">
            <a:avLst/>
          </a:prstGeom>
          <a:ln w="30480">
            <a:solidFill>
              <a:srgbClr val="00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1244600" y="6350000"/>
            <a:ext cx="10033000" cy="0"/>
          </a:xfrm>
          <a:prstGeom prst="line">
            <a:avLst/>
          </a:prstGeom>
          <a:ln w="10160">
            <a:solidFill>
              <a:srgbClr val="D5DD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914400" y="6451600"/>
            <a:ext cx="54610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 i="0">
                <a:solidFill>
                  <a:srgbClr val="6B7A88"/>
                </a:solidFill>
                <a:latin typeface="Calibri"/>
              </a:rPr>
              <a:t>KAZ-EHS-IND-001 · Rev. 07 · Management &amp; Staff EHS Induction · Restricted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334000" y="6451600"/>
            <a:ext cx="41910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850" b="0" i="0">
                <a:solidFill>
                  <a:srgbClr val="6B7A88"/>
                </a:solidFill>
                <a:latin typeface="Calibri"/>
              </a:rPr>
              <a:t>05 · High-Risk Activities and Occupational Health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890000" y="6451600"/>
            <a:ext cx="23876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50" b="0" i="0">
                <a:solidFill>
                  <a:srgbClr val="6B7A88"/>
                </a:solidFill>
                <a:latin typeface="Calibri"/>
              </a:rPr>
              <a:t>Slide 43 of 63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0099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pic>
        <p:nvPicPr>
          <p:cNvPr id="3" name="Picture 2" descr="siemens_energy_100x31_rgb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07600" y="381000"/>
            <a:ext cx="1270000" cy="3937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4400" y="355600"/>
            <a:ext cx="8763000" cy="190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1" i="0">
                <a:solidFill>
                  <a:srgbClr val="009999"/>
                </a:solidFill>
                <a:latin typeface="Calibri"/>
              </a:rPr>
              <a:t>CHAPTER 05  ·  HIGH-RISK ACTIVITIES AND OCCUPATIONAL HEALTH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584200"/>
            <a:ext cx="8890000" cy="47053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700" b="1" i="0">
                <a:solidFill>
                  <a:srgbClr val="12263A"/>
                </a:solidFill>
                <a:latin typeface="Calibri"/>
              </a:rPr>
              <a:t>Manual Handling and Ergonomics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092834"/>
            <a:ext cx="8890000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 i="0">
                <a:solidFill>
                  <a:srgbClr val="6B7A88"/>
                </a:solidFill>
                <a:latin typeface="Calibri"/>
              </a:rPr>
              <a:t>📦 Plan the lift, not just the job</a:t>
            </a:r>
          </a:p>
          <a:p>
            <a:pPr algn="r" rtl="1"/>
            <a:r>
              <a:rPr sz="1200">
                <a:solidFill>
                  <a:srgbClr val="333F4C"/>
                </a:solidFill>
                <a:latin typeface="Calibri"/>
              </a:rPr>
              <a:t>قيّم الحمل واستعن بوسائل ميكانيكية وارفع بطريقة صحيحة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914400" y="1700784"/>
            <a:ext cx="1219200" cy="0"/>
          </a:xfrm>
          <a:prstGeom prst="line">
            <a:avLst/>
          </a:prstGeom>
          <a:ln w="30480">
            <a:solidFill>
              <a:srgbClr val="00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2133600" y="1709928"/>
            <a:ext cx="9144000" cy="0"/>
          </a:xfrm>
          <a:prstGeom prst="line">
            <a:avLst/>
          </a:prstGeom>
          <a:ln w="11430">
            <a:solidFill>
              <a:srgbClr val="D5DD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914400" y="1755648"/>
            <a:ext cx="2032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1" i="0">
                <a:solidFill>
                  <a:srgbClr val="009999"/>
                </a:solidFill>
                <a:latin typeface="Calibri"/>
              </a:rPr>
              <a:t>▪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7600" y="1755648"/>
            <a:ext cx="10160000" cy="2834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0" i="0">
                <a:solidFill>
                  <a:srgbClr val="333F4C"/>
                </a:solidFill>
                <a:latin typeface="Calibri"/>
              </a:rPr>
              <a:t>Assess the load: weight, size, grip, centre of gravity, distance and destination.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093976"/>
            <a:ext cx="2032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1" i="0">
                <a:solidFill>
                  <a:srgbClr val="009999"/>
                </a:solidFill>
                <a:latin typeface="Calibri"/>
              </a:rPr>
              <a:t>▪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17600" y="2093976"/>
            <a:ext cx="10160000" cy="2834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0" i="0">
                <a:solidFill>
                  <a:srgbClr val="333F4C"/>
                </a:solidFill>
                <a:latin typeface="Calibri"/>
              </a:rPr>
              <a:t>Use mechanical aids or ask for help — team lifts need a leader and clear commands.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2432304"/>
            <a:ext cx="2032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1" i="0">
                <a:solidFill>
                  <a:srgbClr val="009999"/>
                </a:solidFill>
                <a:latin typeface="Calibri"/>
              </a:rPr>
              <a:t>▪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17600" y="2432304"/>
            <a:ext cx="10160000" cy="2834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0" i="0">
                <a:solidFill>
                  <a:srgbClr val="333F4C"/>
                </a:solidFill>
                <a:latin typeface="Calibri"/>
              </a:rPr>
              <a:t>Lift technique: bend the knees, keep the load close, no twisting while lifting.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2770632"/>
            <a:ext cx="2032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1" i="0">
                <a:solidFill>
                  <a:srgbClr val="009999"/>
                </a:solidFill>
                <a:latin typeface="Calibri"/>
              </a:rPr>
              <a:t>▪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17600" y="2770632"/>
            <a:ext cx="10160000" cy="2834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0" i="0">
                <a:solidFill>
                  <a:srgbClr val="333F4C"/>
                </a:solidFill>
                <a:latin typeface="Calibri"/>
              </a:rPr>
              <a:t>Plan breaks and vary tasks to reduce repetition and strain.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3108960"/>
            <a:ext cx="2032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1" i="0">
                <a:solidFill>
                  <a:srgbClr val="009999"/>
                </a:solidFill>
                <a:latin typeface="Calibri"/>
              </a:rPr>
              <a:t>▪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7600" y="3108960"/>
            <a:ext cx="10160000" cy="2834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0" i="0">
                <a:solidFill>
                  <a:srgbClr val="333F4C"/>
                </a:solidFill>
                <a:latin typeface="Calibri"/>
              </a:rPr>
              <a:t>Report pain early — discomfort today becomes an injury tomorrow.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3447288"/>
            <a:ext cx="2032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1" i="0">
                <a:solidFill>
                  <a:srgbClr val="009999"/>
                </a:solidFill>
                <a:latin typeface="Calibri"/>
              </a:rPr>
              <a:t>▪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17600" y="3447288"/>
            <a:ext cx="10160000" cy="2834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0" i="0">
                <a:solidFill>
                  <a:srgbClr val="333F4C"/>
                </a:solidFill>
                <a:latin typeface="Calibri"/>
              </a:rPr>
              <a:t>Consider the environment: heat, uneven ground and confined spaces all increase the risk.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914400" y="6350000"/>
            <a:ext cx="330200" cy="0"/>
          </a:xfrm>
          <a:prstGeom prst="line">
            <a:avLst/>
          </a:prstGeom>
          <a:ln w="30480">
            <a:solidFill>
              <a:srgbClr val="00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1244600" y="6350000"/>
            <a:ext cx="10033000" cy="0"/>
          </a:xfrm>
          <a:prstGeom prst="line">
            <a:avLst/>
          </a:prstGeom>
          <a:ln w="10160">
            <a:solidFill>
              <a:srgbClr val="D5DD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914400" y="6451600"/>
            <a:ext cx="54610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 i="0">
                <a:solidFill>
                  <a:srgbClr val="6B7A88"/>
                </a:solidFill>
                <a:latin typeface="Calibri"/>
              </a:rPr>
              <a:t>KAZ-EHS-IND-001 · Rev. 07 · Management &amp; Staff EHS Induction · Restricted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334000" y="6451600"/>
            <a:ext cx="41910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850" b="0" i="0">
                <a:solidFill>
                  <a:srgbClr val="6B7A88"/>
                </a:solidFill>
                <a:latin typeface="Calibri"/>
              </a:rPr>
              <a:t>05 · High-Risk Activities and Occupational Health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0000" y="6451600"/>
            <a:ext cx="23876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50" b="0" i="0">
                <a:solidFill>
                  <a:srgbClr val="6B7A88"/>
                </a:solidFill>
                <a:latin typeface="Calibri"/>
              </a:rPr>
              <a:t>Slide 44 of 63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0099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pic>
        <p:nvPicPr>
          <p:cNvPr id="3" name="Picture 2" descr="siemens_energy_100x31_rgb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07600" y="381000"/>
            <a:ext cx="1270000" cy="3937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4400" y="355600"/>
            <a:ext cx="8763000" cy="190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1" i="0">
                <a:solidFill>
                  <a:srgbClr val="009999"/>
                </a:solidFill>
                <a:latin typeface="Calibri"/>
              </a:rPr>
              <a:t>CHAPTER 05  ·  HIGH-RISK ACTIVITIES AND OCCUPATIONAL HEALTH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584200"/>
            <a:ext cx="8890000" cy="47053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700" b="1" i="0">
                <a:solidFill>
                  <a:srgbClr val="12263A"/>
                </a:solidFill>
                <a:latin typeface="Calibri"/>
              </a:rPr>
              <a:t>Personal Protective Equipment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092834"/>
            <a:ext cx="8890000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 i="0">
                <a:solidFill>
                  <a:srgbClr val="6B7A88"/>
                </a:solidFill>
                <a:latin typeface="Calibri"/>
              </a:rPr>
              <a:t>🦺 Mandatory minimum on site — additional PPE per task risk assessment</a:t>
            </a:r>
          </a:p>
          <a:p>
            <a:pPr algn="r" rtl="1"/>
            <a:r>
              <a:rPr sz="1200">
                <a:solidFill>
                  <a:srgbClr val="333F4C"/>
                </a:solidFill>
                <a:latin typeface="Calibri"/>
              </a:rPr>
              <a:t>الحد الأدنى إلزامي دائماً: خوذة · نظارات · قفازات · حذاء سلامة · ملابس مقاومة للهب عالية الرؤية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914400" y="1700784"/>
            <a:ext cx="1219200" cy="0"/>
          </a:xfrm>
          <a:prstGeom prst="line">
            <a:avLst/>
          </a:prstGeom>
          <a:ln w="30480">
            <a:solidFill>
              <a:srgbClr val="00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2133600" y="1709928"/>
            <a:ext cx="9144000" cy="0"/>
          </a:xfrm>
          <a:prstGeom prst="line">
            <a:avLst/>
          </a:prstGeom>
          <a:ln w="11430">
            <a:solidFill>
              <a:srgbClr val="D5DD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ctangle 8"/>
          <p:cNvSpPr/>
          <p:nvPr/>
        </p:nvSpPr>
        <p:spPr>
          <a:xfrm>
            <a:off x="914400" y="1955800"/>
            <a:ext cx="10363200" cy="431800"/>
          </a:xfrm>
          <a:prstGeom prst="rect">
            <a:avLst/>
          </a:prstGeom>
          <a:solidFill>
            <a:srgbClr val="1226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041400" y="2057400"/>
            <a:ext cx="3269488" cy="304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PPE item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64888" y="2057400"/>
            <a:ext cx="6585712" cy="304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Requirement on this site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41400" y="2451100"/>
            <a:ext cx="3269488" cy="177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35" b="0" i="0">
                <a:solidFill>
                  <a:srgbClr val="333F4C"/>
                </a:solidFill>
                <a:latin typeface="Calibri"/>
              </a:rPr>
              <a:t>Safety helmet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64888" y="2451100"/>
            <a:ext cx="6585712" cy="177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35" b="0" i="0">
                <a:solidFill>
                  <a:srgbClr val="333F4C"/>
                </a:solidFill>
                <a:latin typeface="Calibri"/>
              </a:rPr>
              <a:t>Mandatory — with chin strap; replaced after impact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914400" y="2692400"/>
            <a:ext cx="10363200" cy="0"/>
          </a:xfrm>
          <a:prstGeom prst="line">
            <a:avLst/>
          </a:prstGeom>
          <a:ln w="7620">
            <a:solidFill>
              <a:srgbClr val="D5DD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ectangle 14"/>
          <p:cNvSpPr/>
          <p:nvPr/>
        </p:nvSpPr>
        <p:spPr>
          <a:xfrm>
            <a:off x="914400" y="2692400"/>
            <a:ext cx="10363200" cy="304800"/>
          </a:xfrm>
          <a:prstGeom prst="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1041400" y="2755900"/>
            <a:ext cx="3269488" cy="177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35" b="0" i="0">
                <a:solidFill>
                  <a:srgbClr val="333F4C"/>
                </a:solidFill>
                <a:latin typeface="Calibri"/>
              </a:rPr>
              <a:t>Flame-retardant coverall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64888" y="2755900"/>
            <a:ext cx="6585712" cy="177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35" b="0" i="0">
                <a:solidFill>
                  <a:srgbClr val="333F4C"/>
                </a:solidFill>
                <a:latin typeface="Calibri"/>
              </a:rPr>
              <a:t>Mandatory — visibility class 1 (high-visibility)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914400" y="2997200"/>
            <a:ext cx="10363200" cy="0"/>
          </a:xfrm>
          <a:prstGeom prst="line">
            <a:avLst/>
          </a:prstGeom>
          <a:ln w="7620">
            <a:solidFill>
              <a:srgbClr val="D5DD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1041400" y="3060700"/>
            <a:ext cx="3269488" cy="177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35" b="0" i="0">
                <a:solidFill>
                  <a:srgbClr val="333F4C"/>
                </a:solidFill>
                <a:latin typeface="Calibri"/>
              </a:rPr>
              <a:t>Safety footwear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64888" y="3060700"/>
            <a:ext cx="6585712" cy="177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35" b="0" i="0">
                <a:solidFill>
                  <a:srgbClr val="333F4C"/>
                </a:solidFill>
                <a:latin typeface="Calibri"/>
              </a:rPr>
              <a:t>Mandatory — S3 / S1P, toe protection and puncture resistance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914400" y="3302000"/>
            <a:ext cx="10363200" cy="0"/>
          </a:xfrm>
          <a:prstGeom prst="line">
            <a:avLst/>
          </a:prstGeom>
          <a:ln w="7620">
            <a:solidFill>
              <a:srgbClr val="D5DD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ectangle 21"/>
          <p:cNvSpPr/>
          <p:nvPr/>
        </p:nvSpPr>
        <p:spPr>
          <a:xfrm>
            <a:off x="914400" y="3302000"/>
            <a:ext cx="10363200" cy="304800"/>
          </a:xfrm>
          <a:prstGeom prst="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1041400" y="3365500"/>
            <a:ext cx="3269488" cy="177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35" b="0" i="0">
                <a:solidFill>
                  <a:srgbClr val="333F4C"/>
                </a:solidFill>
                <a:latin typeface="Calibri"/>
              </a:rPr>
              <a:t>Safety glasses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64888" y="3365500"/>
            <a:ext cx="6585712" cy="177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35" b="0" i="0">
                <a:solidFill>
                  <a:srgbClr val="333F4C"/>
                </a:solidFill>
                <a:latin typeface="Calibri"/>
              </a:rPr>
              <a:t>Mandatory — ANSI/EN certified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914400" y="3606800"/>
            <a:ext cx="10363200" cy="0"/>
          </a:xfrm>
          <a:prstGeom prst="line">
            <a:avLst/>
          </a:prstGeom>
          <a:ln w="7620">
            <a:solidFill>
              <a:srgbClr val="D5DD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1041400" y="3670300"/>
            <a:ext cx="3269488" cy="177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35" b="0" i="0">
                <a:solidFill>
                  <a:srgbClr val="333F4C"/>
                </a:solidFill>
                <a:latin typeface="Calibri"/>
              </a:rPr>
              <a:t>Protective gloves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64888" y="3670300"/>
            <a:ext cx="6585712" cy="177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35" b="0" i="0">
                <a:solidFill>
                  <a:srgbClr val="333F4C"/>
                </a:solidFill>
                <a:latin typeface="Calibri"/>
              </a:rPr>
              <a:t>Mandatory — task-specific (electrical, chemical, cut-resistant)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914400" y="3911600"/>
            <a:ext cx="10363200" cy="0"/>
          </a:xfrm>
          <a:prstGeom prst="line">
            <a:avLst/>
          </a:prstGeom>
          <a:ln w="7620">
            <a:solidFill>
              <a:srgbClr val="D5DD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ectangle 28"/>
          <p:cNvSpPr/>
          <p:nvPr/>
        </p:nvSpPr>
        <p:spPr>
          <a:xfrm>
            <a:off x="914400" y="3911600"/>
            <a:ext cx="10363200" cy="304800"/>
          </a:xfrm>
          <a:prstGeom prst="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1041400" y="3975100"/>
            <a:ext cx="3269488" cy="177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35" b="0" i="0">
                <a:solidFill>
                  <a:srgbClr val="333F4C"/>
                </a:solidFill>
                <a:latin typeface="Calibri"/>
              </a:rPr>
              <a:t>Hearing protection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64888" y="3975100"/>
            <a:ext cx="6585712" cy="177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35" b="0" i="0">
                <a:solidFill>
                  <a:srgbClr val="333F4C"/>
                </a:solidFill>
                <a:latin typeface="Calibri"/>
              </a:rPr>
              <a:t>Mandatory above 85 dB(A) or where indicated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914400" y="4216400"/>
            <a:ext cx="10363200" cy="0"/>
          </a:xfrm>
          <a:prstGeom prst="line">
            <a:avLst/>
          </a:prstGeom>
          <a:ln w="7620">
            <a:solidFill>
              <a:srgbClr val="D5DD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TextBox 32"/>
          <p:cNvSpPr txBox="1"/>
          <p:nvPr/>
        </p:nvSpPr>
        <p:spPr>
          <a:xfrm>
            <a:off x="1041400" y="4279900"/>
            <a:ext cx="3269488" cy="177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35" b="0" i="0">
                <a:solidFill>
                  <a:srgbClr val="333F4C"/>
                </a:solidFill>
                <a:latin typeface="Calibri"/>
              </a:rPr>
              <a:t>Arc-rated PPE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564888" y="4279900"/>
            <a:ext cx="6585712" cy="177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35" b="0" i="0">
                <a:solidFill>
                  <a:srgbClr val="333F4C"/>
                </a:solidFill>
                <a:latin typeface="Calibri"/>
              </a:rPr>
              <a:t>For electrical work — Category 2/4, face shield, insulated gloves</a:t>
            </a:r>
          </a:p>
        </p:txBody>
      </p:sp>
      <p:cxnSp>
        <p:nvCxnSpPr>
          <p:cNvPr id="35" name="Connector 34"/>
          <p:cNvCxnSpPr/>
          <p:nvPr/>
        </p:nvCxnSpPr>
        <p:spPr>
          <a:xfrm>
            <a:off x="914400" y="4521200"/>
            <a:ext cx="10363200" cy="0"/>
          </a:xfrm>
          <a:prstGeom prst="line">
            <a:avLst/>
          </a:prstGeom>
          <a:ln w="7620">
            <a:solidFill>
              <a:srgbClr val="D5DD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Rectangle 35"/>
          <p:cNvSpPr/>
          <p:nvPr/>
        </p:nvSpPr>
        <p:spPr>
          <a:xfrm>
            <a:off x="914400" y="4521200"/>
            <a:ext cx="10363200" cy="304800"/>
          </a:xfrm>
          <a:prstGeom prst="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1041400" y="4584700"/>
            <a:ext cx="3269488" cy="177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35" b="0" i="0">
                <a:solidFill>
                  <a:srgbClr val="333F4C"/>
                </a:solidFill>
                <a:latin typeface="Calibri"/>
              </a:rPr>
              <a:t>Full-body harness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64888" y="4584700"/>
            <a:ext cx="6585712" cy="177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35" b="0" i="0">
                <a:solidFill>
                  <a:srgbClr val="333F4C"/>
                </a:solidFill>
                <a:latin typeface="Calibri"/>
              </a:rPr>
              <a:t>Working at height — double lanyard with shock absorber</a:t>
            </a:r>
          </a:p>
        </p:txBody>
      </p:sp>
      <p:cxnSp>
        <p:nvCxnSpPr>
          <p:cNvPr id="39" name="Connector 38"/>
          <p:cNvCxnSpPr/>
          <p:nvPr/>
        </p:nvCxnSpPr>
        <p:spPr>
          <a:xfrm>
            <a:off x="914400" y="4826000"/>
            <a:ext cx="10363200" cy="0"/>
          </a:xfrm>
          <a:prstGeom prst="line">
            <a:avLst/>
          </a:prstGeom>
          <a:ln w="7620">
            <a:solidFill>
              <a:srgbClr val="D5DD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TextBox 39"/>
          <p:cNvSpPr txBox="1"/>
          <p:nvPr/>
        </p:nvSpPr>
        <p:spPr>
          <a:xfrm>
            <a:off x="1041400" y="4889500"/>
            <a:ext cx="3269488" cy="177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35" b="0" i="0">
                <a:solidFill>
                  <a:srgbClr val="333F4C"/>
                </a:solidFill>
                <a:latin typeface="Calibri"/>
              </a:rPr>
              <a:t>Respiratory protection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564888" y="4889500"/>
            <a:ext cx="6585712" cy="177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35" b="0" i="0">
                <a:solidFill>
                  <a:srgbClr val="333F4C"/>
                </a:solidFill>
                <a:latin typeface="Calibri"/>
              </a:rPr>
              <a:t>Where dust or vapour is identified — face-fit tested (e.g. FFP3)</a:t>
            </a:r>
          </a:p>
        </p:txBody>
      </p:sp>
      <p:cxnSp>
        <p:nvCxnSpPr>
          <p:cNvPr id="42" name="Connector 41"/>
          <p:cNvCxnSpPr/>
          <p:nvPr/>
        </p:nvCxnSpPr>
        <p:spPr>
          <a:xfrm>
            <a:off x="914400" y="5130800"/>
            <a:ext cx="10363200" cy="0"/>
          </a:xfrm>
          <a:prstGeom prst="line">
            <a:avLst/>
          </a:prstGeom>
          <a:ln w="7620">
            <a:solidFill>
              <a:srgbClr val="D5DD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Rectangle 42"/>
          <p:cNvSpPr/>
          <p:nvPr/>
        </p:nvSpPr>
        <p:spPr>
          <a:xfrm>
            <a:off x="914400" y="5130800"/>
            <a:ext cx="10363200" cy="304800"/>
          </a:xfrm>
          <a:prstGeom prst="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1041400" y="5194300"/>
            <a:ext cx="3269488" cy="177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35" b="0" i="0">
                <a:solidFill>
                  <a:srgbClr val="333F4C"/>
                </a:solidFill>
                <a:latin typeface="Calibri"/>
              </a:rPr>
              <a:t>High-visibility vest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564888" y="5194300"/>
            <a:ext cx="6585712" cy="177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35" b="0" i="0">
                <a:solidFill>
                  <a:srgbClr val="333F4C"/>
                </a:solidFill>
                <a:latin typeface="Calibri"/>
              </a:rPr>
              <a:t>Mandatory in areas with mobile plant and vehicle movement</a:t>
            </a:r>
          </a:p>
        </p:txBody>
      </p:sp>
      <p:cxnSp>
        <p:nvCxnSpPr>
          <p:cNvPr id="46" name="Connector 45"/>
          <p:cNvCxnSpPr/>
          <p:nvPr/>
        </p:nvCxnSpPr>
        <p:spPr>
          <a:xfrm>
            <a:off x="914400" y="5435600"/>
            <a:ext cx="10363200" cy="0"/>
          </a:xfrm>
          <a:prstGeom prst="line">
            <a:avLst/>
          </a:prstGeom>
          <a:ln w="7620">
            <a:solidFill>
              <a:srgbClr val="D5DD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7" name="Rectangle 46"/>
          <p:cNvSpPr/>
          <p:nvPr/>
        </p:nvSpPr>
        <p:spPr>
          <a:xfrm>
            <a:off x="914400" y="1955800"/>
            <a:ext cx="10363200" cy="3479800"/>
          </a:xfrm>
          <a:prstGeom prst="rect">
            <a:avLst/>
          </a:prstGeom>
          <a:noFill/>
          <a:ln w="10160">
            <a:solidFill>
              <a:srgbClr val="C3C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cxnSp>
        <p:nvCxnSpPr>
          <p:cNvPr id="48" name="Connector 47"/>
          <p:cNvCxnSpPr/>
          <p:nvPr/>
        </p:nvCxnSpPr>
        <p:spPr>
          <a:xfrm>
            <a:off x="914400" y="6350000"/>
            <a:ext cx="330200" cy="0"/>
          </a:xfrm>
          <a:prstGeom prst="line">
            <a:avLst/>
          </a:prstGeom>
          <a:ln w="30480">
            <a:solidFill>
              <a:srgbClr val="00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Connector 48"/>
          <p:cNvCxnSpPr/>
          <p:nvPr/>
        </p:nvCxnSpPr>
        <p:spPr>
          <a:xfrm>
            <a:off x="1244600" y="6350000"/>
            <a:ext cx="10033000" cy="0"/>
          </a:xfrm>
          <a:prstGeom prst="line">
            <a:avLst/>
          </a:prstGeom>
          <a:ln w="10160">
            <a:solidFill>
              <a:srgbClr val="D5DD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0" name="TextBox 49"/>
          <p:cNvSpPr txBox="1"/>
          <p:nvPr/>
        </p:nvSpPr>
        <p:spPr>
          <a:xfrm>
            <a:off x="914400" y="6451600"/>
            <a:ext cx="54610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 i="0">
                <a:solidFill>
                  <a:srgbClr val="6B7A88"/>
                </a:solidFill>
                <a:latin typeface="Calibri"/>
              </a:rPr>
              <a:t>KAZ-EHS-IND-001 · Rev. 07 · Management &amp; Staff EHS Induction · Restricted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334000" y="6451600"/>
            <a:ext cx="41910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850" b="0" i="0">
                <a:solidFill>
                  <a:srgbClr val="6B7A88"/>
                </a:solidFill>
                <a:latin typeface="Calibri"/>
              </a:rPr>
              <a:t>05 · High-Risk Activities and Occupational Health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890000" y="6451600"/>
            <a:ext cx="23876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50" b="0" i="0">
                <a:solidFill>
                  <a:srgbClr val="6B7A88"/>
                </a:solidFill>
                <a:latin typeface="Calibri"/>
              </a:rPr>
              <a:t>Slide 45 of 63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0099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pic>
        <p:nvPicPr>
          <p:cNvPr id="3" name="Picture 2" descr="siemens_energy_100x31_rgb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07600" y="381000"/>
            <a:ext cx="1270000" cy="3937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4400" y="355600"/>
            <a:ext cx="8763000" cy="190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1" i="0">
                <a:solidFill>
                  <a:srgbClr val="009999"/>
                </a:solidFill>
                <a:latin typeface="Calibri"/>
              </a:rPr>
              <a:t>CHAPTER 05  ·  HIGH-RISK ACTIVITIES AND OCCUPATIONAL HEALTH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584200"/>
            <a:ext cx="8890000" cy="47053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700" b="1" i="0">
                <a:solidFill>
                  <a:srgbClr val="12263A"/>
                </a:solidFill>
                <a:latin typeface="Calibri"/>
              </a:rPr>
              <a:t>Heat Stress Management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092834"/>
            <a:ext cx="8890000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 i="0">
                <a:solidFill>
                  <a:srgbClr val="6B7A88"/>
                </a:solidFill>
                <a:latin typeface="Calibri"/>
              </a:rPr>
              <a:t>💧 Our most predictable environmental hazard</a:t>
            </a:r>
          </a:p>
          <a:p>
            <a:pPr algn="r" rtl="1"/>
            <a:r>
              <a:rPr sz="1200">
                <a:solidFill>
                  <a:srgbClr val="333F4C"/>
                </a:solidFill>
                <a:latin typeface="Calibri"/>
              </a:rPr>
              <a:t>اشرب الماء باستمرار · استرح في الظل · انتبه لأعراض الإجهاد الحراري وأبلغ فوراً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914400" y="1700784"/>
            <a:ext cx="1219200" cy="0"/>
          </a:xfrm>
          <a:prstGeom prst="line">
            <a:avLst/>
          </a:prstGeom>
          <a:ln w="30480">
            <a:solidFill>
              <a:srgbClr val="00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2133600" y="1709928"/>
            <a:ext cx="9144000" cy="0"/>
          </a:xfrm>
          <a:prstGeom prst="line">
            <a:avLst/>
          </a:prstGeom>
          <a:ln w="11430">
            <a:solidFill>
              <a:srgbClr val="D5DD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914400" y="1755648"/>
            <a:ext cx="2032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1" i="0">
                <a:solidFill>
                  <a:srgbClr val="009999"/>
                </a:solidFill>
                <a:latin typeface="Calibri"/>
              </a:rPr>
              <a:t>▪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7600" y="1755648"/>
            <a:ext cx="6527800" cy="50468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0" i="0">
                <a:solidFill>
                  <a:srgbClr val="333F4C"/>
                </a:solidFill>
                <a:latin typeface="Calibri"/>
              </a:rPr>
              <a:t>Heat stress is managed by WBGT monitoring — monitoring starts when ambient temperature exceeds 40 °C.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315201"/>
            <a:ext cx="2032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1" i="0">
                <a:solidFill>
                  <a:srgbClr val="009999"/>
                </a:solidFill>
                <a:latin typeface="Calibri"/>
              </a:rPr>
              <a:t>▪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17600" y="2315201"/>
            <a:ext cx="6527800" cy="50468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0" i="0">
                <a:solidFill>
                  <a:srgbClr val="333F4C"/>
                </a:solidFill>
                <a:latin typeface="Calibri"/>
              </a:rPr>
              <a:t>Published work / rest cycles apply for light, moderate and heavy work; follow them.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2874755"/>
            <a:ext cx="2032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1" i="0">
                <a:solidFill>
                  <a:srgbClr val="009999"/>
                </a:solidFill>
                <a:latin typeface="Calibri"/>
              </a:rPr>
              <a:t>▪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17600" y="2874755"/>
            <a:ext cx="6527800" cy="50468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0" i="0">
                <a:solidFill>
                  <a:srgbClr val="333F4C"/>
                </a:solidFill>
                <a:latin typeface="Calibri"/>
              </a:rPr>
              <a:t>Acclimatisation: new arrivals and anyone returning from leave start with reduced workload and increased rest.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3434309"/>
            <a:ext cx="2032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1" i="0">
                <a:solidFill>
                  <a:srgbClr val="009999"/>
                </a:solidFill>
                <a:latin typeface="Calibri"/>
              </a:rPr>
              <a:t>▪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17600" y="3434309"/>
            <a:ext cx="6527800" cy="50468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0" i="0">
                <a:solidFill>
                  <a:srgbClr val="333F4C"/>
                </a:solidFill>
                <a:latin typeface="Calibri"/>
              </a:rPr>
              <a:t>Drink water regularly — about 1.0 to 1.2 litres per hour for light work in high heat. Use oral rehydration salts.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3993863"/>
            <a:ext cx="2032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1" i="0">
                <a:solidFill>
                  <a:srgbClr val="009999"/>
                </a:solidFill>
                <a:latin typeface="Calibri"/>
              </a:rPr>
              <a:t>▪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7600" y="3993863"/>
            <a:ext cx="6527800" cy="50468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0" i="0">
                <a:solidFill>
                  <a:srgbClr val="333F4C"/>
                </a:solidFill>
                <a:latin typeface="Calibri"/>
              </a:rPr>
              <a:t>Shaded, ventilated rest areas and chilled drinking water are provided — use them.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4553417"/>
            <a:ext cx="2032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1" i="0">
                <a:solidFill>
                  <a:srgbClr val="009999"/>
                </a:solidFill>
                <a:latin typeface="Calibri"/>
              </a:rPr>
              <a:t>▪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17600" y="4553417"/>
            <a:ext cx="6527800" cy="50468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0" i="0">
                <a:solidFill>
                  <a:srgbClr val="333F4C"/>
                </a:solidFill>
                <a:latin typeface="Calibri"/>
              </a:rPr>
              <a:t>Lone working is prohibited on high-risk tasks — use the buddy system.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" y="5112970"/>
            <a:ext cx="2032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1" i="0">
                <a:solidFill>
                  <a:srgbClr val="009999"/>
                </a:solidFill>
                <a:latin typeface="Calibri"/>
              </a:rPr>
              <a:t>▪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17600" y="5112970"/>
            <a:ext cx="6527800" cy="74420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0" i="0">
                <a:solidFill>
                  <a:srgbClr val="333F4C"/>
                </a:solidFill>
                <a:latin typeface="Calibri"/>
              </a:rPr>
              <a:t>Warning signs: headache, dizziness, cramps, nausea, confusion, hot dry skin, fainting. Heat stroke is a medical emergency — cool the casualty and call the medic immediately.</a:t>
            </a:r>
          </a:p>
        </p:txBody>
      </p:sp>
      <p:pic>
        <p:nvPicPr>
          <p:cNvPr id="23" name="Picture 22" descr="10_heat_stress_256x268_rgb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26400" y="1752600"/>
            <a:ext cx="3251200" cy="3403600"/>
          </a:xfrm>
          <a:prstGeom prst="rect">
            <a:avLst/>
          </a:prstGeom>
        </p:spPr>
      </p:pic>
      <p:sp>
        <p:nvSpPr>
          <p:cNvPr id="24" name="Rectangle 23"/>
          <p:cNvSpPr/>
          <p:nvPr/>
        </p:nvSpPr>
        <p:spPr>
          <a:xfrm>
            <a:off x="8026400" y="1752600"/>
            <a:ext cx="3251200" cy="3403600"/>
          </a:xfrm>
          <a:prstGeom prst="rect">
            <a:avLst/>
          </a:prstGeom>
          <a:noFill/>
          <a:ln w="10160">
            <a:solidFill>
              <a:srgbClr val="D5DD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8026400" y="5156200"/>
            <a:ext cx="3251200" cy="381000"/>
          </a:xfrm>
          <a:prstGeom prst="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8128000" y="5219700"/>
            <a:ext cx="3048000" cy="254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0" i="0">
                <a:solidFill>
                  <a:srgbClr val="12263A"/>
                </a:solidFill>
                <a:latin typeface="Calibri"/>
              </a:rPr>
              <a:t>Shade · hydration · work-rest cycles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914400" y="6350000"/>
            <a:ext cx="330200" cy="0"/>
          </a:xfrm>
          <a:prstGeom prst="line">
            <a:avLst/>
          </a:prstGeom>
          <a:ln w="30480">
            <a:solidFill>
              <a:srgbClr val="00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1244600" y="6350000"/>
            <a:ext cx="10033000" cy="0"/>
          </a:xfrm>
          <a:prstGeom prst="line">
            <a:avLst/>
          </a:prstGeom>
          <a:ln w="10160">
            <a:solidFill>
              <a:srgbClr val="D5DD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>
            <a:off x="914400" y="6451600"/>
            <a:ext cx="54610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 i="0">
                <a:solidFill>
                  <a:srgbClr val="6B7A88"/>
                </a:solidFill>
                <a:latin typeface="Calibri"/>
              </a:rPr>
              <a:t>KAZ-EHS-IND-001 · Rev. 07 · Management &amp; Staff EHS Induction · Restricted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334000" y="6451600"/>
            <a:ext cx="41910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850" b="0" i="0">
                <a:solidFill>
                  <a:srgbClr val="6B7A88"/>
                </a:solidFill>
                <a:latin typeface="Calibri"/>
              </a:rPr>
              <a:t>05 · High-Risk Activities and Occupational Health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890000" y="6451600"/>
            <a:ext cx="23876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50" b="0" i="0">
                <a:solidFill>
                  <a:srgbClr val="6B7A88"/>
                </a:solidFill>
                <a:latin typeface="Calibri"/>
              </a:rPr>
              <a:t>Slide 46 of 63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0099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pic>
        <p:nvPicPr>
          <p:cNvPr id="3" name="Picture 2" descr="siemens_energy_100x31_rgb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07600" y="381000"/>
            <a:ext cx="1270000" cy="3937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4400" y="355600"/>
            <a:ext cx="8763000" cy="190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1" i="0">
                <a:solidFill>
                  <a:srgbClr val="009999"/>
                </a:solidFill>
                <a:latin typeface="Calibri"/>
              </a:rPr>
              <a:t>CHAPTER 05  ·  HIGH-RISK ACTIVITIES AND OCCUPATIONAL HEALTH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584200"/>
            <a:ext cx="8890000" cy="47053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700" b="1" i="0">
                <a:solidFill>
                  <a:srgbClr val="12263A"/>
                </a:solidFill>
                <a:latin typeface="Calibri"/>
              </a:rPr>
              <a:t>First Aid and Medical Emergency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092834"/>
            <a:ext cx="8890000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 i="0">
                <a:solidFill>
                  <a:srgbClr val="6B7A88"/>
                </a:solidFill>
                <a:latin typeface="Calibri"/>
              </a:rPr>
              <a:t>🚑 Know your nearest help</a:t>
            </a:r>
          </a:p>
          <a:p>
            <a:pPr algn="r" rtl="1"/>
            <a:r>
              <a:rPr sz="1200">
                <a:solidFill>
                  <a:srgbClr val="333F4C"/>
                </a:solidFill>
                <a:latin typeface="Calibri"/>
              </a:rPr>
              <a:t>مسعف 07707313604 (نهاري) · طوارئ 911 · الزبير ≈ 45 دقيقة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914400" y="1700784"/>
            <a:ext cx="1219200" cy="0"/>
          </a:xfrm>
          <a:prstGeom prst="line">
            <a:avLst/>
          </a:prstGeom>
          <a:ln w="30480">
            <a:solidFill>
              <a:srgbClr val="00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2133600" y="1709928"/>
            <a:ext cx="9144000" cy="0"/>
          </a:xfrm>
          <a:prstGeom prst="line">
            <a:avLst/>
          </a:prstGeom>
          <a:ln w="11430">
            <a:solidFill>
              <a:srgbClr val="D5DD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914400" y="1755648"/>
            <a:ext cx="2032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1" i="0">
                <a:solidFill>
                  <a:srgbClr val="009999"/>
                </a:solidFill>
                <a:latin typeface="Calibri"/>
              </a:rPr>
              <a:t>▪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7600" y="1755648"/>
            <a:ext cx="10160000" cy="5394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0" i="0">
                <a:solidFill>
                  <a:srgbClr val="333F4C"/>
                </a:solidFill>
                <a:latin typeface="Calibri"/>
              </a:rPr>
              <a:t>Know: your nearest first-aid point; the site medic 07707313604 (day shift only); emergency line 911; and the route to Al-Zubair hospital (approx. 45 min).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350008"/>
            <a:ext cx="2032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1" i="0">
                <a:solidFill>
                  <a:srgbClr val="009999"/>
                </a:solidFill>
                <a:latin typeface="Calibri"/>
              </a:rPr>
              <a:t>▪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17600" y="2350008"/>
            <a:ext cx="10160000" cy="2834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0" i="0">
                <a:solidFill>
                  <a:srgbClr val="333F4C"/>
                </a:solidFill>
                <a:latin typeface="Calibri"/>
              </a:rPr>
              <a:t>Do not move a casualty unless there is immediate danger to life.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2688336"/>
            <a:ext cx="2032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1" i="0">
                <a:solidFill>
                  <a:srgbClr val="009999"/>
                </a:solidFill>
                <a:latin typeface="Calibri"/>
              </a:rPr>
              <a:t>▪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17600" y="2688336"/>
            <a:ext cx="10160000" cy="2834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0" i="0">
                <a:solidFill>
                  <a:srgbClr val="333F4C"/>
                </a:solidFill>
                <a:latin typeface="Calibri"/>
              </a:rPr>
              <a:t>Electric shock: do not touch the casualty before the supply is isolated.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3026664"/>
            <a:ext cx="2032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1" i="0">
                <a:solidFill>
                  <a:srgbClr val="009999"/>
                </a:solidFill>
                <a:latin typeface="Calibri"/>
              </a:rPr>
              <a:t>▪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17600" y="3026664"/>
            <a:ext cx="10160000" cy="2834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0" i="0">
                <a:solidFill>
                  <a:srgbClr val="333F4C"/>
                </a:solidFill>
                <a:latin typeface="Calibri"/>
              </a:rPr>
              <a:t>Keep the airway open; start CPR / AED if the casualty is not breathing and you are trained.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3364992"/>
            <a:ext cx="2032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1" i="0">
                <a:solidFill>
                  <a:srgbClr val="009999"/>
                </a:solidFill>
                <a:latin typeface="Calibri"/>
              </a:rPr>
              <a:t>▪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7600" y="3364992"/>
            <a:ext cx="10160000" cy="2834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0" i="0">
                <a:solidFill>
                  <a:srgbClr val="333F4C"/>
                </a:solidFill>
                <a:latin typeface="Calibri"/>
              </a:rPr>
              <a:t>Preserve the incident scene; do not disturb equipment involved in the incident.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3703320"/>
            <a:ext cx="2032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1" i="0">
                <a:solidFill>
                  <a:srgbClr val="009999"/>
                </a:solidFill>
                <a:latin typeface="Calibri"/>
              </a:rPr>
              <a:t>▪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17600" y="3703320"/>
            <a:ext cx="10160000" cy="2834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0" i="0">
                <a:solidFill>
                  <a:srgbClr val="333F4C"/>
                </a:solidFill>
                <a:latin typeface="Calibri"/>
              </a:rPr>
              <a:t>Meet the ambulance at the main gate and escort it to the casualty.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" y="4041648"/>
            <a:ext cx="2032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1" i="0">
                <a:solidFill>
                  <a:srgbClr val="009999"/>
                </a:solidFill>
                <a:latin typeface="Calibri"/>
              </a:rPr>
              <a:t>▪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17600" y="4041648"/>
            <a:ext cx="10160000" cy="2834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0" i="0">
                <a:solidFill>
                  <a:srgbClr val="333F4C"/>
                </a:solidFill>
                <a:latin typeface="Calibri"/>
              </a:rPr>
              <a:t>Report every injury — including first-aid cases — to the EHS Department and the site medic.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4400" y="4422139"/>
            <a:ext cx="10363200" cy="5041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1" i="0">
                <a:solidFill>
                  <a:srgbClr val="52177A"/>
                </a:solidFill>
                <a:latin typeface="Calibri"/>
              </a:rPr>
              <a:t>Fitness for work: a valid medical certificate is required; report any condition or medication that affects your ability to work safely. Mental health matters — stress, fatigue and personal problems affect safety; support is available from your supervisor and the site medic.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914400" y="6350000"/>
            <a:ext cx="330200" cy="0"/>
          </a:xfrm>
          <a:prstGeom prst="line">
            <a:avLst/>
          </a:prstGeom>
          <a:ln w="30480">
            <a:solidFill>
              <a:srgbClr val="00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1244600" y="6350000"/>
            <a:ext cx="10033000" cy="0"/>
          </a:xfrm>
          <a:prstGeom prst="line">
            <a:avLst/>
          </a:prstGeom>
          <a:ln w="10160">
            <a:solidFill>
              <a:srgbClr val="D5DD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914400" y="6451600"/>
            <a:ext cx="54610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 i="0">
                <a:solidFill>
                  <a:srgbClr val="6B7A88"/>
                </a:solidFill>
                <a:latin typeface="Calibri"/>
              </a:rPr>
              <a:t>KAZ-EHS-IND-001 · Rev. 07 · Management &amp; Staff EHS Induction · Restricted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334000" y="6451600"/>
            <a:ext cx="41910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850" b="0" i="0">
                <a:solidFill>
                  <a:srgbClr val="6B7A88"/>
                </a:solidFill>
                <a:latin typeface="Calibri"/>
              </a:rPr>
              <a:t>05 · High-Risk Activities and Occupational Health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890000" y="6451600"/>
            <a:ext cx="23876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50" b="0" i="0">
                <a:solidFill>
                  <a:srgbClr val="6B7A88"/>
                </a:solidFill>
                <a:latin typeface="Calibri"/>
              </a:rPr>
              <a:t>Slide 47 of 63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226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0099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76200"/>
            <a:ext cx="76200" cy="6781800"/>
          </a:xfrm>
          <a:prstGeom prst="rect">
            <a:avLst/>
          </a:prstGeom>
          <a:solidFill>
            <a:srgbClr val="0099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8585200" y="304800"/>
            <a:ext cx="3302000" cy="1041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pic>
        <p:nvPicPr>
          <p:cNvPr id="6" name="Picture 5" descr="siemens_energy_244x74_rgb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6800" y="381000"/>
            <a:ext cx="3098800" cy="9398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219200" y="1625600"/>
            <a:ext cx="3810000" cy="1905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0" b="1" i="0">
                <a:solidFill>
                  <a:srgbClr val="183851"/>
                </a:solidFill>
                <a:latin typeface="Calibri"/>
              </a:rPr>
              <a:t>06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19200" y="3632200"/>
            <a:ext cx="9652000" cy="523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200" b="1" i="0">
                <a:solidFill>
                  <a:srgbClr val="FFFFFF"/>
                </a:solidFill>
                <a:latin typeface="Calibri"/>
              </a:rPr>
              <a:t>Environment, Emergency and Security</a:t>
            </a:r>
          </a:p>
        </p:txBody>
      </p:sp>
      <p:sp>
        <p:nvSpPr>
          <p:cNvPr id="9" name="Rectangle 8"/>
          <p:cNvSpPr/>
          <p:nvPr/>
        </p:nvSpPr>
        <p:spPr>
          <a:xfrm>
            <a:off x="1219200" y="4267200"/>
            <a:ext cx="1219200" cy="38100"/>
          </a:xfrm>
          <a:prstGeom prst="rect">
            <a:avLst/>
          </a:prstGeom>
          <a:solidFill>
            <a:srgbClr val="0099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219200" y="4470400"/>
            <a:ext cx="9144000" cy="6583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0" i="0">
                <a:solidFill>
                  <a:srgbClr val="9FD8D8"/>
                </a:solidFill>
                <a:latin typeface="Calibri"/>
              </a:rPr>
              <a:t>Protecting the environment, responding to emergencies, security and the consequences of breaking the rules.</a:t>
            </a:r>
          </a:p>
          <a:p>
            <a:pPr algn="r" rtl="1"/>
            <a:r>
              <a:rPr sz="1300">
                <a:solidFill>
                  <a:srgbClr val="333F4C"/>
                </a:solidFill>
                <a:latin typeface="Calibri"/>
              </a:rPr>
              <a:t>حماية البيئة والاستجابة للطوارئ والأمن وعواقب كسر القواعد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19200" y="5440680"/>
            <a:ext cx="9906000" cy="584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150" b="0" i="0">
                <a:solidFill>
                  <a:srgbClr val="8FA8BC"/>
                </a:solidFill>
                <a:latin typeface="Calibri"/>
              </a:rPr>
              <a:t>Environment  ·  Waste  ·  Fire  ·  Emergency  ·  Incident reporting  ·  Security  ·  Driving  ·  Penalties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19200" y="5943600"/>
            <a:ext cx="6350000" cy="254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C8399"/>
                </a:solidFill>
                <a:latin typeface="Calibri"/>
              </a:rPr>
              <a:t>KAZ-EHS-IND-001 · Rev. 07 · Restricted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20000" y="5943600"/>
            <a:ext cx="3505200" cy="254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C8399"/>
                </a:solidFill>
                <a:latin typeface="Calibri"/>
              </a:rPr>
              <a:t>Slide 48 of 63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0099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pic>
        <p:nvPicPr>
          <p:cNvPr id="3" name="Picture 2" descr="siemens_energy_100x31_rgb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07600" y="381000"/>
            <a:ext cx="1270000" cy="3937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4400" y="355600"/>
            <a:ext cx="8763000" cy="190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1" i="0">
                <a:solidFill>
                  <a:srgbClr val="009999"/>
                </a:solidFill>
                <a:latin typeface="Calibri"/>
              </a:rPr>
              <a:t>CHAPTER 06  ·  ENVIRONMENT, EMERGENCY AND SECURITY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584200"/>
            <a:ext cx="8890000" cy="47053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700" b="1" i="0">
                <a:solidFill>
                  <a:srgbClr val="12263A"/>
                </a:solidFill>
                <a:latin typeface="Calibri"/>
              </a:rPr>
              <a:t>Environmental Protection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092834"/>
            <a:ext cx="8890000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 i="0">
                <a:solidFill>
                  <a:srgbClr val="6B7A88"/>
                </a:solidFill>
                <a:latin typeface="Calibri"/>
              </a:rPr>
              <a:t>🌱 Prevent pollution — it is part of every task</a:t>
            </a:r>
          </a:p>
          <a:p>
            <a:pPr algn="r" rtl="1"/>
            <a:r>
              <a:rPr sz="1200">
                <a:solidFill>
                  <a:srgbClr val="333F4C"/>
                </a:solidFill>
                <a:latin typeface="Calibri"/>
              </a:rPr>
              <a:t>لا انسكابات · سجل المواد · البيئة جزء من كل مهمة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914400" y="1700784"/>
            <a:ext cx="1219200" cy="0"/>
          </a:xfrm>
          <a:prstGeom prst="line">
            <a:avLst/>
          </a:prstGeom>
          <a:ln w="30480">
            <a:solidFill>
              <a:srgbClr val="00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2133600" y="1709928"/>
            <a:ext cx="9144000" cy="0"/>
          </a:xfrm>
          <a:prstGeom prst="line">
            <a:avLst/>
          </a:prstGeom>
          <a:ln w="11430">
            <a:solidFill>
              <a:srgbClr val="D5DD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914400" y="1755648"/>
            <a:ext cx="2032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1" i="0">
                <a:solidFill>
                  <a:srgbClr val="009999"/>
                </a:solidFill>
                <a:latin typeface="Calibri"/>
              </a:rPr>
              <a:t>▪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7600" y="1755648"/>
            <a:ext cx="10160000" cy="2834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0" i="0">
                <a:solidFill>
                  <a:srgbClr val="333F4C"/>
                </a:solidFill>
                <a:latin typeface="Calibri"/>
              </a:rPr>
              <a:t>No spill of oil, fuel, chemical or concrete washwater to soil, drains or watercourses.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093976"/>
            <a:ext cx="2032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1" i="0">
                <a:solidFill>
                  <a:srgbClr val="009999"/>
                </a:solidFill>
                <a:latin typeface="Calibri"/>
              </a:rPr>
              <a:t>▪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17600" y="2093976"/>
            <a:ext cx="10160000" cy="5394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0" i="0">
                <a:solidFill>
                  <a:srgbClr val="333F4C"/>
                </a:solidFill>
                <a:latin typeface="Calibri"/>
              </a:rPr>
              <a:t>Use drip trays, secondary containment, funnels and spill kits; keep spill kits stocked and accessible.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2688336"/>
            <a:ext cx="2032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1" i="0">
                <a:solidFill>
                  <a:srgbClr val="009999"/>
                </a:solidFill>
                <a:latin typeface="Calibri"/>
              </a:rPr>
              <a:t>▪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17600" y="2688336"/>
            <a:ext cx="10160000" cy="2834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0" i="0">
                <a:solidFill>
                  <a:srgbClr val="333F4C"/>
                </a:solidFill>
                <a:latin typeface="Calibri"/>
              </a:rPr>
              <a:t>Dust suppression on unpaved roads and during cutting, grinding or excavation.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3026664"/>
            <a:ext cx="2032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1" i="0">
                <a:solidFill>
                  <a:srgbClr val="009999"/>
                </a:solidFill>
                <a:latin typeface="Calibri"/>
              </a:rPr>
              <a:t>▪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17600" y="3026664"/>
            <a:ext cx="10160000" cy="5394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0" i="0">
                <a:solidFill>
                  <a:srgbClr val="333F4C"/>
                </a:solidFill>
                <a:latin typeface="Calibri"/>
              </a:rPr>
              <a:t>Control noise and vibration through plant selection and work methods; respect site noise limits.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3621024"/>
            <a:ext cx="2032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1" i="0">
                <a:solidFill>
                  <a:srgbClr val="009999"/>
                </a:solidFill>
                <a:latin typeface="Calibri"/>
              </a:rPr>
              <a:t>▪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7600" y="3621024"/>
            <a:ext cx="10160000" cy="5394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0" i="0">
                <a:solidFill>
                  <a:srgbClr val="333F4C"/>
                </a:solidFill>
                <a:latin typeface="Calibri"/>
              </a:rPr>
              <a:t>Chemicals: no substance on site without a Safety Data Sheet (SDS) and registration in the electronic substance register.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4215384"/>
            <a:ext cx="2032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1" i="0">
                <a:solidFill>
                  <a:srgbClr val="009999"/>
                </a:solidFill>
                <a:latin typeface="Calibri"/>
              </a:rPr>
              <a:t>▪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17600" y="4215384"/>
            <a:ext cx="10160000" cy="2834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0" i="0">
                <a:solidFill>
                  <a:srgbClr val="333F4C"/>
                </a:solidFill>
                <a:latin typeface="Calibri"/>
              </a:rPr>
              <a:t>Asbestos and PCBs are prohibited on site — report any suspected material immediately.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" y="4553712"/>
            <a:ext cx="2032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1" i="0">
                <a:solidFill>
                  <a:srgbClr val="009999"/>
                </a:solidFill>
                <a:latin typeface="Calibri"/>
              </a:rPr>
              <a:t>▪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17600" y="4553712"/>
            <a:ext cx="10160000" cy="2834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0" i="0">
                <a:solidFill>
                  <a:srgbClr val="333F4C"/>
                </a:solidFill>
                <a:latin typeface="Calibri"/>
              </a:rPr>
              <a:t>Protect flora, fauna and heritage: no uncontrolled clearing, no hunting, no littering.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4400" y="4892040"/>
            <a:ext cx="2032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1" i="0">
                <a:solidFill>
                  <a:srgbClr val="009999"/>
                </a:solidFill>
                <a:latin typeface="Calibri"/>
              </a:rPr>
              <a:t>▪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17600" y="4892040"/>
            <a:ext cx="10160000" cy="5394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0" i="0">
                <a:solidFill>
                  <a:srgbClr val="333F4C"/>
                </a:solidFill>
                <a:latin typeface="Calibri"/>
              </a:rPr>
              <a:t>Report environmental incidents (spills, leaks, uncontrolled emissions) immediately — they are EHS incidents.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914400" y="6350000"/>
            <a:ext cx="330200" cy="0"/>
          </a:xfrm>
          <a:prstGeom prst="line">
            <a:avLst/>
          </a:prstGeom>
          <a:ln w="30480">
            <a:solidFill>
              <a:srgbClr val="00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1244600" y="6350000"/>
            <a:ext cx="10033000" cy="0"/>
          </a:xfrm>
          <a:prstGeom prst="line">
            <a:avLst/>
          </a:prstGeom>
          <a:ln w="10160">
            <a:solidFill>
              <a:srgbClr val="D5DD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914400" y="6451600"/>
            <a:ext cx="54610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 i="0">
                <a:solidFill>
                  <a:srgbClr val="6B7A88"/>
                </a:solidFill>
                <a:latin typeface="Calibri"/>
              </a:rPr>
              <a:t>KAZ-EHS-IND-001 · Rev. 07 · Management &amp; Staff EHS Induction · Restricted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334000" y="6451600"/>
            <a:ext cx="41910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850" b="0" i="0">
                <a:solidFill>
                  <a:srgbClr val="6B7A88"/>
                </a:solidFill>
                <a:latin typeface="Calibri"/>
              </a:rPr>
              <a:t>06 · Environment, Emergency and Security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890000" y="6451600"/>
            <a:ext cx="23876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50" b="0" i="0">
                <a:solidFill>
                  <a:srgbClr val="6B7A88"/>
                </a:solidFill>
                <a:latin typeface="Calibri"/>
              </a:rPr>
              <a:t>Slide 49 of 63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0099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pic>
        <p:nvPicPr>
          <p:cNvPr id="3" name="Picture 2" descr="siemens_energy_100x31_rgb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07600" y="381000"/>
            <a:ext cx="1270000" cy="3937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4400" y="355600"/>
            <a:ext cx="8763000" cy="190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1" i="0">
                <a:solidFill>
                  <a:srgbClr val="009999"/>
                </a:solidFill>
                <a:latin typeface="Calibri"/>
              </a:rPr>
              <a:t>CHAPTER 06  ·  ENVIRONMENT, EMERGENCY AND SECURITY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584200"/>
            <a:ext cx="8890000" cy="47053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700" b="1" i="0">
                <a:solidFill>
                  <a:srgbClr val="12263A"/>
                </a:solidFill>
                <a:latin typeface="Calibri"/>
              </a:rPr>
              <a:t>Waste Management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092834"/>
            <a:ext cx="8890000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 i="0">
                <a:solidFill>
                  <a:srgbClr val="6B7A88"/>
                </a:solidFill>
                <a:latin typeface="Calibri"/>
              </a:rPr>
              <a:t>♻️ Segregate at source — every day</a:t>
            </a:r>
          </a:p>
          <a:p>
            <a:pPr algn="r" rtl="1"/>
            <a:r>
              <a:rPr sz="1200">
                <a:solidFill>
                  <a:srgbClr val="333F4C"/>
                </a:solidFill>
                <a:latin typeface="Calibri"/>
              </a:rPr>
              <a:t>فرز من المصدر بالحاويات الملونة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914400" y="1700784"/>
            <a:ext cx="1219200" cy="0"/>
          </a:xfrm>
          <a:prstGeom prst="line">
            <a:avLst/>
          </a:prstGeom>
          <a:ln w="30480">
            <a:solidFill>
              <a:srgbClr val="00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2133600" y="1709928"/>
            <a:ext cx="9144000" cy="0"/>
          </a:xfrm>
          <a:prstGeom prst="line">
            <a:avLst/>
          </a:prstGeom>
          <a:ln w="11430">
            <a:solidFill>
              <a:srgbClr val="D5DD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914400" y="1755648"/>
            <a:ext cx="2032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1" i="0">
                <a:solidFill>
                  <a:srgbClr val="009999"/>
                </a:solidFill>
                <a:latin typeface="Calibri"/>
              </a:rPr>
              <a:t>▪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7600" y="1755648"/>
            <a:ext cx="6527800" cy="98371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0" i="0">
                <a:solidFill>
                  <a:srgbClr val="333F4C"/>
                </a:solidFill>
                <a:latin typeface="Calibri"/>
              </a:rPr>
              <a:t>Segregate at source into the colour-coded containers: 🟨 yellow = spill kit · 🟥 red = hazardous waste · ⬛ black = general waste · 🟦 blue = paper &amp; cardboard · 🟩 green = glass / recyclable · 🟫 brown = organic waste.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794229"/>
            <a:ext cx="2032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1" i="0">
                <a:solidFill>
                  <a:srgbClr val="009999"/>
                </a:solidFill>
                <a:latin typeface="Calibri"/>
              </a:rPr>
              <a:t>▪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17600" y="2794229"/>
            <a:ext cx="6527800" cy="50468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0" i="0">
                <a:solidFill>
                  <a:srgbClr val="333F4C"/>
                </a:solidFill>
                <a:latin typeface="Calibri"/>
              </a:rPr>
              <a:t>Hazardous waste (oils, filters, batteries, chemicals, e-waste) is stored in labelled, covered, bunded areas.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3353783"/>
            <a:ext cx="2032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1" i="0">
                <a:solidFill>
                  <a:srgbClr val="009999"/>
                </a:solidFill>
                <a:latin typeface="Calibri"/>
              </a:rPr>
              <a:t>▪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17600" y="3353783"/>
            <a:ext cx="6527800" cy="50468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0" i="0">
                <a:solidFill>
                  <a:srgbClr val="333F4C"/>
                </a:solidFill>
                <a:latin typeface="Calibri"/>
              </a:rPr>
              <a:t>Hazardous waste leaves site only with MOTAT records and a licensed transporter.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3913337"/>
            <a:ext cx="2032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1" i="0">
                <a:solidFill>
                  <a:srgbClr val="009999"/>
                </a:solidFill>
                <a:latin typeface="Calibri"/>
              </a:rPr>
              <a:t>▪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17600" y="3913337"/>
            <a:ext cx="6527800" cy="50468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0" i="0">
                <a:solidFill>
                  <a:srgbClr val="333F4C"/>
                </a:solidFill>
                <a:latin typeface="Calibri"/>
              </a:rPr>
              <a:t>Never burn waste, never mix hazardous with general waste, never dump into trenches or open ground.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4472890"/>
            <a:ext cx="2032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1" i="0">
                <a:solidFill>
                  <a:srgbClr val="009999"/>
                </a:solidFill>
                <a:latin typeface="Calibri"/>
              </a:rPr>
              <a:t>▪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7600" y="4472890"/>
            <a:ext cx="6527800" cy="26517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0" i="0">
                <a:solidFill>
                  <a:srgbClr val="333F4C"/>
                </a:solidFill>
                <a:latin typeface="Calibri"/>
              </a:rPr>
              <a:t>Material and waste removal requires a Material Gate Pass.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4792930"/>
            <a:ext cx="2032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1" i="0">
                <a:solidFill>
                  <a:srgbClr val="009999"/>
                </a:solidFill>
                <a:latin typeface="Calibri"/>
              </a:rPr>
              <a:t>▪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17600" y="4792930"/>
            <a:ext cx="6527800" cy="50468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0" i="0">
                <a:solidFill>
                  <a:srgbClr val="333F4C"/>
                </a:solidFill>
                <a:latin typeface="Calibri"/>
              </a:rPr>
              <a:t>Keep waste areas tidy, marked and away from drains; report overflowing or damaged bins.</a:t>
            </a:r>
          </a:p>
        </p:txBody>
      </p:sp>
      <p:pic>
        <p:nvPicPr>
          <p:cNvPr id="21" name="Picture 20" descr="12_waste_management_256x268_rgb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26400" y="1752600"/>
            <a:ext cx="3251200" cy="3403600"/>
          </a:xfrm>
          <a:prstGeom prst="rect">
            <a:avLst/>
          </a:prstGeom>
        </p:spPr>
      </p:pic>
      <p:sp>
        <p:nvSpPr>
          <p:cNvPr id="22" name="Rectangle 21"/>
          <p:cNvSpPr/>
          <p:nvPr/>
        </p:nvSpPr>
        <p:spPr>
          <a:xfrm>
            <a:off x="8026400" y="1752600"/>
            <a:ext cx="3251200" cy="3403600"/>
          </a:xfrm>
          <a:prstGeom prst="rect">
            <a:avLst/>
          </a:prstGeom>
          <a:noFill/>
          <a:ln w="10160">
            <a:solidFill>
              <a:srgbClr val="D5DD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8026400" y="5156200"/>
            <a:ext cx="3251200" cy="381000"/>
          </a:xfrm>
          <a:prstGeom prst="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8128000" y="5219700"/>
            <a:ext cx="3048000" cy="254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0" i="0">
                <a:solidFill>
                  <a:srgbClr val="12263A"/>
                </a:solidFill>
                <a:latin typeface="Calibri"/>
              </a:rPr>
              <a:t>Segregated bins · bunded store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914400" y="6350000"/>
            <a:ext cx="330200" cy="0"/>
          </a:xfrm>
          <a:prstGeom prst="line">
            <a:avLst/>
          </a:prstGeom>
          <a:ln w="30480">
            <a:solidFill>
              <a:srgbClr val="00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1244600" y="6350000"/>
            <a:ext cx="10033000" cy="0"/>
          </a:xfrm>
          <a:prstGeom prst="line">
            <a:avLst/>
          </a:prstGeom>
          <a:ln w="10160">
            <a:solidFill>
              <a:srgbClr val="D5DD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914400" y="6451600"/>
            <a:ext cx="54610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 i="0">
                <a:solidFill>
                  <a:srgbClr val="6B7A88"/>
                </a:solidFill>
                <a:latin typeface="Calibri"/>
              </a:rPr>
              <a:t>KAZ-EHS-IND-001 · Rev. 07 · Management &amp; Staff EHS Induction · Restricted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334000" y="6451600"/>
            <a:ext cx="41910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850" b="0" i="0">
                <a:solidFill>
                  <a:srgbClr val="6B7A88"/>
                </a:solidFill>
                <a:latin typeface="Calibri"/>
              </a:rPr>
              <a:t>06 · Environment, Emergency and Security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890000" y="6451600"/>
            <a:ext cx="23876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50" b="0" i="0">
                <a:solidFill>
                  <a:srgbClr val="6B7A88"/>
                </a:solidFill>
                <a:latin typeface="Calibri"/>
              </a:rPr>
              <a:t>Slide 50 of 63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0099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pic>
        <p:nvPicPr>
          <p:cNvPr id="3" name="Picture 2" descr="siemens_energy_100x31_rgb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07600" y="381000"/>
            <a:ext cx="1270000" cy="3937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4400" y="355600"/>
            <a:ext cx="8763000" cy="190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1" i="0">
                <a:solidFill>
                  <a:srgbClr val="009999"/>
                </a:solidFill>
                <a:latin typeface="Calibri"/>
              </a:rPr>
              <a:t>CHAPTER 06  ·  ENVIRONMENT, EMERGENCY AND SECURITY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584200"/>
            <a:ext cx="8890000" cy="47053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700" b="1" i="0">
                <a:solidFill>
                  <a:srgbClr val="12263A"/>
                </a:solidFill>
                <a:latin typeface="Calibri"/>
              </a:rPr>
              <a:t>Fire Safety and Firefighting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092834"/>
            <a:ext cx="8890000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 i="0">
                <a:solidFill>
                  <a:srgbClr val="6B7A88"/>
                </a:solidFill>
                <a:latin typeface="Calibri"/>
              </a:rPr>
              <a:t>🧯 Classes, extinguishers and the PASS method</a:t>
            </a:r>
          </a:p>
          <a:p>
            <a:pPr algn="r" rtl="1"/>
            <a:r>
              <a:rPr sz="1200">
                <a:solidFill>
                  <a:srgbClr val="333F4C"/>
                </a:solidFill>
                <a:latin typeface="Calibri"/>
              </a:rPr>
              <a:t>اعرف نوع الحريق وطفايته وطريقة PASS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914400" y="1700784"/>
            <a:ext cx="1219200" cy="0"/>
          </a:xfrm>
          <a:prstGeom prst="line">
            <a:avLst/>
          </a:prstGeom>
          <a:ln w="30480">
            <a:solidFill>
              <a:srgbClr val="00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2133600" y="1709928"/>
            <a:ext cx="9144000" cy="0"/>
          </a:xfrm>
          <a:prstGeom prst="line">
            <a:avLst/>
          </a:prstGeom>
          <a:ln w="11430">
            <a:solidFill>
              <a:srgbClr val="D5DD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914400" y="1755648"/>
            <a:ext cx="2032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 i="0">
                <a:solidFill>
                  <a:srgbClr val="009999"/>
                </a:solidFill>
                <a:latin typeface="Calibri"/>
              </a:rPr>
              <a:t>▪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7600" y="1755648"/>
            <a:ext cx="6527800" cy="48728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0" i="0">
                <a:solidFill>
                  <a:srgbClr val="333F4C"/>
                </a:solidFill>
                <a:latin typeface="Calibri"/>
              </a:rPr>
              <a:t>Class A — wood, paper, cloth, rubber, plastics → water or foam (DCP is acceptable but less effective).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297798"/>
            <a:ext cx="2032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 i="0">
                <a:solidFill>
                  <a:srgbClr val="009999"/>
                </a:solidFill>
                <a:latin typeface="Calibri"/>
              </a:rPr>
              <a:t>▪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17600" y="2297798"/>
            <a:ext cx="6527800" cy="25603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0" i="0">
                <a:solidFill>
                  <a:srgbClr val="333F4C"/>
                </a:solidFill>
                <a:latin typeface="Calibri"/>
              </a:rPr>
              <a:t>Class B — gasoline, kerosene, paint, propane → foam, DCP, CO2.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2608694"/>
            <a:ext cx="2032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 i="0">
                <a:solidFill>
                  <a:srgbClr val="009999"/>
                </a:solidFill>
                <a:latin typeface="Calibri"/>
              </a:rPr>
              <a:t>▪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17600" y="2608694"/>
            <a:ext cx="6527800" cy="48728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0" i="0">
                <a:solidFill>
                  <a:srgbClr val="333F4C"/>
                </a:solidFill>
                <a:latin typeface="Calibri"/>
              </a:rPr>
              <a:t>Class C — energised electrical equipment → CO2 or clean agent, plus de-energise the supply. Never use water.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3150845"/>
            <a:ext cx="2032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 i="0">
                <a:solidFill>
                  <a:srgbClr val="009999"/>
                </a:solidFill>
                <a:latin typeface="Calibri"/>
              </a:rPr>
              <a:t>▪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17600" y="3150845"/>
            <a:ext cx="6527800" cy="71854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0" i="0">
                <a:solidFill>
                  <a:srgbClr val="333F4C"/>
                </a:solidFill>
                <a:latin typeface="Calibri"/>
              </a:rPr>
              <a:t>Class D — metals such as magnesium, titanium and sodium → special metal powder (graphite or sodium chloride). Never water or standard DCP.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3924250"/>
            <a:ext cx="2032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 i="0">
                <a:solidFill>
                  <a:srgbClr val="009999"/>
                </a:solidFill>
                <a:latin typeface="Calibri"/>
              </a:rPr>
              <a:t>▪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7600" y="3924250"/>
            <a:ext cx="6527800" cy="25603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0" i="0">
                <a:solidFill>
                  <a:srgbClr val="333F4C"/>
                </a:solidFill>
                <a:latin typeface="Calibri"/>
              </a:rPr>
              <a:t>Class K / F — cooking oils and fats → wet chemical (camp kitchen).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4235146"/>
            <a:ext cx="2032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 i="0">
                <a:solidFill>
                  <a:srgbClr val="009999"/>
                </a:solidFill>
                <a:latin typeface="Calibri"/>
              </a:rPr>
              <a:t>▪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17600" y="4235146"/>
            <a:ext cx="6527800" cy="48728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0" i="0">
                <a:solidFill>
                  <a:srgbClr val="333F4C"/>
                </a:solidFill>
                <a:latin typeface="Calibri"/>
              </a:rPr>
              <a:t>PASS method: Pull the pin · Aim at the base of the fire · Squeeze the handle · Sweep side to side.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" y="4777297"/>
            <a:ext cx="2032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 i="0">
                <a:solidFill>
                  <a:srgbClr val="009999"/>
                </a:solidFill>
                <a:latin typeface="Calibri"/>
              </a:rPr>
              <a:t>▪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17600" y="4777297"/>
            <a:ext cx="6527800" cy="48728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0" i="0">
                <a:solidFill>
                  <a:srgbClr val="333F4C"/>
                </a:solidFill>
                <a:latin typeface="Calibri"/>
              </a:rPr>
              <a:t>For CO2 extinguishers hold the insulated horn, never the metal parts.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4400" y="5319448"/>
            <a:ext cx="2032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 i="0">
                <a:solidFill>
                  <a:srgbClr val="009999"/>
                </a:solidFill>
                <a:latin typeface="Calibri"/>
              </a:rPr>
              <a:t>▪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17600" y="5319448"/>
            <a:ext cx="6527800" cy="71854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0" i="0">
                <a:solidFill>
                  <a:srgbClr val="333F4C"/>
                </a:solidFill>
                <a:latin typeface="Calibri"/>
              </a:rPr>
              <a:t>Only fight a small fire if you are trained and have a clear escape route. Otherwise raise the alarm and evacuate. Always alarm first.</a:t>
            </a:r>
          </a:p>
        </p:txBody>
      </p:sp>
      <p:pic>
        <p:nvPicPr>
          <p:cNvPr id="25" name="Picture 24" descr="13_fire_extinguisher_256x268_rgb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26400" y="1752600"/>
            <a:ext cx="3251200" cy="3403600"/>
          </a:xfrm>
          <a:prstGeom prst="rect">
            <a:avLst/>
          </a:prstGeom>
        </p:spPr>
      </p:pic>
      <p:sp>
        <p:nvSpPr>
          <p:cNvPr id="26" name="Rectangle 25"/>
          <p:cNvSpPr/>
          <p:nvPr/>
        </p:nvSpPr>
        <p:spPr>
          <a:xfrm>
            <a:off x="8026400" y="1752600"/>
            <a:ext cx="3251200" cy="3403600"/>
          </a:xfrm>
          <a:prstGeom prst="rect">
            <a:avLst/>
          </a:prstGeom>
          <a:noFill/>
          <a:ln w="10160">
            <a:solidFill>
              <a:srgbClr val="D5DD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8026400" y="5156200"/>
            <a:ext cx="3251200" cy="381000"/>
          </a:xfrm>
          <a:prstGeom prst="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8128000" y="5219700"/>
            <a:ext cx="3048000" cy="254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0" i="0">
                <a:solidFill>
                  <a:srgbClr val="12263A"/>
                </a:solidFill>
                <a:latin typeface="Calibri"/>
              </a:rPr>
              <a:t>Aim at the base · keep an escape route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914400" y="6350000"/>
            <a:ext cx="330200" cy="0"/>
          </a:xfrm>
          <a:prstGeom prst="line">
            <a:avLst/>
          </a:prstGeom>
          <a:ln w="30480">
            <a:solidFill>
              <a:srgbClr val="00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1244600" y="6350000"/>
            <a:ext cx="10033000" cy="0"/>
          </a:xfrm>
          <a:prstGeom prst="line">
            <a:avLst/>
          </a:prstGeom>
          <a:ln w="10160">
            <a:solidFill>
              <a:srgbClr val="D5DD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TextBox 30"/>
          <p:cNvSpPr txBox="1"/>
          <p:nvPr/>
        </p:nvSpPr>
        <p:spPr>
          <a:xfrm>
            <a:off x="914400" y="6451600"/>
            <a:ext cx="54610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 i="0">
                <a:solidFill>
                  <a:srgbClr val="6B7A88"/>
                </a:solidFill>
                <a:latin typeface="Calibri"/>
              </a:rPr>
              <a:t>KAZ-EHS-IND-001 · Rev. 07 · Management &amp; Staff EHS Induction · Restricted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334000" y="6451600"/>
            <a:ext cx="41910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850" b="0" i="0">
                <a:solidFill>
                  <a:srgbClr val="6B7A88"/>
                </a:solidFill>
                <a:latin typeface="Calibri"/>
              </a:rPr>
              <a:t>06 · Environment, Emergency and Security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890000" y="6451600"/>
            <a:ext cx="23876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50" b="0" i="0">
                <a:solidFill>
                  <a:srgbClr val="6B7A88"/>
                </a:solidFill>
                <a:latin typeface="Calibri"/>
              </a:rPr>
              <a:t>Slide 51 of 63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0099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pic>
        <p:nvPicPr>
          <p:cNvPr id="3" name="Picture 2" descr="siemens_energy_100x31_rgb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07600" y="381000"/>
            <a:ext cx="1270000" cy="3937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4400" y="355600"/>
            <a:ext cx="8763000" cy="190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1" i="0">
                <a:solidFill>
                  <a:srgbClr val="009999"/>
                </a:solidFill>
                <a:latin typeface="Calibri"/>
              </a:rPr>
              <a:t>CHAPTER 06  ·  ENVIRONMENT, EMERGENCY AND SECURITY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584200"/>
            <a:ext cx="8890000" cy="47053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700" b="1" i="0">
                <a:solidFill>
                  <a:srgbClr val="12263A"/>
                </a:solidFill>
                <a:latin typeface="Calibri"/>
              </a:rPr>
              <a:t>Emergency Response and Evacuation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092834"/>
            <a:ext cx="8890000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 i="0">
                <a:solidFill>
                  <a:srgbClr val="6B7A88"/>
                </a:solidFill>
                <a:latin typeface="Calibri"/>
              </a:rPr>
              <a:t>🚨 Alarm · assembly · head count</a:t>
            </a:r>
          </a:p>
          <a:p>
            <a:pPr algn="r" rtl="1"/>
            <a:r>
              <a:rPr sz="1200">
                <a:solidFill>
                  <a:srgbClr val="333F4C"/>
                </a:solidFill>
                <a:latin typeface="Calibri"/>
              </a:rPr>
              <a:t>الإنذار المستمر = إيقاف العمل والتوجه إلى نقطة التجمع وتسجيل الحضور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914400" y="1700784"/>
            <a:ext cx="1219200" cy="0"/>
          </a:xfrm>
          <a:prstGeom prst="line">
            <a:avLst/>
          </a:prstGeom>
          <a:ln w="30480">
            <a:solidFill>
              <a:srgbClr val="00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2133600" y="1709928"/>
            <a:ext cx="9144000" cy="0"/>
          </a:xfrm>
          <a:prstGeom prst="line">
            <a:avLst/>
          </a:prstGeom>
          <a:ln w="11430">
            <a:solidFill>
              <a:srgbClr val="D5DD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914400" y="1755648"/>
            <a:ext cx="2032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1" i="0">
                <a:solidFill>
                  <a:srgbClr val="009999"/>
                </a:solidFill>
                <a:latin typeface="Calibri"/>
              </a:rPr>
              <a:t>▪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7600" y="1755648"/>
            <a:ext cx="6527800" cy="50468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0" i="0">
                <a:solidFill>
                  <a:srgbClr val="333F4C"/>
                </a:solidFill>
                <a:latin typeface="Calibri"/>
              </a:rPr>
              <a:t>Alarm signals: continuous siren = evacuate · intermittent = stand by · all-clear = return to work.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315201"/>
            <a:ext cx="2032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1" i="0">
                <a:solidFill>
                  <a:srgbClr val="009999"/>
                </a:solidFill>
                <a:latin typeface="Calibri"/>
              </a:rPr>
              <a:t>▪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17600" y="2315201"/>
            <a:ext cx="6527800" cy="50468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0" i="0">
                <a:solidFill>
                  <a:srgbClr val="333F4C"/>
                </a:solidFill>
                <a:latin typeface="Calibri"/>
              </a:rPr>
              <a:t>On evacuation: stop the job, isolate your equipment, proceed to the nearest assembly point.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2874755"/>
            <a:ext cx="2032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1" i="0">
                <a:solidFill>
                  <a:srgbClr val="009999"/>
                </a:solidFill>
                <a:latin typeface="Calibri"/>
              </a:rPr>
              <a:t>▪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17600" y="2874755"/>
            <a:ext cx="6527800" cy="74420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0" i="0">
                <a:solidFill>
                  <a:srgbClr val="333F4C"/>
                </a:solidFill>
                <a:latin typeface="Calibri"/>
              </a:rPr>
              <a:t>Report to your supervisor or the EHS Department at the assembly point for the head count; report any missing person immediately. The camp assembly point is inside the camp.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3673823"/>
            <a:ext cx="2032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1" i="0">
                <a:solidFill>
                  <a:srgbClr val="009999"/>
                </a:solidFill>
                <a:latin typeface="Calibri"/>
              </a:rPr>
              <a:t>▪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17600" y="3673823"/>
            <a:ext cx="6527800" cy="50468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0" i="0">
                <a:solidFill>
                  <a:srgbClr val="333F4C"/>
                </a:solidFill>
                <a:latin typeface="Calibri"/>
              </a:rPr>
              <a:t>Do not use vehicles; do not block emergency routes; keep the gate clear for emergency services.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4233377"/>
            <a:ext cx="2032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1" i="0">
                <a:solidFill>
                  <a:srgbClr val="009999"/>
                </a:solidFill>
                <a:latin typeface="Calibri"/>
              </a:rPr>
              <a:t>▪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7600" y="4233377"/>
            <a:ext cx="6527800" cy="50468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0" i="0">
                <a:solidFill>
                  <a:srgbClr val="333F4C"/>
                </a:solidFill>
                <a:latin typeface="Calibri"/>
              </a:rPr>
              <a:t>Do not leave or return to the area until instructed by the emergency controller.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4792930"/>
            <a:ext cx="2032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1" i="0">
                <a:solidFill>
                  <a:srgbClr val="009999"/>
                </a:solidFill>
                <a:latin typeface="Calibri"/>
              </a:rPr>
              <a:t>▪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17600" y="4792930"/>
            <a:ext cx="6527800" cy="74420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0" i="0">
                <a:solidFill>
                  <a:srgbClr val="333F4C"/>
                </a:solidFill>
                <a:latin typeface="Calibri"/>
              </a:rPr>
              <a:t>For security incidents (threat, intrusion, civil disturbance) follow the same assembly principle and the security team's instructions.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" y="5591998"/>
            <a:ext cx="2032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1" i="0">
                <a:solidFill>
                  <a:srgbClr val="009999"/>
                </a:solidFill>
                <a:latin typeface="Calibri"/>
              </a:rPr>
              <a:t>▪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17600" y="5591998"/>
            <a:ext cx="6527800" cy="50468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0" i="0">
                <a:solidFill>
                  <a:srgbClr val="333F4C"/>
                </a:solidFill>
                <a:latin typeface="Calibri"/>
              </a:rPr>
              <a:t>Fire wardens sweep their areas, including visitors and subcontractor crews.</a:t>
            </a:r>
          </a:p>
        </p:txBody>
      </p:sp>
      <p:pic>
        <p:nvPicPr>
          <p:cNvPr id="23" name="Picture 22" descr="11_emergency_assembly_256x268_rgb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26400" y="1752600"/>
            <a:ext cx="3251200" cy="3403600"/>
          </a:xfrm>
          <a:prstGeom prst="rect">
            <a:avLst/>
          </a:prstGeom>
        </p:spPr>
      </p:pic>
      <p:sp>
        <p:nvSpPr>
          <p:cNvPr id="24" name="Rectangle 23"/>
          <p:cNvSpPr/>
          <p:nvPr/>
        </p:nvSpPr>
        <p:spPr>
          <a:xfrm>
            <a:off x="8026400" y="1752600"/>
            <a:ext cx="3251200" cy="3403600"/>
          </a:xfrm>
          <a:prstGeom prst="rect">
            <a:avLst/>
          </a:prstGeom>
          <a:noFill/>
          <a:ln w="10160">
            <a:solidFill>
              <a:srgbClr val="D5DD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8026400" y="5156200"/>
            <a:ext cx="3251200" cy="381000"/>
          </a:xfrm>
          <a:prstGeom prst="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8128000" y="5219700"/>
            <a:ext cx="3048000" cy="254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0" i="0">
                <a:solidFill>
                  <a:srgbClr val="12263A"/>
                </a:solidFill>
                <a:latin typeface="Calibri"/>
              </a:rPr>
              <a:t>Assembly point · roll call · clear routes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914400" y="6350000"/>
            <a:ext cx="330200" cy="0"/>
          </a:xfrm>
          <a:prstGeom prst="line">
            <a:avLst/>
          </a:prstGeom>
          <a:ln w="30480">
            <a:solidFill>
              <a:srgbClr val="00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1244600" y="6350000"/>
            <a:ext cx="10033000" cy="0"/>
          </a:xfrm>
          <a:prstGeom prst="line">
            <a:avLst/>
          </a:prstGeom>
          <a:ln w="10160">
            <a:solidFill>
              <a:srgbClr val="D5DD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>
            <a:off x="914400" y="6451600"/>
            <a:ext cx="54610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 i="0">
                <a:solidFill>
                  <a:srgbClr val="6B7A88"/>
                </a:solidFill>
                <a:latin typeface="Calibri"/>
              </a:rPr>
              <a:t>KAZ-EHS-IND-001 · Rev. 07 · Management &amp; Staff EHS Induction · Restricted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334000" y="6451600"/>
            <a:ext cx="41910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850" b="0" i="0">
                <a:solidFill>
                  <a:srgbClr val="6B7A88"/>
                </a:solidFill>
                <a:latin typeface="Calibri"/>
              </a:rPr>
              <a:t>06 · Environment, Emergency and Security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890000" y="6451600"/>
            <a:ext cx="23876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50" b="0" i="0">
                <a:solidFill>
                  <a:srgbClr val="6B7A88"/>
                </a:solidFill>
                <a:latin typeface="Calibri"/>
              </a:rPr>
              <a:t>Slide 52 of 63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0099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pic>
        <p:nvPicPr>
          <p:cNvPr id="3" name="Picture 2" descr="siemens_energy_100x31_rgb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07600" y="381000"/>
            <a:ext cx="1270000" cy="3937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4400" y="355600"/>
            <a:ext cx="8763000" cy="190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1" i="0">
                <a:solidFill>
                  <a:srgbClr val="009999"/>
                </a:solidFill>
                <a:latin typeface="Calibri"/>
              </a:rPr>
              <a:t>CHAPTER 06  ·  ENVIRONMENT, EMERGENCY AND SECURITY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584200"/>
            <a:ext cx="8890000" cy="47053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700" b="1" i="0">
                <a:solidFill>
                  <a:srgbClr val="12263A"/>
                </a:solidFill>
                <a:latin typeface="Calibri"/>
              </a:rPr>
              <a:t>Emergency Classification and Notification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092834"/>
            <a:ext cx="8890000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 i="0">
                <a:solidFill>
                  <a:srgbClr val="6B7A88"/>
                </a:solidFill>
                <a:latin typeface="Calibri"/>
              </a:rPr>
              <a:t>📢 Know the level — and who to tell</a:t>
            </a:r>
          </a:p>
          <a:p>
            <a:pPr algn="r" rtl="1"/>
            <a:r>
              <a:rPr sz="1200">
                <a:solidFill>
                  <a:srgbClr val="333F4C"/>
                </a:solidFill>
                <a:latin typeface="Calibri"/>
              </a:rPr>
              <a:t>ثلاثة مستويات · شفهي فورًا · كتابي خلال 24 ساعة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914400" y="1700784"/>
            <a:ext cx="1219200" cy="0"/>
          </a:xfrm>
          <a:prstGeom prst="line">
            <a:avLst/>
          </a:prstGeom>
          <a:ln w="30480">
            <a:solidFill>
              <a:srgbClr val="00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2133600" y="1709928"/>
            <a:ext cx="9144000" cy="0"/>
          </a:xfrm>
          <a:prstGeom prst="line">
            <a:avLst/>
          </a:prstGeom>
          <a:ln w="11430">
            <a:solidFill>
              <a:srgbClr val="D5DD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ctangle 8"/>
          <p:cNvSpPr/>
          <p:nvPr/>
        </p:nvSpPr>
        <p:spPr>
          <a:xfrm>
            <a:off x="914400" y="1955800"/>
            <a:ext cx="10363200" cy="431800"/>
          </a:xfrm>
          <a:prstGeom prst="rect">
            <a:avLst/>
          </a:prstGeom>
          <a:solidFill>
            <a:srgbClr val="1226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041400" y="2057400"/>
            <a:ext cx="1404112" cy="304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Level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699512" y="2057400"/>
            <a:ext cx="4616704" cy="304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Description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570215" y="2057400"/>
            <a:ext cx="3580384" cy="304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Notification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41400" y="2451100"/>
            <a:ext cx="1404112" cy="3683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333F4C"/>
                </a:solidFill>
                <a:latin typeface="Calibri"/>
              </a:rPr>
              <a:t>Level 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699512" y="2451100"/>
            <a:ext cx="4616704" cy="3683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333F4C"/>
                </a:solidFill>
                <a:latin typeface="Calibri"/>
              </a:rPr>
              <a:t>Minor injury or health effect, minor damage or minor environmental impact, manageable on site with site resources.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570215" y="2451100"/>
            <a:ext cx="3580384" cy="3683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333F4C"/>
                </a:solidFill>
                <a:latin typeface="Calibri"/>
              </a:rPr>
              <a:t>Supervisor → EHS → Site Manager (verbal immediately, written within 24 hours)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914400" y="2882900"/>
            <a:ext cx="10363200" cy="0"/>
          </a:xfrm>
          <a:prstGeom prst="line">
            <a:avLst/>
          </a:prstGeom>
          <a:ln w="7620">
            <a:solidFill>
              <a:srgbClr val="D5DD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ectangle 16"/>
          <p:cNvSpPr/>
          <p:nvPr/>
        </p:nvSpPr>
        <p:spPr>
          <a:xfrm>
            <a:off x="914400" y="2882900"/>
            <a:ext cx="10363200" cy="692150"/>
          </a:xfrm>
          <a:prstGeom prst="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1041400" y="2946400"/>
            <a:ext cx="1404112" cy="5651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333F4C"/>
                </a:solidFill>
                <a:latin typeface="Calibri"/>
              </a:rPr>
              <a:t>Level 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699512" y="2946400"/>
            <a:ext cx="4616704" cy="5651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333F4C"/>
                </a:solidFill>
                <a:latin typeface="Calibri"/>
              </a:rPr>
              <a:t>Significant event manageable locally with support from the Company or local authorities — major injury, local damage, local impact.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570215" y="2946400"/>
            <a:ext cx="3580384" cy="5651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333F4C"/>
                </a:solidFill>
                <a:latin typeface="Calibri"/>
              </a:rPr>
              <a:t>EHS → SE EHSMIP → Project Director + Client (immediately)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914400" y="3575050"/>
            <a:ext cx="10363200" cy="0"/>
          </a:xfrm>
          <a:prstGeom prst="line">
            <a:avLst/>
          </a:prstGeom>
          <a:ln w="7620">
            <a:solidFill>
              <a:srgbClr val="D5DD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1041400" y="3638550"/>
            <a:ext cx="1404112" cy="3683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333F4C"/>
                </a:solidFill>
                <a:latin typeface="Calibri"/>
              </a:rPr>
              <a:t>Level 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699512" y="3638550"/>
            <a:ext cx="4616704" cy="3683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333F4C"/>
                </a:solidFill>
                <a:latin typeface="Calibri"/>
              </a:rPr>
              <a:t>Major event or crisis beyond the contractor's control, with broader implications, requiring Company / corporate resources.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570215" y="3638550"/>
            <a:ext cx="3580384" cy="3683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333F4C"/>
                </a:solidFill>
                <a:latin typeface="Calibri"/>
              </a:rPr>
              <a:t>Project Director → SE Corporate / Regional Hub + Client (immediately)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914400" y="4070350"/>
            <a:ext cx="10363200" cy="0"/>
          </a:xfrm>
          <a:prstGeom prst="line">
            <a:avLst/>
          </a:prstGeom>
          <a:ln w="7620">
            <a:solidFill>
              <a:srgbClr val="D5DD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ectangle 25"/>
          <p:cNvSpPr/>
          <p:nvPr/>
        </p:nvSpPr>
        <p:spPr>
          <a:xfrm>
            <a:off x="914400" y="4070350"/>
            <a:ext cx="10363200" cy="692150"/>
          </a:xfrm>
          <a:prstGeom prst="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1041400" y="4133850"/>
            <a:ext cx="1404112" cy="5651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333F4C"/>
                </a:solidFill>
                <a:latin typeface="Calibri"/>
              </a:rPr>
              <a:t>Escalate immediately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699512" y="4133850"/>
            <a:ext cx="4616704" cy="5651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333F4C"/>
                </a:solidFill>
                <a:latin typeface="Calibri"/>
              </a:rPr>
              <a:t>Life-threatening injury, fatality, high-potential incident, major environmental release, security crisis — never treated as a locally managed event.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570215" y="4133850"/>
            <a:ext cx="3580384" cy="5651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333F4C"/>
                </a:solidFill>
                <a:latin typeface="Calibri"/>
              </a:rPr>
              <a:t>Verbal immediately · written within 24 hours · investigation report within 7 days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914400" y="4762500"/>
            <a:ext cx="10363200" cy="0"/>
          </a:xfrm>
          <a:prstGeom prst="line">
            <a:avLst/>
          </a:prstGeom>
          <a:ln w="7620">
            <a:solidFill>
              <a:srgbClr val="D5DD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Rectangle 30"/>
          <p:cNvSpPr/>
          <p:nvPr/>
        </p:nvSpPr>
        <p:spPr>
          <a:xfrm>
            <a:off x="914400" y="1955800"/>
            <a:ext cx="10363200" cy="2806700"/>
          </a:xfrm>
          <a:prstGeom prst="rect">
            <a:avLst/>
          </a:prstGeom>
          <a:noFill/>
          <a:ln w="10160">
            <a:solidFill>
              <a:srgbClr val="C3C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cxnSp>
        <p:nvCxnSpPr>
          <p:cNvPr id="32" name="Connector 31"/>
          <p:cNvCxnSpPr/>
          <p:nvPr/>
        </p:nvCxnSpPr>
        <p:spPr>
          <a:xfrm>
            <a:off x="914400" y="6350000"/>
            <a:ext cx="330200" cy="0"/>
          </a:xfrm>
          <a:prstGeom prst="line">
            <a:avLst/>
          </a:prstGeom>
          <a:ln w="30480">
            <a:solidFill>
              <a:srgbClr val="00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1244600" y="6350000"/>
            <a:ext cx="10033000" cy="0"/>
          </a:xfrm>
          <a:prstGeom prst="line">
            <a:avLst/>
          </a:prstGeom>
          <a:ln w="10160">
            <a:solidFill>
              <a:srgbClr val="D5DD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TextBox 33"/>
          <p:cNvSpPr txBox="1"/>
          <p:nvPr/>
        </p:nvSpPr>
        <p:spPr>
          <a:xfrm>
            <a:off x="914400" y="6451600"/>
            <a:ext cx="54610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 i="0">
                <a:solidFill>
                  <a:srgbClr val="6B7A88"/>
                </a:solidFill>
                <a:latin typeface="Calibri"/>
              </a:rPr>
              <a:t>KAZ-EHS-IND-001 · Rev. 07 · Management &amp; Staff EHS Induction · Restricted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334000" y="6451600"/>
            <a:ext cx="41910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850" b="0" i="0">
                <a:solidFill>
                  <a:srgbClr val="6B7A88"/>
                </a:solidFill>
                <a:latin typeface="Calibri"/>
              </a:rPr>
              <a:t>06 · Environment, Emergency and Security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890000" y="6451600"/>
            <a:ext cx="23876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50" b="0" i="0">
                <a:solidFill>
                  <a:srgbClr val="6B7A88"/>
                </a:solidFill>
                <a:latin typeface="Calibri"/>
              </a:rPr>
              <a:t>Slide 53 of 63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0099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pic>
        <p:nvPicPr>
          <p:cNvPr id="3" name="Picture 2" descr="siemens_energy_100x31_rgb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07600" y="381000"/>
            <a:ext cx="1270000" cy="3937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4400" y="355600"/>
            <a:ext cx="8763000" cy="190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1" i="0">
                <a:solidFill>
                  <a:srgbClr val="009999"/>
                </a:solidFill>
                <a:latin typeface="Calibri"/>
              </a:rPr>
              <a:t>CHAPTER 06  ·  ENVIRONMENT, EMERGENCY AND SECURITY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584200"/>
            <a:ext cx="8890000" cy="47053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700" b="1" i="0">
                <a:solidFill>
                  <a:srgbClr val="12263A"/>
                </a:solidFill>
                <a:latin typeface="Calibri"/>
              </a:rPr>
              <a:t>Emergency Contacts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092834"/>
            <a:ext cx="8890000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 i="0">
                <a:solidFill>
                  <a:srgbClr val="6B7A88"/>
                </a:solidFill>
                <a:latin typeface="Calibri"/>
              </a:rPr>
              <a:t>📞 Posted at every assembly point, office and camp</a:t>
            </a:r>
          </a:p>
          <a:p>
            <a:pPr algn="r" rtl="1"/>
            <a:r>
              <a:rPr sz="1200">
                <a:solidFill>
                  <a:srgbClr val="333F4C"/>
                </a:solidFill>
                <a:latin typeface="Calibri"/>
              </a:rPr>
              <a:t>احفظ الأرقام: إسعاف 122 · دفاع مدني / إطفاء 115 · شرطة 104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914400" y="1700784"/>
            <a:ext cx="1219200" cy="0"/>
          </a:xfrm>
          <a:prstGeom prst="line">
            <a:avLst/>
          </a:prstGeom>
          <a:ln w="30480">
            <a:solidFill>
              <a:srgbClr val="00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2133600" y="1709928"/>
            <a:ext cx="9144000" cy="0"/>
          </a:xfrm>
          <a:prstGeom prst="line">
            <a:avLst/>
          </a:prstGeom>
          <a:ln w="11430">
            <a:solidFill>
              <a:srgbClr val="D5DD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ctangle 8"/>
          <p:cNvSpPr/>
          <p:nvPr/>
        </p:nvSpPr>
        <p:spPr>
          <a:xfrm>
            <a:off x="914400" y="1955800"/>
            <a:ext cx="10363200" cy="431800"/>
          </a:xfrm>
          <a:prstGeom prst="rect">
            <a:avLst/>
          </a:prstGeom>
          <a:solidFill>
            <a:srgbClr val="1226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041400" y="2057400"/>
            <a:ext cx="5445760" cy="304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Contact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741159" y="2057400"/>
            <a:ext cx="4409440" cy="304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Number / channel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41400" y="2451100"/>
            <a:ext cx="5445760" cy="177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35" b="0" i="0">
                <a:solidFill>
                  <a:srgbClr val="333F4C"/>
                </a:solidFill>
                <a:latin typeface="Calibri"/>
              </a:rPr>
              <a:t>Site EHS control room / emergency line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741159" y="2451100"/>
            <a:ext cx="4409440" cy="177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35" b="0" i="0">
                <a:solidFill>
                  <a:srgbClr val="333F4C"/>
                </a:solidFill>
                <a:latin typeface="Calibri"/>
              </a:rPr>
              <a:t>911 (24/7)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914400" y="2692400"/>
            <a:ext cx="10363200" cy="0"/>
          </a:xfrm>
          <a:prstGeom prst="line">
            <a:avLst/>
          </a:prstGeom>
          <a:ln w="7620">
            <a:solidFill>
              <a:srgbClr val="D5DD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ectangle 14"/>
          <p:cNvSpPr/>
          <p:nvPr/>
        </p:nvSpPr>
        <p:spPr>
          <a:xfrm>
            <a:off x="914400" y="2692400"/>
            <a:ext cx="10363200" cy="304800"/>
          </a:xfrm>
          <a:prstGeom prst="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1041400" y="2755900"/>
            <a:ext cx="5445760" cy="177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35" b="0" i="0">
                <a:solidFill>
                  <a:srgbClr val="333F4C"/>
                </a:solidFill>
                <a:latin typeface="Calibri"/>
              </a:rPr>
              <a:t>UHF radio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741159" y="2755900"/>
            <a:ext cx="4409440" cy="177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35" b="0" i="0">
                <a:solidFill>
                  <a:srgbClr val="333F4C"/>
                </a:solidFill>
                <a:latin typeface="Calibri"/>
              </a:rPr>
              <a:t>Channel 1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914400" y="2997200"/>
            <a:ext cx="10363200" cy="0"/>
          </a:xfrm>
          <a:prstGeom prst="line">
            <a:avLst/>
          </a:prstGeom>
          <a:ln w="7620">
            <a:solidFill>
              <a:srgbClr val="D5DD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1041400" y="3060700"/>
            <a:ext cx="5445760" cy="177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35" b="0" i="0">
                <a:solidFill>
                  <a:srgbClr val="333F4C"/>
                </a:solidFill>
                <a:latin typeface="Calibri"/>
              </a:rPr>
              <a:t>Site medic / first aiders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741159" y="3060700"/>
            <a:ext cx="4409440" cy="177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35" b="0" i="0">
                <a:solidFill>
                  <a:srgbClr val="333F4C"/>
                </a:solidFill>
                <a:latin typeface="Calibri"/>
              </a:rPr>
              <a:t>07707313604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914400" y="3302000"/>
            <a:ext cx="10363200" cy="0"/>
          </a:xfrm>
          <a:prstGeom prst="line">
            <a:avLst/>
          </a:prstGeom>
          <a:ln w="7620">
            <a:solidFill>
              <a:srgbClr val="D5DD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ectangle 21"/>
          <p:cNvSpPr/>
          <p:nvPr/>
        </p:nvSpPr>
        <p:spPr>
          <a:xfrm>
            <a:off x="914400" y="3302000"/>
            <a:ext cx="10363200" cy="304800"/>
          </a:xfrm>
          <a:prstGeom prst="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1041400" y="3365500"/>
            <a:ext cx="5445760" cy="177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35" b="0" i="0">
                <a:solidFill>
                  <a:srgbClr val="333F4C"/>
                </a:solidFill>
                <a:latin typeface="Calibri"/>
              </a:rPr>
              <a:t>Contractor emergency numbers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741159" y="3365500"/>
            <a:ext cx="4409440" cy="177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35" b="0" i="0">
                <a:solidFill>
                  <a:srgbClr val="333F4C"/>
                </a:solidFill>
                <a:latin typeface="Calibri"/>
              </a:rPr>
              <a:t>0785-285-7404 · 0786-162-9706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914400" y="3606800"/>
            <a:ext cx="10363200" cy="0"/>
          </a:xfrm>
          <a:prstGeom prst="line">
            <a:avLst/>
          </a:prstGeom>
          <a:ln w="7620">
            <a:solidFill>
              <a:srgbClr val="D5DD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1041400" y="3670300"/>
            <a:ext cx="5445760" cy="177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35" b="0" i="0">
                <a:solidFill>
                  <a:srgbClr val="333F4C"/>
                </a:solidFill>
                <a:latin typeface="Calibri"/>
              </a:rPr>
              <a:t>Siemens Energy emergency number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741159" y="3670300"/>
            <a:ext cx="4409440" cy="177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35" b="0" i="0">
                <a:solidFill>
                  <a:srgbClr val="333F4C"/>
                </a:solidFill>
                <a:latin typeface="Calibri"/>
              </a:rPr>
              <a:t>+90 533 625 9494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914400" y="3911600"/>
            <a:ext cx="10363200" cy="0"/>
          </a:xfrm>
          <a:prstGeom prst="line">
            <a:avLst/>
          </a:prstGeom>
          <a:ln w="7620">
            <a:solidFill>
              <a:srgbClr val="D5DD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ectangle 28"/>
          <p:cNvSpPr/>
          <p:nvPr/>
        </p:nvSpPr>
        <p:spPr>
          <a:xfrm>
            <a:off x="914400" y="3911600"/>
            <a:ext cx="10363200" cy="304800"/>
          </a:xfrm>
          <a:prstGeom prst="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1041400" y="3975100"/>
            <a:ext cx="5445760" cy="177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35" b="0" i="0">
                <a:solidFill>
                  <a:srgbClr val="333F4C"/>
                </a:solidFill>
                <a:latin typeface="Calibri"/>
              </a:rPr>
              <a:t>Ambulance (Iraq)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741159" y="3975100"/>
            <a:ext cx="4409440" cy="177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35" b="0" i="0">
                <a:solidFill>
                  <a:srgbClr val="333F4C"/>
                </a:solidFill>
                <a:latin typeface="Calibri"/>
              </a:rPr>
              <a:t>122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914400" y="4216400"/>
            <a:ext cx="10363200" cy="0"/>
          </a:xfrm>
          <a:prstGeom prst="line">
            <a:avLst/>
          </a:prstGeom>
          <a:ln w="7620">
            <a:solidFill>
              <a:srgbClr val="D5DD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TextBox 32"/>
          <p:cNvSpPr txBox="1"/>
          <p:nvPr/>
        </p:nvSpPr>
        <p:spPr>
          <a:xfrm>
            <a:off x="1041400" y="4279900"/>
            <a:ext cx="5445760" cy="177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35" b="0" i="0">
                <a:solidFill>
                  <a:srgbClr val="333F4C"/>
                </a:solidFill>
                <a:latin typeface="Calibri"/>
              </a:rPr>
              <a:t>Civil Defence / Fire (Iraq)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741159" y="4279900"/>
            <a:ext cx="4409440" cy="177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35" b="0" i="0">
                <a:solidFill>
                  <a:srgbClr val="333F4C"/>
                </a:solidFill>
                <a:latin typeface="Calibri"/>
              </a:rPr>
              <a:t>115</a:t>
            </a:r>
          </a:p>
        </p:txBody>
      </p:sp>
      <p:cxnSp>
        <p:nvCxnSpPr>
          <p:cNvPr id="35" name="Connector 34"/>
          <p:cNvCxnSpPr/>
          <p:nvPr/>
        </p:nvCxnSpPr>
        <p:spPr>
          <a:xfrm>
            <a:off x="914400" y="4521200"/>
            <a:ext cx="10363200" cy="0"/>
          </a:xfrm>
          <a:prstGeom prst="line">
            <a:avLst/>
          </a:prstGeom>
          <a:ln w="7620">
            <a:solidFill>
              <a:srgbClr val="D5DD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Rectangle 35"/>
          <p:cNvSpPr/>
          <p:nvPr/>
        </p:nvSpPr>
        <p:spPr>
          <a:xfrm>
            <a:off x="914400" y="4521200"/>
            <a:ext cx="10363200" cy="304800"/>
          </a:xfrm>
          <a:prstGeom prst="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1041400" y="4584700"/>
            <a:ext cx="5445760" cy="177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35" b="0" i="0">
                <a:solidFill>
                  <a:srgbClr val="333F4C"/>
                </a:solidFill>
                <a:latin typeface="Calibri"/>
              </a:rPr>
              <a:t>Police (Iraq)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741159" y="4584700"/>
            <a:ext cx="4409440" cy="177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35" b="0" i="0">
                <a:solidFill>
                  <a:srgbClr val="333F4C"/>
                </a:solidFill>
                <a:latin typeface="Calibri"/>
              </a:rPr>
              <a:t>104</a:t>
            </a:r>
          </a:p>
        </p:txBody>
      </p:sp>
      <p:cxnSp>
        <p:nvCxnSpPr>
          <p:cNvPr id="39" name="Connector 38"/>
          <p:cNvCxnSpPr/>
          <p:nvPr/>
        </p:nvCxnSpPr>
        <p:spPr>
          <a:xfrm>
            <a:off x="914400" y="4826000"/>
            <a:ext cx="10363200" cy="0"/>
          </a:xfrm>
          <a:prstGeom prst="line">
            <a:avLst/>
          </a:prstGeom>
          <a:ln w="7620">
            <a:solidFill>
              <a:srgbClr val="D5DD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TextBox 39"/>
          <p:cNvSpPr txBox="1"/>
          <p:nvPr/>
        </p:nvSpPr>
        <p:spPr>
          <a:xfrm>
            <a:off x="1041400" y="4889500"/>
            <a:ext cx="5445760" cy="177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35" b="0" i="0">
                <a:solidFill>
                  <a:srgbClr val="333F4C"/>
                </a:solidFill>
                <a:latin typeface="Calibri"/>
              </a:rPr>
              <a:t>Nearest hospital / medevac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741159" y="4889500"/>
            <a:ext cx="4409440" cy="177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35" b="0" i="0">
                <a:solidFill>
                  <a:srgbClr val="333F4C"/>
                </a:solidFill>
                <a:latin typeface="Calibri"/>
              </a:rPr>
              <a:t>Al-Zubair Hospital — approx. 45 min</a:t>
            </a:r>
          </a:p>
        </p:txBody>
      </p:sp>
      <p:cxnSp>
        <p:nvCxnSpPr>
          <p:cNvPr id="42" name="Connector 41"/>
          <p:cNvCxnSpPr/>
          <p:nvPr/>
        </p:nvCxnSpPr>
        <p:spPr>
          <a:xfrm>
            <a:off x="914400" y="5130800"/>
            <a:ext cx="10363200" cy="0"/>
          </a:xfrm>
          <a:prstGeom prst="line">
            <a:avLst/>
          </a:prstGeom>
          <a:ln w="7620">
            <a:solidFill>
              <a:srgbClr val="D5DD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Rectangle 42"/>
          <p:cNvSpPr/>
          <p:nvPr/>
        </p:nvSpPr>
        <p:spPr>
          <a:xfrm>
            <a:off x="914400" y="1955800"/>
            <a:ext cx="10363200" cy="3175000"/>
          </a:xfrm>
          <a:prstGeom prst="rect">
            <a:avLst/>
          </a:prstGeom>
          <a:noFill/>
          <a:ln w="10160">
            <a:solidFill>
              <a:srgbClr val="C3C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cxnSp>
        <p:nvCxnSpPr>
          <p:cNvPr id="44" name="Connector 43"/>
          <p:cNvCxnSpPr/>
          <p:nvPr/>
        </p:nvCxnSpPr>
        <p:spPr>
          <a:xfrm>
            <a:off x="914400" y="6350000"/>
            <a:ext cx="330200" cy="0"/>
          </a:xfrm>
          <a:prstGeom prst="line">
            <a:avLst/>
          </a:prstGeom>
          <a:ln w="30480">
            <a:solidFill>
              <a:srgbClr val="00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>
            <a:off x="1244600" y="6350000"/>
            <a:ext cx="10033000" cy="0"/>
          </a:xfrm>
          <a:prstGeom prst="line">
            <a:avLst/>
          </a:prstGeom>
          <a:ln w="10160">
            <a:solidFill>
              <a:srgbClr val="D5DD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TextBox 45"/>
          <p:cNvSpPr txBox="1"/>
          <p:nvPr/>
        </p:nvSpPr>
        <p:spPr>
          <a:xfrm>
            <a:off x="914400" y="6451600"/>
            <a:ext cx="54610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 i="0">
                <a:solidFill>
                  <a:srgbClr val="6B7A88"/>
                </a:solidFill>
                <a:latin typeface="Calibri"/>
              </a:rPr>
              <a:t>KAZ-EHS-IND-001 · Rev. 07 · Management &amp; Staff EHS Induction · Restricted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334000" y="6451600"/>
            <a:ext cx="41910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850" b="0" i="0">
                <a:solidFill>
                  <a:srgbClr val="6B7A88"/>
                </a:solidFill>
                <a:latin typeface="Calibri"/>
              </a:rPr>
              <a:t>06 · Environment, Emergency and Security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890000" y="6451600"/>
            <a:ext cx="23876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50" b="0" i="0">
                <a:solidFill>
                  <a:srgbClr val="6B7A88"/>
                </a:solidFill>
                <a:latin typeface="Calibri"/>
              </a:rPr>
              <a:t>Slide 54 of 63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0099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pic>
        <p:nvPicPr>
          <p:cNvPr id="3" name="Picture 2" descr="siemens_energy_100x31_rgb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07600" y="381000"/>
            <a:ext cx="1270000" cy="3937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4400" y="355600"/>
            <a:ext cx="8763000" cy="190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1" i="0">
                <a:solidFill>
                  <a:srgbClr val="009999"/>
                </a:solidFill>
                <a:latin typeface="Calibri"/>
              </a:rPr>
              <a:t>CHAPTER 02  ·  EHS LEADERSHIP AND RESPONSIBILITIES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584200"/>
            <a:ext cx="8890000" cy="47053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700" b="1" i="0">
                <a:solidFill>
                  <a:srgbClr val="12263A"/>
                </a:solidFill>
                <a:latin typeface="Calibri"/>
              </a:rPr>
              <a:t>The Site Alarm Card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092834"/>
            <a:ext cx="8890000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 i="0">
                <a:solidFill>
                  <a:srgbClr val="6B7A88"/>
                </a:solidFill>
                <a:latin typeface="Calibri"/>
              </a:rPr>
              <a:t>📇 The notification card you must know before you need it</a:t>
            </a:r>
          </a:p>
          <a:p>
            <a:pPr algn="r" rtl="1"/>
            <a:r>
              <a:rPr sz="1200">
                <a:solidFill>
                  <a:srgbClr val="333F4C"/>
                </a:solidFill>
                <a:latin typeface="Calibri"/>
              </a:rPr>
              <a:t>ابدأ رسالة البلاغ بموقعك — أين أنا؟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914400" y="1700784"/>
            <a:ext cx="1219200" cy="0"/>
          </a:xfrm>
          <a:prstGeom prst="line">
            <a:avLst/>
          </a:prstGeom>
          <a:ln w="30480">
            <a:solidFill>
              <a:srgbClr val="00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2133600" y="1709928"/>
            <a:ext cx="9144000" cy="0"/>
          </a:xfrm>
          <a:prstGeom prst="line">
            <a:avLst/>
          </a:prstGeom>
          <a:ln w="11430">
            <a:solidFill>
              <a:srgbClr val="D5DD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914400" y="1755648"/>
            <a:ext cx="2032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1" i="0">
                <a:solidFill>
                  <a:srgbClr val="009999"/>
                </a:solidFill>
                <a:latin typeface="Calibri"/>
              </a:rPr>
              <a:t>▪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5568" y="1755648"/>
            <a:ext cx="10160000" cy="50468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0" i="0">
                <a:solidFill>
                  <a:srgbClr val="333F4C"/>
                </a:solidFill>
                <a:latin typeface="Calibri"/>
              </a:rPr>
              <a:t>The alarm card is your personal emergency notification card — posted in every work area, office, camp and vehicle; know it before you need it.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315201"/>
            <a:ext cx="2032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1" i="0">
                <a:solidFill>
                  <a:srgbClr val="009999"/>
                </a:solidFill>
                <a:latin typeface="Calibri"/>
              </a:rPr>
              <a:t>▪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15568" y="2315201"/>
            <a:ext cx="10160000" cy="50468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0" i="0">
                <a:solidFill>
                  <a:srgbClr val="333F4C"/>
                </a:solidFill>
                <a:latin typeface="Calibri"/>
              </a:rPr>
              <a:t>Inform in all cases: every accident and every severe injury is reported immediately through the site central emergency line (numbers on slide 54).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2874755"/>
            <a:ext cx="2032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1" i="0">
                <a:solidFill>
                  <a:srgbClr val="009999"/>
                </a:solidFill>
                <a:latin typeface="Calibri"/>
              </a:rPr>
              <a:t>▪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15568" y="2874755"/>
            <a:ext cx="10160000" cy="50468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0" i="0">
                <a:solidFill>
                  <a:srgbClr val="333F4C"/>
                </a:solidFill>
                <a:latin typeface="Calibri"/>
              </a:rPr>
              <a:t>Start your message with where you are — location, area and nearest landmark — then what happened, how many are hurt and what dangers remain.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3434309"/>
            <a:ext cx="2032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1" i="0">
                <a:solidFill>
                  <a:srgbClr val="009999"/>
                </a:solidFill>
                <a:latin typeface="Calibri"/>
              </a:rPr>
              <a:t>▪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15568" y="3434309"/>
            <a:ext cx="10160000" cy="50468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0" i="0">
                <a:solidFill>
                  <a:srgbClr val="333F4C"/>
                </a:solidFill>
                <a:latin typeface="Calibri"/>
              </a:rPr>
              <a:t>The notification chain: site emergency line → your supervisor → control room → EHS; where needed, the Site Manager, Project Manager and client contacts are informed.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3993863"/>
            <a:ext cx="2032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1" i="0">
                <a:solidFill>
                  <a:srgbClr val="009999"/>
                </a:solidFill>
                <a:latin typeface="Calibri"/>
              </a:rPr>
              <a:t>▪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5568" y="3993863"/>
            <a:ext cx="10160000" cy="50468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0" i="0">
                <a:solidFill>
                  <a:srgbClr val="333F4C"/>
                </a:solidFill>
                <a:latin typeface="Calibri"/>
              </a:rPr>
              <a:t>Know your nearest first-aid station, AED and the site medic before your first day of work — not after the first casualty.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4553417"/>
            <a:ext cx="2032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1" i="0">
                <a:solidFill>
                  <a:srgbClr val="009999"/>
                </a:solidFill>
                <a:latin typeface="Calibri"/>
              </a:rPr>
              <a:t>▪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15568" y="4553417"/>
            <a:ext cx="10160000" cy="50468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0" i="0">
                <a:solidFill>
                  <a:srgbClr val="333F4C"/>
                </a:solidFill>
                <a:latin typeface="Calibri"/>
              </a:rPr>
              <a:t>External emergencies: ambulance 122 · fire 115 · police 104 — always inform the site control room as well.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" y="5112970"/>
            <a:ext cx="2032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1" i="0">
                <a:solidFill>
                  <a:srgbClr val="009999"/>
                </a:solidFill>
                <a:latin typeface="Calibri"/>
              </a:rPr>
              <a:t>▪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15568" y="5112970"/>
            <a:ext cx="10160000" cy="50468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0" i="0">
                <a:solidFill>
                  <a:srgbClr val="333F4C"/>
                </a:solidFill>
                <a:latin typeface="Calibri"/>
              </a:rPr>
              <a:t>Serious injuries: the hospital route and any special treatment are organised by the EHS Department — never transport a casualty alone.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4400" y="5672524"/>
            <a:ext cx="2032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1" i="0">
                <a:solidFill>
                  <a:srgbClr val="009999"/>
                </a:solidFill>
                <a:latin typeface="Calibri"/>
              </a:rPr>
              <a:t>▪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15568" y="5672524"/>
            <a:ext cx="10160000" cy="50468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0" i="0">
                <a:solidFill>
                  <a:srgbClr val="333F4C"/>
                </a:solidFill>
                <a:latin typeface="Calibri"/>
              </a:rPr>
              <a:t>Names and numbers on the card must stay current — report any change to the EHS Department immediately.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914400" y="6350000"/>
            <a:ext cx="330200" cy="0"/>
          </a:xfrm>
          <a:prstGeom prst="line">
            <a:avLst/>
          </a:prstGeom>
          <a:ln w="30480">
            <a:solidFill>
              <a:srgbClr val="00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1244600" y="6350000"/>
            <a:ext cx="10033000" cy="0"/>
          </a:xfrm>
          <a:prstGeom prst="line">
            <a:avLst/>
          </a:prstGeom>
          <a:ln w="10160">
            <a:solidFill>
              <a:srgbClr val="D5DD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914400" y="6451600"/>
            <a:ext cx="54610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 i="0">
                <a:solidFill>
                  <a:srgbClr val="6B7A88"/>
                </a:solidFill>
                <a:latin typeface="Calibri"/>
              </a:rPr>
              <a:t>KAZ-EHS-IND-001 · Rev. 07 · Management &amp; Staff EHS Induction · Restricted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334000" y="6451600"/>
            <a:ext cx="41910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850" b="0" i="0">
                <a:solidFill>
                  <a:srgbClr val="6B7A88"/>
                </a:solidFill>
                <a:latin typeface="Calibri"/>
              </a:rPr>
              <a:t>02 · EHS Leadership and Responsibilities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890000" y="6451600"/>
            <a:ext cx="23876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50" b="0" i="0">
                <a:solidFill>
                  <a:srgbClr val="6B7A88"/>
                </a:solidFill>
                <a:latin typeface="Calibri"/>
              </a:rPr>
              <a:t>Slide 55 of 63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0099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pic>
        <p:nvPicPr>
          <p:cNvPr id="3" name="Picture 2" descr="siemens_energy_100x31_rgb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07600" y="381000"/>
            <a:ext cx="1270000" cy="3937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4400" y="355600"/>
            <a:ext cx="8763000" cy="190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1" i="0">
                <a:solidFill>
                  <a:srgbClr val="009999"/>
                </a:solidFill>
                <a:latin typeface="Calibri"/>
              </a:rPr>
              <a:t>CHAPTER 06  ·  ENVIRONMENT, EMERGENCY AND SECURITY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584200"/>
            <a:ext cx="8890000" cy="41211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300" b="1" i="0">
                <a:solidFill>
                  <a:srgbClr val="12263A"/>
                </a:solidFill>
                <a:latin typeface="Calibri"/>
              </a:rPr>
              <a:t>Incident, Near Miss and Unsafe Condition Reporting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034414"/>
            <a:ext cx="8890000" cy="279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 i="0">
                <a:solidFill>
                  <a:srgbClr val="6B7A88"/>
                </a:solidFill>
                <a:latin typeface="Calibri"/>
              </a:rPr>
              <a:t>Report immediately — reporting is protected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914400" y="1422400"/>
            <a:ext cx="1219200" cy="0"/>
          </a:xfrm>
          <a:prstGeom prst="line">
            <a:avLst/>
          </a:prstGeom>
          <a:ln w="30480">
            <a:solidFill>
              <a:srgbClr val="00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2133600" y="1433830"/>
            <a:ext cx="9144000" cy="0"/>
          </a:xfrm>
          <a:prstGeom prst="line">
            <a:avLst/>
          </a:prstGeom>
          <a:ln w="11430">
            <a:solidFill>
              <a:srgbClr val="D5DD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914400" y="1758950"/>
            <a:ext cx="203200" cy="5118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1" i="0">
                <a:solidFill>
                  <a:srgbClr val="009999"/>
                </a:solidFill>
                <a:latin typeface="Calibri"/>
              </a:rPr>
              <a:t>▪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7600" y="1752600"/>
            <a:ext cx="10160000" cy="5372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0" i="0">
                <a:solidFill>
                  <a:srgbClr val="333F4C"/>
                </a:solidFill>
                <a:latin typeface="Calibri"/>
              </a:rPr>
              <a:t>Report immediately: all injuries (including first aid), near misses, unsafe acts, unsafe conditions, property damage, environmental releases and security events.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359660"/>
            <a:ext cx="203200" cy="5118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1" i="0">
                <a:solidFill>
                  <a:srgbClr val="009999"/>
                </a:solidFill>
                <a:latin typeface="Calibri"/>
              </a:rPr>
              <a:t>▪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17600" y="2353310"/>
            <a:ext cx="10160000" cy="5372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0" i="0">
                <a:solidFill>
                  <a:srgbClr val="333F4C"/>
                </a:solidFill>
                <a:latin typeface="Calibri"/>
              </a:rPr>
              <a:t>Report through your supervisor and the EHS Department; incidents are recorded in the Siemens Energy EHS reporting tool (Enablon).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2960370"/>
            <a:ext cx="203200" cy="25590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1" i="0">
                <a:solidFill>
                  <a:srgbClr val="009999"/>
                </a:solidFill>
                <a:latin typeface="Calibri"/>
              </a:rPr>
              <a:t>▪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17600" y="2954020"/>
            <a:ext cx="10160000" cy="28130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0" i="0">
                <a:solidFill>
                  <a:srgbClr val="333F4C"/>
                </a:solidFill>
                <a:latin typeface="Calibri"/>
              </a:rPr>
              <a:t>Timelines: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43000" y="3305175"/>
            <a:ext cx="203200" cy="23939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1" i="0">
                <a:solidFill>
                  <a:srgbClr val="6B7A88"/>
                </a:solidFill>
                <a:latin typeface="Calibri"/>
              </a:rPr>
              <a:t>•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46200" y="3298825"/>
            <a:ext cx="9931400" cy="26479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0" i="0">
                <a:solidFill>
                  <a:srgbClr val="333F4C"/>
                </a:solidFill>
                <a:latin typeface="Calibri"/>
              </a:rPr>
              <a:t>Verbal notification — immediately.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43000" y="3595370"/>
            <a:ext cx="203200" cy="23939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1" i="0">
                <a:solidFill>
                  <a:srgbClr val="6B7A88"/>
                </a:solidFill>
                <a:latin typeface="Calibri"/>
              </a:rPr>
              <a:t>•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46200" y="3589020"/>
            <a:ext cx="9931400" cy="26479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0" i="0">
                <a:solidFill>
                  <a:srgbClr val="333F4C"/>
                </a:solidFill>
                <a:latin typeface="Calibri"/>
              </a:rPr>
              <a:t>Written notification — within 24 hours.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43000" y="3885565"/>
            <a:ext cx="203200" cy="23939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1" i="0">
                <a:solidFill>
                  <a:srgbClr val="6B7A88"/>
                </a:solidFill>
                <a:latin typeface="Calibri"/>
              </a:rPr>
              <a:t>•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46200" y="3879215"/>
            <a:ext cx="9931400" cy="26479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0" i="0">
                <a:solidFill>
                  <a:srgbClr val="333F4C"/>
                </a:solidFill>
                <a:latin typeface="Calibri"/>
              </a:rPr>
              <a:t>Investigation report — within 7 days (unless an extension is agreed).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43000" y="4175760"/>
            <a:ext cx="203200" cy="23939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1" i="0">
                <a:solidFill>
                  <a:srgbClr val="6B7A88"/>
                </a:solidFill>
                <a:latin typeface="Calibri"/>
              </a:rPr>
              <a:t>•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346200" y="4169410"/>
            <a:ext cx="9931400" cy="26479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0" i="0">
                <a:solidFill>
                  <a:srgbClr val="333F4C"/>
                </a:solidFill>
                <a:latin typeface="Calibri"/>
              </a:rPr>
              <a:t>Corrective action status — reported weekly until closed.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4400" y="4465955"/>
            <a:ext cx="203200" cy="5118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1" i="0">
                <a:solidFill>
                  <a:srgbClr val="009999"/>
                </a:solidFill>
                <a:latin typeface="Calibri"/>
              </a:rPr>
              <a:t>▪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17600" y="4459605"/>
            <a:ext cx="10160000" cy="5372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0" i="0">
                <a:solidFill>
                  <a:srgbClr val="333F4C"/>
                </a:solidFill>
                <a:latin typeface="Calibri"/>
              </a:rPr>
              <a:t>A formal investigation team is formed by the Contractor, the Company and subcontractors; root causes and actions are documented.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4400" y="5066665"/>
            <a:ext cx="203200" cy="5118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1" i="0">
                <a:solidFill>
                  <a:srgbClr val="009999"/>
                </a:solidFill>
                <a:latin typeface="Calibri"/>
              </a:rPr>
              <a:t>▪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17600" y="5060315"/>
            <a:ext cx="10160000" cy="5372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0" i="0">
                <a:solidFill>
                  <a:srgbClr val="333F4C"/>
                </a:solidFill>
                <a:latin typeface="Calibri"/>
              </a:rPr>
              <a:t>Never withhold information, alter the scene or delay reporting. Honest reporting carries no blame.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914400" y="6350000"/>
            <a:ext cx="330200" cy="0"/>
          </a:xfrm>
          <a:prstGeom prst="line">
            <a:avLst/>
          </a:prstGeom>
          <a:ln w="30480">
            <a:solidFill>
              <a:srgbClr val="00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1244600" y="6350000"/>
            <a:ext cx="10033000" cy="0"/>
          </a:xfrm>
          <a:prstGeom prst="line">
            <a:avLst/>
          </a:prstGeom>
          <a:ln w="10160">
            <a:solidFill>
              <a:srgbClr val="D5DD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>
            <a:off x="914400" y="6451600"/>
            <a:ext cx="54610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 i="0">
                <a:solidFill>
                  <a:srgbClr val="6B7A88"/>
                </a:solidFill>
                <a:latin typeface="Calibri"/>
              </a:rPr>
              <a:t>KAZ-EHS-IND-001 · Rev. 07 · Management &amp; Staff EHS Induction · Restricted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334000" y="6451600"/>
            <a:ext cx="41910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850" b="0" i="0">
                <a:solidFill>
                  <a:srgbClr val="6B7A88"/>
                </a:solidFill>
                <a:latin typeface="Calibri"/>
              </a:rPr>
              <a:t>06 · Environment, Emergency and Security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890000" y="6451600"/>
            <a:ext cx="23876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50" b="0" i="0">
                <a:solidFill>
                  <a:srgbClr val="6B7A88"/>
                </a:solidFill>
                <a:latin typeface="Calibri"/>
              </a:rPr>
              <a:t>Slide 56 of 63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0099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pic>
        <p:nvPicPr>
          <p:cNvPr id="3" name="Picture 2" descr="siemens_energy_100x31_rgb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07600" y="381000"/>
            <a:ext cx="1270000" cy="3937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4400" y="355600"/>
            <a:ext cx="8763000" cy="190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1" i="0">
                <a:solidFill>
                  <a:srgbClr val="009999"/>
                </a:solidFill>
                <a:latin typeface="Calibri"/>
              </a:rPr>
              <a:t>CHAPTER 06  ·  ENVIRONMENT, EMERGENCY AND SECURITY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584200"/>
            <a:ext cx="8890000" cy="47053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700" b="1" i="0">
                <a:solidFill>
                  <a:srgbClr val="12263A"/>
                </a:solidFill>
                <a:latin typeface="Calibri"/>
              </a:rPr>
              <a:t>Learning from Incidents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092834"/>
            <a:ext cx="8890000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 i="0">
                <a:solidFill>
                  <a:srgbClr val="6B7A88"/>
                </a:solidFill>
                <a:latin typeface="Calibri"/>
              </a:rPr>
              <a:t>📚 Every event makes the site safer</a:t>
            </a:r>
          </a:p>
          <a:p>
            <a:pPr algn="r" rtl="1"/>
            <a:r>
              <a:rPr sz="1200">
                <a:solidFill>
                  <a:srgbClr val="333F4C"/>
                </a:solidFill>
                <a:latin typeface="Calibri"/>
              </a:rPr>
              <a:t>كل حادث فرصة تعلم — التحقيقات للتطوير لا للّوم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914400" y="1700784"/>
            <a:ext cx="1219200" cy="0"/>
          </a:xfrm>
          <a:prstGeom prst="line">
            <a:avLst/>
          </a:prstGeom>
          <a:ln w="30480">
            <a:solidFill>
              <a:srgbClr val="00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2133600" y="1709928"/>
            <a:ext cx="9144000" cy="0"/>
          </a:xfrm>
          <a:prstGeom prst="line">
            <a:avLst/>
          </a:prstGeom>
          <a:ln w="11430">
            <a:solidFill>
              <a:srgbClr val="D5DD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914400" y="1755648"/>
            <a:ext cx="2032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1" i="0">
                <a:solidFill>
                  <a:srgbClr val="009999"/>
                </a:solidFill>
                <a:latin typeface="Calibri"/>
              </a:rPr>
              <a:t>▪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7600" y="1755648"/>
            <a:ext cx="10160000" cy="2834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0" i="0">
                <a:solidFill>
                  <a:srgbClr val="333F4C"/>
                </a:solidFill>
                <a:latin typeface="Calibri"/>
              </a:rPr>
              <a:t>Lessons Learned and safety alerts are issued after incidents and high-potential near misses.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093976"/>
            <a:ext cx="2032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1" i="0">
                <a:solidFill>
                  <a:srgbClr val="009999"/>
                </a:solidFill>
                <a:latin typeface="Calibri"/>
              </a:rPr>
              <a:t>▪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17600" y="2093976"/>
            <a:ext cx="10160000" cy="5394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0" i="0">
                <a:solidFill>
                  <a:srgbClr val="333F4C"/>
                </a:solidFill>
                <a:latin typeface="Calibri"/>
              </a:rPr>
              <a:t>Each lesson triggers a risk assessment review, a toolbox talk and verification that controls are effective.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2688336"/>
            <a:ext cx="2032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1" i="0">
                <a:solidFill>
                  <a:srgbClr val="009999"/>
                </a:solidFill>
                <a:latin typeface="Calibri"/>
              </a:rPr>
              <a:t>▪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17600" y="2688336"/>
            <a:ext cx="10160000" cy="2834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0" i="0">
                <a:solidFill>
                  <a:srgbClr val="333F4C"/>
                </a:solidFill>
                <a:latin typeface="Calibri"/>
              </a:rPr>
              <a:t>Siemens Energy may conduct Eye on Safety reviews and its own investigations.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3026664"/>
            <a:ext cx="2032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1" i="0">
                <a:solidFill>
                  <a:srgbClr val="009999"/>
                </a:solidFill>
                <a:latin typeface="Calibri"/>
              </a:rPr>
              <a:t>▪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17600" y="3026664"/>
            <a:ext cx="10160000" cy="5394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0" i="0">
                <a:solidFill>
                  <a:srgbClr val="333F4C"/>
                </a:solidFill>
                <a:latin typeface="Calibri"/>
              </a:rPr>
              <a:t>If you are involved in or witness a serious incident: preserve the scene, cooperate fully and provide a written statement.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4215384"/>
            <a:ext cx="2032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1" i="0">
                <a:solidFill>
                  <a:srgbClr val="009999"/>
                </a:solidFill>
                <a:latin typeface="Calibri"/>
              </a:rPr>
              <a:t>▪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7600" y="4215384"/>
            <a:ext cx="10160000" cy="2834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0" i="0">
                <a:solidFill>
                  <a:srgbClr val="333F4C"/>
                </a:solidFill>
                <a:latin typeface="Calibri"/>
              </a:rPr>
              <a:t>Share your experience — it prevents the next accident.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914400" y="6350000"/>
            <a:ext cx="330200" cy="0"/>
          </a:xfrm>
          <a:prstGeom prst="line">
            <a:avLst/>
          </a:prstGeom>
          <a:ln w="30480">
            <a:solidFill>
              <a:srgbClr val="00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1244600" y="6350000"/>
            <a:ext cx="10033000" cy="0"/>
          </a:xfrm>
          <a:prstGeom prst="line">
            <a:avLst/>
          </a:prstGeom>
          <a:ln w="10160">
            <a:solidFill>
              <a:srgbClr val="D5DD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914400" y="6451600"/>
            <a:ext cx="54610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 i="0">
                <a:solidFill>
                  <a:srgbClr val="6B7A88"/>
                </a:solidFill>
                <a:latin typeface="Calibri"/>
              </a:rPr>
              <a:t>KAZ-EHS-IND-001 · Rev. 07 · Management &amp; Staff EHS Induction · Restricted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334000" y="6451600"/>
            <a:ext cx="41910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850" b="0" i="0">
                <a:solidFill>
                  <a:srgbClr val="6B7A88"/>
                </a:solidFill>
                <a:latin typeface="Calibri"/>
              </a:rPr>
              <a:t>06 · Environment, Emergency and Security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890000" y="6451600"/>
            <a:ext cx="23876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50" b="0" i="0">
                <a:solidFill>
                  <a:srgbClr val="6B7A88"/>
                </a:solidFill>
                <a:latin typeface="Calibri"/>
              </a:rPr>
              <a:t>Slide 57 of 63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3621024"/>
            <a:ext cx="2032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1" i="0">
                <a:solidFill>
                  <a:srgbClr val="009999"/>
                </a:solidFill>
                <a:latin typeface="Calibri"/>
              </a:rPr>
              <a:t>▪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5568" y="3621024"/>
            <a:ext cx="10160000" cy="5394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0" i="0">
                <a:solidFill>
                  <a:srgbClr val="333F4C"/>
                </a:solidFill>
                <a:latin typeface="Calibri"/>
              </a:rPr>
              <a:t>Investigations classify errors, mistakes, violations and consequences — the purpose is learning and prevention, not blame.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0099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pic>
        <p:nvPicPr>
          <p:cNvPr id="3" name="Picture 2" descr="siemens_energy_100x31_rgb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07600" y="381000"/>
            <a:ext cx="1270000" cy="3937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4400" y="355600"/>
            <a:ext cx="8763000" cy="190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1" i="0">
                <a:solidFill>
                  <a:srgbClr val="009999"/>
                </a:solidFill>
                <a:latin typeface="Calibri"/>
              </a:rPr>
              <a:t>CHAPTER 06  ·  ENVIRONMENT, EMERGENCY AND SECURITY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584200"/>
            <a:ext cx="8890000" cy="47053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700" b="1" i="0">
                <a:solidFill>
                  <a:srgbClr val="12263A"/>
                </a:solidFill>
                <a:latin typeface="Calibri"/>
              </a:rPr>
              <a:t>Security and Access Control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092834"/>
            <a:ext cx="8890000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 i="0">
                <a:solidFill>
                  <a:srgbClr val="6B7A88"/>
                </a:solidFill>
                <a:latin typeface="Calibri"/>
              </a:rPr>
              <a:t>🛂 Everyone is searched — everyone is protected</a:t>
            </a:r>
          </a:p>
          <a:p>
            <a:pPr algn="r" rtl="1"/>
            <a:r>
              <a:rPr sz="1200">
                <a:solidFill>
                  <a:srgbClr val="333F4C"/>
                </a:solidFill>
                <a:latin typeface="Calibri"/>
              </a:rPr>
              <a:t>بطاقتك ظاهرة دائمًا · تفتيش للجميع · الزوار بمرافقة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914400" y="1700784"/>
            <a:ext cx="1219200" cy="0"/>
          </a:xfrm>
          <a:prstGeom prst="line">
            <a:avLst/>
          </a:prstGeom>
          <a:ln w="30480">
            <a:solidFill>
              <a:srgbClr val="00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2133600" y="1709928"/>
            <a:ext cx="9144000" cy="0"/>
          </a:xfrm>
          <a:prstGeom prst="line">
            <a:avLst/>
          </a:prstGeom>
          <a:ln w="11430">
            <a:solidFill>
              <a:srgbClr val="D5DD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914400" y="1755648"/>
            <a:ext cx="2032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1" i="0">
                <a:solidFill>
                  <a:srgbClr val="009999"/>
                </a:solidFill>
                <a:latin typeface="Calibri"/>
              </a:rPr>
              <a:t>▪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7600" y="1755648"/>
            <a:ext cx="6527800" cy="74420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0" i="0">
                <a:solidFill>
                  <a:srgbClr val="333F4C"/>
                </a:solidFill>
                <a:latin typeface="Calibri"/>
              </a:rPr>
              <a:t>Site and camps are protected by the Iraqi Police and site security; persons, belongings, vehicles and deliveries may be searched on entry and exit.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554715"/>
            <a:ext cx="2032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1" i="0">
                <a:solidFill>
                  <a:srgbClr val="009999"/>
                </a:solidFill>
                <a:latin typeface="Calibri"/>
              </a:rPr>
              <a:t>▪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17600" y="2554715"/>
            <a:ext cx="6527800" cy="50468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0" i="0">
                <a:solidFill>
                  <a:srgbClr val="333F4C"/>
                </a:solidFill>
                <a:latin typeface="Calibri"/>
              </a:rPr>
              <a:t>Wear your Site ID / Gate Pass visibly at all times; access without it is refused.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3114269"/>
            <a:ext cx="2032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1" i="0">
                <a:solidFill>
                  <a:srgbClr val="009999"/>
                </a:solidFill>
                <a:latin typeface="Calibri"/>
              </a:rPr>
              <a:t>▪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17600" y="3114269"/>
            <a:ext cx="6527800" cy="74420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0" i="0">
                <a:solidFill>
                  <a:srgbClr val="333F4C"/>
                </a:solidFill>
                <a:latin typeface="Calibri"/>
              </a:rPr>
              <a:t>Visitors: pre-approval 24 hours in advance, photo ID deposited at the gate, escorted by a host at all times; no work, no plant operation, no photography.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3913337"/>
            <a:ext cx="2032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1" i="0">
                <a:solidFill>
                  <a:srgbClr val="009999"/>
                </a:solidFill>
                <a:latin typeface="Calibri"/>
              </a:rPr>
              <a:t>▪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17600" y="3913337"/>
            <a:ext cx="6527800" cy="50468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0" i="0">
                <a:solidFill>
                  <a:srgbClr val="333F4C"/>
                </a:solidFill>
                <a:latin typeface="Calibri"/>
              </a:rPr>
              <a:t>Report immediately: unauthorised access, theft, suspicious persons or vehicles, security breaches or threats.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4472890"/>
            <a:ext cx="2032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1" i="0">
                <a:solidFill>
                  <a:srgbClr val="009999"/>
                </a:solidFill>
                <a:latin typeface="Calibri"/>
              </a:rPr>
              <a:t>▪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7600" y="4472890"/>
            <a:ext cx="6527800" cy="50468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0" i="0">
                <a:solidFill>
                  <a:srgbClr val="333F4C"/>
                </a:solidFill>
                <a:latin typeface="Calibri"/>
              </a:rPr>
              <a:t>Lost or damaged ID card must be reported; a replacement fee applies.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5032444"/>
            <a:ext cx="2032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1" i="0">
                <a:solidFill>
                  <a:srgbClr val="009999"/>
                </a:solidFill>
                <a:latin typeface="Calibri"/>
              </a:rPr>
              <a:t>▪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17600" y="5032444"/>
            <a:ext cx="6527800" cy="50468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0" i="0">
                <a:solidFill>
                  <a:srgbClr val="333F4C"/>
                </a:solidFill>
                <a:latin typeface="Calibri"/>
              </a:rPr>
              <a:t>Security personnel are authorised to carry weapons — cooperate calmly and follow their instructions.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" y="5591998"/>
            <a:ext cx="2032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1" i="0">
                <a:solidFill>
                  <a:srgbClr val="009999"/>
                </a:solidFill>
                <a:latin typeface="Calibri"/>
              </a:rPr>
              <a:t>▪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17600" y="5591998"/>
            <a:ext cx="6527800" cy="50468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0" i="0">
                <a:solidFill>
                  <a:srgbClr val="333F4C"/>
                </a:solidFill>
                <a:latin typeface="Calibri"/>
              </a:rPr>
              <a:t>Never resist or interfere with security checks; the minimum age for site access is 18 years.</a:t>
            </a:r>
          </a:p>
        </p:txBody>
      </p:sp>
      <p:pic>
        <p:nvPicPr>
          <p:cNvPr id="23" name="Picture 22" descr="14_security_journey_256x268_rgb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26400" y="1752600"/>
            <a:ext cx="3251200" cy="3403600"/>
          </a:xfrm>
          <a:prstGeom prst="rect">
            <a:avLst/>
          </a:prstGeom>
        </p:spPr>
      </p:pic>
      <p:sp>
        <p:nvSpPr>
          <p:cNvPr id="24" name="Rectangle 23"/>
          <p:cNvSpPr/>
          <p:nvPr/>
        </p:nvSpPr>
        <p:spPr>
          <a:xfrm>
            <a:off x="8026400" y="1752600"/>
            <a:ext cx="3251200" cy="3403600"/>
          </a:xfrm>
          <a:prstGeom prst="rect">
            <a:avLst/>
          </a:prstGeom>
          <a:noFill/>
          <a:ln w="10160">
            <a:solidFill>
              <a:srgbClr val="D5DD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8026400" y="5156200"/>
            <a:ext cx="3251200" cy="381000"/>
          </a:xfrm>
          <a:prstGeom prst="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8128000" y="5219700"/>
            <a:ext cx="3048000" cy="254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0" i="0">
                <a:solidFill>
                  <a:srgbClr val="12263A"/>
                </a:solidFill>
                <a:latin typeface="Calibri"/>
              </a:rPr>
              <a:t>Access control · vehicle search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914400" y="6350000"/>
            <a:ext cx="330200" cy="0"/>
          </a:xfrm>
          <a:prstGeom prst="line">
            <a:avLst/>
          </a:prstGeom>
          <a:ln w="30480">
            <a:solidFill>
              <a:srgbClr val="00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1244600" y="6350000"/>
            <a:ext cx="10033000" cy="0"/>
          </a:xfrm>
          <a:prstGeom prst="line">
            <a:avLst/>
          </a:prstGeom>
          <a:ln w="10160">
            <a:solidFill>
              <a:srgbClr val="D5DD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>
            <a:off x="914400" y="6451600"/>
            <a:ext cx="54610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 i="0">
                <a:solidFill>
                  <a:srgbClr val="6B7A88"/>
                </a:solidFill>
                <a:latin typeface="Calibri"/>
              </a:rPr>
              <a:t>KAZ-EHS-IND-001 · Rev. 07 · Management &amp; Staff EHS Induction · Restricted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334000" y="6451600"/>
            <a:ext cx="41910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850" b="0" i="0">
                <a:solidFill>
                  <a:srgbClr val="6B7A88"/>
                </a:solidFill>
                <a:latin typeface="Calibri"/>
              </a:rPr>
              <a:t>06 · Environment, Emergency and Security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890000" y="6451600"/>
            <a:ext cx="23876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50" b="0" i="0">
                <a:solidFill>
                  <a:srgbClr val="6B7A88"/>
                </a:solidFill>
                <a:latin typeface="Calibri"/>
              </a:rPr>
              <a:t>Slide 58 of 63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0099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pic>
        <p:nvPicPr>
          <p:cNvPr id="3" name="Picture 2" descr="siemens_energy_100x31_rgb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07600" y="381000"/>
            <a:ext cx="1270000" cy="3937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4400" y="355600"/>
            <a:ext cx="8763000" cy="190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1" i="0">
                <a:solidFill>
                  <a:srgbClr val="009999"/>
                </a:solidFill>
                <a:latin typeface="Calibri"/>
              </a:rPr>
              <a:t>CHAPTER 06  ·  ENVIRONMENT, EMERGENCY AND SECURITY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584200"/>
            <a:ext cx="8890000" cy="47053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700" b="1" i="0">
                <a:solidFill>
                  <a:srgbClr val="12263A"/>
                </a:solidFill>
                <a:latin typeface="Calibri"/>
              </a:rPr>
              <a:t>Driving Safety and Journey Management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092834"/>
            <a:ext cx="8890000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 i="0">
                <a:solidFill>
                  <a:srgbClr val="6B7A88"/>
                </a:solidFill>
                <a:latin typeface="Calibri"/>
              </a:rPr>
              <a:t>🚗 The road is our highest-risk journey</a:t>
            </a:r>
          </a:p>
          <a:p>
            <a:pPr algn="r" rtl="1"/>
            <a:r>
              <a:rPr sz="1200">
                <a:solidFill>
                  <a:srgbClr val="333F4C"/>
                </a:solidFill>
                <a:latin typeface="Calibri"/>
              </a:rPr>
              <a:t>حزام الأمان · 5 كم/س داخل الموقع · لا هاتف أثناء القيادة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914400" y="1700784"/>
            <a:ext cx="1219200" cy="0"/>
          </a:xfrm>
          <a:prstGeom prst="line">
            <a:avLst/>
          </a:prstGeom>
          <a:ln w="30480">
            <a:solidFill>
              <a:srgbClr val="00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2133600" y="1709928"/>
            <a:ext cx="9144000" cy="0"/>
          </a:xfrm>
          <a:prstGeom prst="line">
            <a:avLst/>
          </a:prstGeom>
          <a:ln w="11430">
            <a:solidFill>
              <a:srgbClr val="D5DD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914400" y="1755648"/>
            <a:ext cx="2032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1" i="0">
                <a:solidFill>
                  <a:srgbClr val="009999"/>
                </a:solidFill>
                <a:latin typeface="Calibri"/>
              </a:rPr>
              <a:t>▪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7600" y="1755648"/>
            <a:ext cx="10160000" cy="2834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0" i="0">
                <a:solidFill>
                  <a:srgbClr val="333F4C"/>
                </a:solidFill>
                <a:latin typeface="Calibri"/>
              </a:rPr>
              <a:t>Seat belts for all occupants, in every vehicle, at all times.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093976"/>
            <a:ext cx="2032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1" i="0">
                <a:solidFill>
                  <a:srgbClr val="009999"/>
                </a:solidFill>
                <a:latin typeface="Calibri"/>
              </a:rPr>
              <a:t>▪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17600" y="2093976"/>
            <a:ext cx="10160000" cy="2834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0" i="0">
                <a:solidFill>
                  <a:srgbClr val="333F4C"/>
                </a:solidFill>
                <a:latin typeface="Calibri"/>
              </a:rPr>
              <a:t>Valid Iraqi driving licence for the vehicle class; only authorised drivers and vehicles.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2432304"/>
            <a:ext cx="2032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1" i="0">
                <a:solidFill>
                  <a:srgbClr val="009999"/>
                </a:solidFill>
                <a:latin typeface="Calibri"/>
              </a:rPr>
              <a:t>▪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17600" y="2432304"/>
            <a:ext cx="10160000" cy="2834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0" i="0">
                <a:solidFill>
                  <a:srgbClr val="333F4C"/>
                </a:solidFill>
                <a:latin typeface="Calibri"/>
              </a:rPr>
              <a:t>🚗 Site speed limit: 5 km/h. Obey traffic signs, signals and marshals.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2770632"/>
            <a:ext cx="2032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1" i="0">
                <a:solidFill>
                  <a:srgbClr val="009999"/>
                </a:solidFill>
                <a:latin typeface="Calibri"/>
              </a:rPr>
              <a:t>▪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17600" y="2770632"/>
            <a:ext cx="10160000" cy="2834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0" i="0">
                <a:solidFill>
                  <a:srgbClr val="333F4C"/>
                </a:solidFill>
                <a:latin typeface="Calibri"/>
              </a:rPr>
              <a:t>No mobile phone use while driving — including hands-free. No other distractions.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3108960"/>
            <a:ext cx="2032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1" i="0">
                <a:solidFill>
                  <a:srgbClr val="009999"/>
                </a:solidFill>
                <a:latin typeface="Calibri"/>
              </a:rPr>
              <a:t>▪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7600" y="3108960"/>
            <a:ext cx="10160000" cy="2834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0" i="0">
                <a:solidFill>
                  <a:srgbClr val="333F4C"/>
                </a:solidFill>
                <a:latin typeface="Calibri"/>
              </a:rPr>
              <a:t>Reverse parking only in designated areas; reversing requires a trained banksman.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3447288"/>
            <a:ext cx="2032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1" i="0">
                <a:solidFill>
                  <a:srgbClr val="009999"/>
                </a:solidFill>
                <a:latin typeface="Calibri"/>
              </a:rPr>
              <a:t>▪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17600" y="3447288"/>
            <a:ext cx="10160000" cy="2834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0" i="0">
                <a:solidFill>
                  <a:srgbClr val="333F4C"/>
                </a:solidFill>
                <a:latin typeface="Calibri"/>
              </a:rPr>
              <a:t>Daily pre-use checks and valid third-party inspection certificates for all vehicles.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" y="3785616"/>
            <a:ext cx="2032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1" i="0">
                <a:solidFill>
                  <a:srgbClr val="009999"/>
                </a:solidFill>
                <a:latin typeface="Calibri"/>
              </a:rPr>
              <a:t>▪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17600" y="3785616"/>
            <a:ext cx="10160000" cy="5394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0" i="0">
                <a:solidFill>
                  <a:srgbClr val="333F4C"/>
                </a:solidFill>
                <a:latin typeface="Calibri"/>
              </a:rPr>
              <a:t>Journey management: plan the route, rest at least every two hours, no night driving without approval, no driving when tired.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4400" y="4379976"/>
            <a:ext cx="2032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1" i="0">
                <a:solidFill>
                  <a:srgbClr val="009999"/>
                </a:solidFill>
                <a:latin typeface="Calibri"/>
              </a:rPr>
              <a:t>▪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17600" y="4379976"/>
            <a:ext cx="10160000" cy="2834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0" i="0">
                <a:solidFill>
                  <a:srgbClr val="333F4C"/>
                </a:solidFill>
                <a:latin typeface="Calibri"/>
              </a:rPr>
              <a:t>Driving is restricted in adverse weather — fog, heavy rain and dust storms.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914400" y="6350000"/>
            <a:ext cx="330200" cy="0"/>
          </a:xfrm>
          <a:prstGeom prst="line">
            <a:avLst/>
          </a:prstGeom>
          <a:ln w="30480">
            <a:solidFill>
              <a:srgbClr val="00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1244600" y="6350000"/>
            <a:ext cx="10033000" cy="0"/>
          </a:xfrm>
          <a:prstGeom prst="line">
            <a:avLst/>
          </a:prstGeom>
          <a:ln w="10160">
            <a:solidFill>
              <a:srgbClr val="D5DD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914400" y="6451600"/>
            <a:ext cx="54610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 i="0">
                <a:solidFill>
                  <a:srgbClr val="6B7A88"/>
                </a:solidFill>
                <a:latin typeface="Calibri"/>
              </a:rPr>
              <a:t>KAZ-EHS-IND-001 · Rev. 07 · Management &amp; Staff EHS Induction · Restricted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334000" y="6451600"/>
            <a:ext cx="41910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850" b="0" i="0">
                <a:solidFill>
                  <a:srgbClr val="6B7A88"/>
                </a:solidFill>
                <a:latin typeface="Calibri"/>
              </a:rPr>
              <a:t>06 · Environment, Emergency and Security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890000" y="6451600"/>
            <a:ext cx="23876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50" b="0" i="0">
                <a:solidFill>
                  <a:srgbClr val="6B7A88"/>
                </a:solidFill>
                <a:latin typeface="Calibri"/>
              </a:rPr>
              <a:t>Slide 59 of 63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0099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pic>
        <p:nvPicPr>
          <p:cNvPr id="3" name="Picture 2" descr="siemens_energy_100x31_rgb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07600" y="381000"/>
            <a:ext cx="1270000" cy="3937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4400" y="355600"/>
            <a:ext cx="8763000" cy="190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1" i="0">
                <a:solidFill>
                  <a:srgbClr val="009999"/>
                </a:solidFill>
                <a:latin typeface="Calibri"/>
              </a:rPr>
              <a:t>CHAPTER 06  ·  ENVIRONMENT, EMERGENCY AND SECURITY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584200"/>
            <a:ext cx="8890000" cy="47053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700" b="1" i="0">
                <a:solidFill>
                  <a:srgbClr val="12263A"/>
                </a:solidFill>
                <a:latin typeface="Calibri"/>
              </a:rPr>
              <a:t>Violations and Penalties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092834"/>
            <a:ext cx="8890000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 i="0">
                <a:solidFill>
                  <a:srgbClr val="6B7A88"/>
                </a:solidFill>
                <a:latin typeface="Calibri"/>
              </a:rPr>
              <a:t>⚖️ Consequences are applied consistently — matrix aligned with OSHA &amp; NEBOSH practice</a:t>
            </a:r>
          </a:p>
          <a:p>
            <a:pPr algn="r" rtl="1"/>
            <a:r>
              <a:rPr sz="1200">
                <a:solidFill>
                  <a:srgbClr val="333F4C"/>
                </a:solidFill>
                <a:latin typeface="Calibri"/>
              </a:rPr>
              <a:t>العواقب بعدالة وفق ممارسات OSHA وNEBOSH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914400" y="1700784"/>
            <a:ext cx="1219200" cy="0"/>
          </a:xfrm>
          <a:prstGeom prst="line">
            <a:avLst/>
          </a:prstGeom>
          <a:ln w="30480">
            <a:solidFill>
              <a:srgbClr val="00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2133600" y="1709928"/>
            <a:ext cx="9144000" cy="0"/>
          </a:xfrm>
          <a:prstGeom prst="line">
            <a:avLst/>
          </a:prstGeom>
          <a:ln w="11430">
            <a:solidFill>
              <a:srgbClr val="D5DD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ctangle 8"/>
          <p:cNvSpPr/>
          <p:nvPr/>
        </p:nvSpPr>
        <p:spPr>
          <a:xfrm>
            <a:off x="914400" y="1955800"/>
            <a:ext cx="10363200" cy="431800"/>
          </a:xfrm>
          <a:prstGeom prst="rect">
            <a:avLst/>
          </a:prstGeom>
          <a:solidFill>
            <a:srgbClr val="1226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041400" y="2057400"/>
            <a:ext cx="2647696" cy="304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Violation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943096" y="2057400"/>
            <a:ext cx="2440432" cy="304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1st offence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37528" y="2057400"/>
            <a:ext cx="2233168" cy="304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2nd offence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24696" y="2057400"/>
            <a:ext cx="2025904" cy="304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3rd offence / critical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41400" y="2451100"/>
            <a:ext cx="2647696" cy="177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333F4C"/>
                </a:solidFill>
                <a:latin typeface="Calibri"/>
              </a:rPr>
              <a:t>Speeding (over 5 km/h)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943096" y="2451100"/>
            <a:ext cx="2440432" cy="177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333F4C"/>
                </a:solidFill>
                <a:latin typeface="Calibri"/>
              </a:rPr>
              <a:t>Warning + 2-day vehicle ban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37528" y="2451100"/>
            <a:ext cx="2233168" cy="177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333F4C"/>
                </a:solidFill>
                <a:latin typeface="Calibri"/>
              </a:rPr>
              <a:t>1-week vehicle and driver ban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24696" y="2451100"/>
            <a:ext cx="2025904" cy="177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333F4C"/>
                </a:solidFill>
                <a:latin typeface="Calibri"/>
              </a:rPr>
              <a:t>Permanent site ban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914400" y="2692400"/>
            <a:ext cx="10363200" cy="0"/>
          </a:xfrm>
          <a:prstGeom prst="line">
            <a:avLst/>
          </a:prstGeom>
          <a:ln w="7620">
            <a:solidFill>
              <a:srgbClr val="D5DD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ectangle 18"/>
          <p:cNvSpPr/>
          <p:nvPr/>
        </p:nvSpPr>
        <p:spPr>
          <a:xfrm>
            <a:off x="914400" y="2692400"/>
            <a:ext cx="10363200" cy="495300"/>
          </a:xfrm>
          <a:prstGeom prst="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1041400" y="2755900"/>
            <a:ext cx="2647696" cy="3683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333F4C"/>
                </a:solidFill>
                <a:latin typeface="Calibri"/>
              </a:rPr>
              <a:t>PPE non-compliance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943096" y="2755900"/>
            <a:ext cx="2440432" cy="3683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333F4C"/>
                </a:solidFill>
                <a:latin typeface="Calibri"/>
              </a:rPr>
              <a:t>Work stoppage + written warning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637528" y="2755900"/>
            <a:ext cx="2233168" cy="3683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333F4C"/>
                </a:solidFill>
                <a:latin typeface="Calibri"/>
              </a:rPr>
              <a:t>Contractor fine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24696" y="2755900"/>
            <a:ext cx="2025904" cy="3683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333F4C"/>
                </a:solidFill>
                <a:latin typeface="Calibri"/>
              </a:rPr>
              <a:t>ID cancellation and site removal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914400" y="3187700"/>
            <a:ext cx="10363200" cy="0"/>
          </a:xfrm>
          <a:prstGeom prst="line">
            <a:avLst/>
          </a:prstGeom>
          <a:ln w="7620">
            <a:solidFill>
              <a:srgbClr val="D5DD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1041400" y="3251200"/>
            <a:ext cx="2647696" cy="177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333F4C"/>
                </a:solidFill>
                <a:latin typeface="Calibri"/>
              </a:rPr>
              <a:t>Red zone / LOTO breach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943096" y="3251200"/>
            <a:ext cx="2440432" cy="177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333F4C"/>
                </a:solidFill>
                <a:latin typeface="Calibri"/>
              </a:rPr>
              <a:t>Work stoppage + 1-week suspension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637528" y="3251200"/>
            <a:ext cx="2233168" cy="177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333F4C"/>
                </a:solidFill>
                <a:latin typeface="Calibri"/>
              </a:rPr>
              <a:t>—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24696" y="3251200"/>
            <a:ext cx="2025904" cy="177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333F4C"/>
                </a:solidFill>
                <a:latin typeface="Calibri"/>
              </a:rPr>
              <a:t>Permanent site expulsion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914400" y="3492500"/>
            <a:ext cx="10363200" cy="0"/>
          </a:xfrm>
          <a:prstGeom prst="line">
            <a:avLst/>
          </a:prstGeom>
          <a:ln w="7620">
            <a:solidFill>
              <a:srgbClr val="D5DD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ectangle 29"/>
          <p:cNvSpPr/>
          <p:nvPr/>
        </p:nvSpPr>
        <p:spPr>
          <a:xfrm>
            <a:off x="914400" y="3492500"/>
            <a:ext cx="10363200" cy="304800"/>
          </a:xfrm>
          <a:prstGeom prst="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1041400" y="3556000"/>
            <a:ext cx="2647696" cy="177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333F4C"/>
                </a:solidFill>
                <a:latin typeface="Calibri"/>
              </a:rPr>
              <a:t>Lost or damaged ID card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943096" y="3556000"/>
            <a:ext cx="2440432" cy="177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333F4C"/>
                </a:solidFill>
                <a:latin typeface="Calibri"/>
              </a:rPr>
              <a:t>Replacement fee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637528" y="3556000"/>
            <a:ext cx="2233168" cy="177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333F4C"/>
                </a:solidFill>
                <a:latin typeface="Calibri"/>
              </a:rPr>
              <a:t>—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124696" y="3556000"/>
            <a:ext cx="2025904" cy="177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333F4C"/>
                </a:solidFill>
                <a:latin typeface="Calibri"/>
              </a:rPr>
              <a:t>—</a:t>
            </a:r>
          </a:p>
        </p:txBody>
      </p:sp>
      <p:cxnSp>
        <p:nvCxnSpPr>
          <p:cNvPr id="35" name="Connector 34"/>
          <p:cNvCxnSpPr/>
          <p:nvPr/>
        </p:nvCxnSpPr>
        <p:spPr>
          <a:xfrm>
            <a:off x="914400" y="3797300"/>
            <a:ext cx="10363200" cy="0"/>
          </a:xfrm>
          <a:prstGeom prst="line">
            <a:avLst/>
          </a:prstGeom>
          <a:ln w="7620">
            <a:solidFill>
              <a:srgbClr val="D5DD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TextBox 35"/>
          <p:cNvSpPr txBox="1"/>
          <p:nvPr/>
        </p:nvSpPr>
        <p:spPr>
          <a:xfrm>
            <a:off x="1041400" y="3860800"/>
            <a:ext cx="2647696" cy="177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333F4C"/>
                </a:solidFill>
                <a:latin typeface="Calibri"/>
              </a:rPr>
              <a:t>Positive alcohol / drugs test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943096" y="3860800"/>
            <a:ext cx="2440432" cy="177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333F4C"/>
                </a:solidFill>
                <a:latin typeface="Calibri"/>
              </a:rPr>
              <a:t>Immediate permanent site ban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637528" y="3860800"/>
            <a:ext cx="2233168" cy="177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333F4C"/>
                </a:solidFill>
                <a:latin typeface="Calibri"/>
              </a:rPr>
              <a:t>—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124696" y="3860800"/>
            <a:ext cx="2025904" cy="177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333F4C"/>
                </a:solidFill>
                <a:latin typeface="Calibri"/>
              </a:rPr>
              <a:t>—</a:t>
            </a:r>
          </a:p>
        </p:txBody>
      </p:sp>
      <p:cxnSp>
        <p:nvCxnSpPr>
          <p:cNvPr id="40" name="Connector 39"/>
          <p:cNvCxnSpPr/>
          <p:nvPr/>
        </p:nvCxnSpPr>
        <p:spPr>
          <a:xfrm>
            <a:off x="914400" y="4102100"/>
            <a:ext cx="10363200" cy="0"/>
          </a:xfrm>
          <a:prstGeom prst="line">
            <a:avLst/>
          </a:prstGeom>
          <a:ln w="7620">
            <a:solidFill>
              <a:srgbClr val="D5DD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Rectangle 40"/>
          <p:cNvSpPr/>
          <p:nvPr/>
        </p:nvSpPr>
        <p:spPr>
          <a:xfrm>
            <a:off x="914400" y="4102100"/>
            <a:ext cx="10363200" cy="304800"/>
          </a:xfrm>
          <a:prstGeom prst="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1041400" y="4165600"/>
            <a:ext cx="2647696" cy="177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333F4C"/>
                </a:solidFill>
                <a:latin typeface="Calibri"/>
              </a:rPr>
              <a:t>Unauthorised material removal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943096" y="4165600"/>
            <a:ext cx="2440432" cy="177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333F4C"/>
                </a:solidFill>
                <a:latin typeface="Calibri"/>
              </a:rPr>
              <a:t>Confiscation and investigation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637528" y="4165600"/>
            <a:ext cx="2233168" cy="177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333F4C"/>
                </a:solidFill>
                <a:latin typeface="Calibri"/>
              </a:rPr>
              <a:t>—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124696" y="4165600"/>
            <a:ext cx="2025904" cy="177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333F4C"/>
                </a:solidFill>
                <a:latin typeface="Calibri"/>
              </a:rPr>
              <a:t>—</a:t>
            </a:r>
          </a:p>
        </p:txBody>
      </p:sp>
      <p:cxnSp>
        <p:nvCxnSpPr>
          <p:cNvPr id="46" name="Connector 45"/>
          <p:cNvCxnSpPr/>
          <p:nvPr/>
        </p:nvCxnSpPr>
        <p:spPr>
          <a:xfrm>
            <a:off x="914400" y="4406900"/>
            <a:ext cx="10363200" cy="0"/>
          </a:xfrm>
          <a:prstGeom prst="line">
            <a:avLst/>
          </a:prstGeom>
          <a:ln w="7620">
            <a:solidFill>
              <a:srgbClr val="D5DD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7" name="TextBox 46"/>
          <p:cNvSpPr txBox="1"/>
          <p:nvPr/>
        </p:nvSpPr>
        <p:spPr>
          <a:xfrm>
            <a:off x="1041400" y="4470400"/>
            <a:ext cx="2647696" cy="177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333F4C"/>
                </a:solidFill>
                <a:latin typeface="Calibri"/>
              </a:rPr>
              <a:t>Unauthorised photography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3943096" y="4470400"/>
            <a:ext cx="2440432" cy="177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333F4C"/>
                </a:solidFill>
                <a:latin typeface="Calibri"/>
              </a:rPr>
              <a:t>Media deletion and warning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637528" y="4470400"/>
            <a:ext cx="2233168" cy="177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333F4C"/>
                </a:solidFill>
                <a:latin typeface="Calibri"/>
              </a:rPr>
              <a:t>—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124696" y="4470400"/>
            <a:ext cx="2025904" cy="177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333F4C"/>
                </a:solidFill>
                <a:latin typeface="Calibri"/>
              </a:rPr>
              <a:t>Permanent site ban</a:t>
            </a:r>
          </a:p>
        </p:txBody>
      </p:sp>
      <p:cxnSp>
        <p:nvCxnSpPr>
          <p:cNvPr id="51" name="Connector 50"/>
          <p:cNvCxnSpPr/>
          <p:nvPr/>
        </p:nvCxnSpPr>
        <p:spPr>
          <a:xfrm>
            <a:off x="914400" y="4711700"/>
            <a:ext cx="10363200" cy="0"/>
          </a:xfrm>
          <a:prstGeom prst="line">
            <a:avLst/>
          </a:prstGeom>
          <a:ln w="7620">
            <a:solidFill>
              <a:srgbClr val="D5DD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2" name="Rectangle 51"/>
          <p:cNvSpPr/>
          <p:nvPr/>
        </p:nvSpPr>
        <p:spPr>
          <a:xfrm>
            <a:off x="914400" y="1955800"/>
            <a:ext cx="10363200" cy="2755900"/>
          </a:xfrm>
          <a:prstGeom prst="rect">
            <a:avLst/>
          </a:prstGeom>
          <a:noFill/>
          <a:ln w="10160">
            <a:solidFill>
              <a:srgbClr val="C3C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cxnSp>
        <p:nvCxnSpPr>
          <p:cNvPr id="53" name="Connector 52"/>
          <p:cNvCxnSpPr/>
          <p:nvPr/>
        </p:nvCxnSpPr>
        <p:spPr>
          <a:xfrm>
            <a:off x="914400" y="6350000"/>
            <a:ext cx="330200" cy="0"/>
          </a:xfrm>
          <a:prstGeom prst="line">
            <a:avLst/>
          </a:prstGeom>
          <a:ln w="30480">
            <a:solidFill>
              <a:srgbClr val="00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Connector 53"/>
          <p:cNvCxnSpPr/>
          <p:nvPr/>
        </p:nvCxnSpPr>
        <p:spPr>
          <a:xfrm>
            <a:off x="1244600" y="6350000"/>
            <a:ext cx="10033000" cy="0"/>
          </a:xfrm>
          <a:prstGeom prst="line">
            <a:avLst/>
          </a:prstGeom>
          <a:ln w="10160">
            <a:solidFill>
              <a:srgbClr val="D5DD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5" name="TextBox 54"/>
          <p:cNvSpPr txBox="1"/>
          <p:nvPr/>
        </p:nvSpPr>
        <p:spPr>
          <a:xfrm>
            <a:off x="914400" y="6451600"/>
            <a:ext cx="54610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 i="0">
                <a:solidFill>
                  <a:srgbClr val="6B7A88"/>
                </a:solidFill>
                <a:latin typeface="Calibri"/>
              </a:rPr>
              <a:t>KAZ-EHS-IND-001 · Rev. 07 · Management &amp; Staff EHS Induction · Restricted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5334000" y="6451600"/>
            <a:ext cx="41910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850" b="0" i="0">
                <a:solidFill>
                  <a:srgbClr val="6B7A88"/>
                </a:solidFill>
                <a:latin typeface="Calibri"/>
              </a:rPr>
              <a:t>06 · Environment, Emergency and Security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8890000" y="6451600"/>
            <a:ext cx="23876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50" b="0" i="0">
                <a:solidFill>
                  <a:srgbClr val="6B7A88"/>
                </a:solidFill>
                <a:latin typeface="Calibri"/>
              </a:rPr>
              <a:t>Slide 60 of 63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0099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pic>
        <p:nvPicPr>
          <p:cNvPr id="3" name="Picture 2" descr="siemens_energy_100x31_rgb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07600" y="381000"/>
            <a:ext cx="1270000" cy="3937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4400" y="355600"/>
            <a:ext cx="8763000" cy="190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1" i="0">
                <a:solidFill>
                  <a:srgbClr val="009999"/>
                </a:solidFill>
                <a:latin typeface="Calibri"/>
              </a:rPr>
              <a:t>CHAPTER 06  ·  ENVIRONMENT, EMERGENCY AND SECURITY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584200"/>
            <a:ext cx="8890000" cy="47053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700" b="1" i="0">
                <a:solidFill>
                  <a:srgbClr val="12263A"/>
                </a:solidFill>
                <a:latin typeface="Calibri"/>
              </a:rPr>
              <a:t>Knowledge Check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092834"/>
            <a:ext cx="8890000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 i="0">
                <a:solidFill>
                  <a:srgbClr val="6B7A88"/>
                </a:solidFill>
                <a:latin typeface="Calibri"/>
              </a:rPr>
              <a:t>❓ 11 questions — pass mark 80% (9 correct)</a:t>
            </a:r>
          </a:p>
          <a:p>
            <a:pPr algn="r" rtl="1"/>
            <a:r>
              <a:rPr sz="1200">
                <a:solidFill>
                  <a:srgbClr val="333F4C"/>
                </a:solidFill>
                <a:latin typeface="Calibri"/>
              </a:rPr>
              <a:t>11 سؤالًا — النجاح 80٪ (9 إجابات صحيحة)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914400" y="1700784"/>
            <a:ext cx="1219200" cy="0"/>
          </a:xfrm>
          <a:prstGeom prst="line">
            <a:avLst/>
          </a:prstGeom>
          <a:ln w="30480">
            <a:solidFill>
              <a:srgbClr val="00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2133600" y="1709928"/>
            <a:ext cx="9144000" cy="0"/>
          </a:xfrm>
          <a:prstGeom prst="line">
            <a:avLst/>
          </a:prstGeom>
          <a:ln w="11430">
            <a:solidFill>
              <a:srgbClr val="D5DD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914400" y="1755648"/>
            <a:ext cx="2032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1" i="0">
                <a:solidFill>
                  <a:srgbClr val="009999"/>
                </a:solidFill>
                <a:latin typeface="Calibri"/>
              </a:rPr>
              <a:t>▪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7600" y="1755648"/>
            <a:ext cx="10160000" cy="2834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0" i="0">
                <a:solidFill>
                  <a:srgbClr val="333F4C"/>
                </a:solidFill>
                <a:latin typeface="Calibri"/>
              </a:rPr>
              <a:t>1. What is the site speed limit, and when is a banksman required?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093976"/>
            <a:ext cx="2032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1" i="0">
                <a:solidFill>
                  <a:srgbClr val="009999"/>
                </a:solidFill>
                <a:latin typeface="Calibri"/>
              </a:rPr>
              <a:t>▪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17600" y="2093976"/>
            <a:ext cx="10160000" cy="2834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0" i="0">
                <a:solidFill>
                  <a:srgbClr val="333F4C"/>
                </a:solidFill>
                <a:latin typeface="Calibri"/>
              </a:rPr>
              <a:t>2. At what height does fall protection become mandatory?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2432304"/>
            <a:ext cx="2032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1" i="0">
                <a:solidFill>
                  <a:srgbClr val="009999"/>
                </a:solidFill>
                <a:latin typeface="Calibri"/>
              </a:rPr>
              <a:t>▪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17600" y="2432304"/>
            <a:ext cx="10160000" cy="2834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0" i="0">
                <a:solidFill>
                  <a:srgbClr val="333F4C"/>
                </a:solidFill>
                <a:latin typeface="Calibri"/>
              </a:rPr>
              <a:t>3. When is a protective system required for an excavation?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2770632"/>
            <a:ext cx="2032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1" i="0">
                <a:solidFill>
                  <a:srgbClr val="009999"/>
                </a:solidFill>
                <a:latin typeface="Calibri"/>
              </a:rPr>
              <a:t>▪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17600" y="2770632"/>
            <a:ext cx="10160000" cy="2834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0" i="0">
                <a:solidFill>
                  <a:srgbClr val="333F4C"/>
                </a:solidFill>
                <a:latin typeface="Calibri"/>
              </a:rPr>
              <a:t>4. Which gases are tested before confined space entry?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3108960"/>
            <a:ext cx="2032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1" i="0">
                <a:solidFill>
                  <a:srgbClr val="009999"/>
                </a:solidFill>
                <a:latin typeface="Calibri"/>
              </a:rPr>
              <a:t>▪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7600" y="3108960"/>
            <a:ext cx="10160000" cy="2834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0" i="0">
                <a:solidFill>
                  <a:srgbClr val="333F4C"/>
                </a:solidFill>
                <a:latin typeface="Calibri"/>
              </a:rPr>
              <a:t>5. What is the maximum wind speed for lifting operations?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3447288"/>
            <a:ext cx="2032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1" i="0">
                <a:solidFill>
                  <a:srgbClr val="009999"/>
                </a:solidFill>
                <a:latin typeface="Calibri"/>
              </a:rPr>
              <a:t>▪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17600" y="3447288"/>
            <a:ext cx="10160000" cy="2834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0" i="0">
                <a:solidFill>
                  <a:srgbClr val="333F4C"/>
                </a:solidFill>
                <a:latin typeface="Calibri"/>
              </a:rPr>
              <a:t>6. Which extinguisher would you use on an energised electrical panel fire?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" y="3785616"/>
            <a:ext cx="2032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1" i="0">
                <a:solidFill>
                  <a:srgbClr val="009999"/>
                </a:solidFill>
                <a:latin typeface="Calibri"/>
              </a:rPr>
              <a:t>▪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17600" y="3785616"/>
            <a:ext cx="10160000" cy="2834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0" i="0">
                <a:solidFill>
                  <a:srgbClr val="333F4C"/>
                </a:solidFill>
                <a:latin typeface="Calibri"/>
              </a:rPr>
              <a:t>7. What are the reporting deadlines for an incident?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4400" y="4123944"/>
            <a:ext cx="2032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1" i="0">
                <a:solidFill>
                  <a:srgbClr val="009999"/>
                </a:solidFill>
                <a:latin typeface="Calibri"/>
              </a:rPr>
              <a:t>▪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17600" y="4123944"/>
            <a:ext cx="10160000" cy="2834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0" i="0">
                <a:solidFill>
                  <a:srgbClr val="333F4C"/>
                </a:solidFill>
                <a:latin typeface="Calibri"/>
              </a:rPr>
              <a:t>8. What must you do before touching any electrical conductor?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4400" y="4462272"/>
            <a:ext cx="2032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1" i="0">
                <a:solidFill>
                  <a:srgbClr val="009999"/>
                </a:solidFill>
                <a:latin typeface="Calibri"/>
              </a:rPr>
              <a:t>▪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17600" y="4462272"/>
            <a:ext cx="10160000" cy="2834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0" i="0">
                <a:solidFill>
                  <a:srgbClr val="333F4C"/>
                </a:solidFill>
                <a:latin typeface="Calibri"/>
              </a:rPr>
              <a:t>9. What are the official emergency numbers in Iraq?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4400" y="4800600"/>
            <a:ext cx="2032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1" i="0">
                <a:solidFill>
                  <a:srgbClr val="009999"/>
                </a:solidFill>
                <a:latin typeface="Calibri"/>
              </a:rPr>
              <a:t>▪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17600" y="4800600"/>
            <a:ext cx="10160000" cy="2834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0" i="0">
                <a:solidFill>
                  <a:srgbClr val="333F4C"/>
                </a:solidFill>
                <a:latin typeface="Calibri"/>
              </a:rPr>
              <a:t>10. What happens if you stop work because you believe it is unsafe?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914400" y="6350000"/>
            <a:ext cx="330200" cy="0"/>
          </a:xfrm>
          <a:prstGeom prst="line">
            <a:avLst/>
          </a:prstGeom>
          <a:ln w="30480">
            <a:solidFill>
              <a:srgbClr val="00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1244600" y="6350000"/>
            <a:ext cx="10033000" cy="0"/>
          </a:xfrm>
          <a:prstGeom prst="line">
            <a:avLst/>
          </a:prstGeom>
          <a:ln w="10160">
            <a:solidFill>
              <a:srgbClr val="D5DD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TextBox 30"/>
          <p:cNvSpPr txBox="1"/>
          <p:nvPr/>
        </p:nvSpPr>
        <p:spPr>
          <a:xfrm>
            <a:off x="914400" y="6451600"/>
            <a:ext cx="54610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 i="0">
                <a:solidFill>
                  <a:srgbClr val="6B7A88"/>
                </a:solidFill>
                <a:latin typeface="Calibri"/>
              </a:rPr>
              <a:t>KAZ-EHS-IND-001 · Rev. 07 · Management &amp; Staff EHS Induction · Restricted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334000" y="6451600"/>
            <a:ext cx="41910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850" b="0" i="0">
                <a:solidFill>
                  <a:srgbClr val="6B7A88"/>
                </a:solidFill>
                <a:latin typeface="Calibri"/>
              </a:rPr>
              <a:t>06 · Environment, Emergency and Security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890000" y="6451600"/>
            <a:ext cx="23876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50" b="0" i="0">
                <a:solidFill>
                  <a:srgbClr val="6B7A88"/>
                </a:solidFill>
                <a:latin typeface="Calibri"/>
              </a:rPr>
              <a:t>Slide 61 of 63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4400" y="5138928"/>
            <a:ext cx="2032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1" i="0">
                <a:solidFill>
                  <a:srgbClr val="009999"/>
                </a:solidFill>
                <a:latin typeface="Calibri"/>
              </a:rPr>
              <a:t>▪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15568" y="5138928"/>
            <a:ext cx="10160000" cy="5394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0" i="0">
                <a:solidFill>
                  <a:srgbClr val="333F4C"/>
                </a:solidFill>
                <a:latin typeface="Calibri"/>
              </a:rPr>
              <a:t>11. According to the Siemens Energy EHS Policy, what are the four principles that drive our Zero Harm culture?</a:t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0099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pic>
        <p:nvPicPr>
          <p:cNvPr id="3" name="Picture 2" descr="siemens_energy_100x31_rgb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07600" y="381000"/>
            <a:ext cx="1270000" cy="3937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4400" y="355600"/>
            <a:ext cx="8763000" cy="190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1" i="0">
                <a:solidFill>
                  <a:srgbClr val="009999"/>
                </a:solidFill>
                <a:latin typeface="Calibri"/>
              </a:rPr>
              <a:t>CHAPTER 06  ·  ENVIRONMENT, EMERGENCY AND SECURITY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584200"/>
            <a:ext cx="8890000" cy="47053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700" b="1" i="0">
                <a:solidFill>
                  <a:srgbClr val="12263A"/>
                </a:solidFill>
                <a:latin typeface="Calibri"/>
              </a:rPr>
              <a:t>Induction Card and Acknowledgement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092834"/>
            <a:ext cx="8890000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 i="0">
                <a:solidFill>
                  <a:srgbClr val="6B7A88"/>
                </a:solidFill>
                <a:latin typeface="Calibri"/>
              </a:rPr>
              <a:t>✍️ Before you leave this room</a:t>
            </a:r>
          </a:p>
          <a:p>
            <a:pPr algn="r" rtl="1"/>
            <a:r>
              <a:rPr sz="1200">
                <a:solidFill>
                  <a:srgbClr val="333F4C"/>
                </a:solidFill>
                <a:latin typeface="Calibri"/>
              </a:rPr>
              <a:t>استلم بطاقتك ووقّع الإقرار قبل مغادرة القاعة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914400" y="1700784"/>
            <a:ext cx="1219200" cy="0"/>
          </a:xfrm>
          <a:prstGeom prst="line">
            <a:avLst/>
          </a:prstGeom>
          <a:ln w="30480">
            <a:solidFill>
              <a:srgbClr val="00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2133600" y="1709928"/>
            <a:ext cx="9144000" cy="0"/>
          </a:xfrm>
          <a:prstGeom prst="line">
            <a:avLst/>
          </a:prstGeom>
          <a:ln w="11430">
            <a:solidFill>
              <a:srgbClr val="D5DD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914400" y="1755648"/>
            <a:ext cx="2032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1" i="0">
                <a:solidFill>
                  <a:srgbClr val="009999"/>
                </a:solidFill>
                <a:latin typeface="Calibri"/>
              </a:rPr>
              <a:t>▪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7600" y="1755648"/>
            <a:ext cx="10160000" cy="2834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0" i="0">
                <a:solidFill>
                  <a:srgbClr val="333F4C"/>
                </a:solidFill>
                <a:latin typeface="Calibri"/>
              </a:rPr>
              <a:t>Collect your numbered induction card — valid 12 months, must be carried and shown on request.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093976"/>
            <a:ext cx="2032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1" i="0">
                <a:solidFill>
                  <a:srgbClr val="009999"/>
                </a:solidFill>
                <a:latin typeface="Calibri"/>
              </a:rPr>
              <a:t>▪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17600" y="2093976"/>
            <a:ext cx="10160000" cy="2834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0" i="0">
                <a:solidFill>
                  <a:srgbClr val="333F4C"/>
                </a:solidFill>
                <a:latin typeface="Calibri"/>
              </a:rPr>
              <a:t>Sign the attendance and acknowledgement register.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2432304"/>
            <a:ext cx="2032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1" i="0">
                <a:solidFill>
                  <a:srgbClr val="009999"/>
                </a:solidFill>
                <a:latin typeface="Calibri"/>
              </a:rPr>
              <a:t>▪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17600" y="2432304"/>
            <a:ext cx="10160000" cy="2834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0" i="0">
                <a:solidFill>
                  <a:srgbClr val="333F4C"/>
                </a:solidFill>
                <a:latin typeface="Calibri"/>
              </a:rPr>
              <a:t>The card does not replace the Permit to Work, PSI, Safe Start or task-specific training.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2770632"/>
            <a:ext cx="2032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1" i="0">
                <a:solidFill>
                  <a:srgbClr val="009999"/>
                </a:solidFill>
                <a:latin typeface="Calibri"/>
              </a:rPr>
              <a:t>▪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17600" y="2770632"/>
            <a:ext cx="10160000" cy="1307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0" i="0">
                <a:solidFill>
                  <a:srgbClr val="333F4C"/>
                </a:solidFill>
                <a:latin typeface="Calibri"/>
              </a:rPr>
              <a:t>Acknowledgement: 'I attended the KAZ Management &amp; Staff EHS Induction, I understood its content, and I accept that compliance with safety rules, permits and Stop Work Authority is a condition of my access to this site.'</a:t>
            </a:r>
          </a:p>
          <a:p>
            <a:pPr algn="r" rtl="1"/>
            <a:r>
              <a:rPr sz="1100">
                <a:solidFill>
                  <a:srgbClr val="333F4C"/>
                </a:solidFill>
                <a:latin typeface="Calibri"/>
              </a:rPr>
              <a:t>الإقرار: أشهد أنني حضرت اندكشن البيئة والصحة والسلامة للإدارة والموظفين في موقع KAZ وفهمت محتواه، وألتزم بالالتزام بقواعد السلامة وتصاريح العمل وصلاحية إيقاف العمل كشرط لدخولي هذا الموقع.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4133088"/>
            <a:ext cx="2032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1" i="0">
                <a:solidFill>
                  <a:srgbClr val="009999"/>
                </a:solidFill>
                <a:latin typeface="Calibri"/>
              </a:rPr>
              <a:t>▪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7600" y="4133088"/>
            <a:ext cx="10160000" cy="5394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0" i="0">
                <a:solidFill>
                  <a:srgbClr val="333F4C"/>
                </a:solidFill>
                <a:latin typeface="Calibri"/>
              </a:rPr>
              <a:t>Report any content gaps or unclear points to the EHS Department — this induction is reviewed regularly.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914400" y="6350000"/>
            <a:ext cx="330200" cy="0"/>
          </a:xfrm>
          <a:prstGeom prst="line">
            <a:avLst/>
          </a:prstGeom>
          <a:ln w="30480">
            <a:solidFill>
              <a:srgbClr val="00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1244600" y="6350000"/>
            <a:ext cx="10033000" cy="0"/>
          </a:xfrm>
          <a:prstGeom prst="line">
            <a:avLst/>
          </a:prstGeom>
          <a:ln w="10160">
            <a:solidFill>
              <a:srgbClr val="D5DD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914400" y="6451600"/>
            <a:ext cx="54610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 i="0">
                <a:solidFill>
                  <a:srgbClr val="6B7A88"/>
                </a:solidFill>
                <a:latin typeface="Calibri"/>
              </a:rPr>
              <a:t>KAZ-EHS-IND-001 · Rev. 07 · Management &amp; Staff EHS Induction · Restricted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334000" y="6451600"/>
            <a:ext cx="41910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850" b="0" i="0">
                <a:solidFill>
                  <a:srgbClr val="6B7A88"/>
                </a:solidFill>
                <a:latin typeface="Calibri"/>
              </a:rPr>
              <a:t>06 · Environment, Emergency and Security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890000" y="6451600"/>
            <a:ext cx="23876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50" b="0" i="0">
                <a:solidFill>
                  <a:srgbClr val="6B7A88"/>
                </a:solidFill>
                <a:latin typeface="Calibri"/>
              </a:rPr>
              <a:t>Slide 62 of 63</a:t>
            </a: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226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0099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8686800" y="304800"/>
            <a:ext cx="3200400" cy="1016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pic>
        <p:nvPicPr>
          <p:cNvPr id="5" name="Picture 4" descr="siemens_energy_236x68_rgb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88400" y="381000"/>
            <a:ext cx="2997200" cy="8636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914400" y="2159000"/>
            <a:ext cx="10414000" cy="111505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600" b="1" i="0">
                <a:solidFill>
                  <a:srgbClr val="FFFFFF"/>
                </a:solidFill>
                <a:latin typeface="Calibri"/>
              </a:rPr>
              <a:t>Everyone Goes Home Safely — Every Day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362959"/>
            <a:ext cx="10414000" cy="381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0" i="0">
                <a:solidFill>
                  <a:srgbClr val="9FD8D8"/>
                </a:solidFill>
                <a:latin typeface="Calibri"/>
              </a:rPr>
              <a:t>Zero Harm · We take care of each other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972559"/>
            <a:ext cx="10414000" cy="264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0" i="0">
                <a:solidFill>
                  <a:srgbClr val="DDE5EC"/>
                </a:solidFill>
                <a:latin typeface="Calibri"/>
              </a:rPr>
              <a:t>Questions? Contact the EHS Department — UHF Channel 1 / Site EHS control room.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389119"/>
            <a:ext cx="10414000" cy="264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0" i="0">
                <a:solidFill>
                  <a:srgbClr val="DDE5EC"/>
                </a:solidFill>
                <a:latin typeface="Calibri"/>
              </a:rPr>
              <a:t>Thank you for your attention and for the work you do safely.</a:t>
            </a:r>
          </a:p>
        </p:txBody>
      </p:sp>
      <p:sp>
        <p:nvSpPr>
          <p:cNvPr id="10" name="Rectangle 9"/>
          <p:cNvSpPr/>
          <p:nvPr/>
        </p:nvSpPr>
        <p:spPr>
          <a:xfrm>
            <a:off x="914400" y="5130800"/>
            <a:ext cx="10363200" cy="508000"/>
          </a:xfrm>
          <a:prstGeom prst="rect">
            <a:avLst/>
          </a:prstGeom>
          <a:solidFill>
            <a:srgbClr val="1B35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066800" y="5257800"/>
            <a:ext cx="10058400" cy="304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FFFFFF"/>
                </a:solidFill>
                <a:latin typeface="Calibri"/>
              </a:rPr>
              <a:t>Prepared by: Ahmed Al-Mansoury | EHS Manager – Siemens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5842000"/>
            <a:ext cx="10363200" cy="381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9FD8D8"/>
                </a:solidFill>
                <a:latin typeface="Calibri"/>
              </a:rPr>
              <a:t>No task is so urgent that it cannot be done safely.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6451600"/>
            <a:ext cx="103632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 i="0">
                <a:solidFill>
                  <a:srgbClr val="7C93A8"/>
                </a:solidFill>
                <a:latin typeface="Calibri"/>
              </a:rPr>
              <a:t>KAZ-EHS-IND-001 · Rev. 07 · Restricted   ·   Subcontractor: Al-Mial Company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9840</Words>
  <Application>Microsoft Office PowerPoint</Application>
  <PresentationFormat>Widescreen</PresentationFormat>
  <Paragraphs>1115</Paragraphs>
  <Slides>55</Slides>
  <Notes>55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55</vt:i4>
      </vt:variant>
    </vt:vector>
  </HeadingPairs>
  <TitlesOfParts>
    <vt:vector size="58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Ahmed Aljassem</dc:creator>
  <cp:keywords/>
  <dc:description>generated using python-pptx</dc:description>
  <cp:lastModifiedBy>Ahmed Aljassem</cp:lastModifiedBy>
  <cp:revision>1</cp:revision>
  <dcterms:created xsi:type="dcterms:W3CDTF">2013-01-27T09:14:16Z</dcterms:created>
  <dcterms:modified xsi:type="dcterms:W3CDTF">2026-09-16T19:40:54Z</dcterms:modified>
  <cp:category/>
</cp:coreProperties>
</file>