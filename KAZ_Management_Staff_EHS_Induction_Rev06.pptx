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1" r:id="rId62"/>
    <p:sldId id="312" r:id="rId63"/>
    <p:sldId id="313" r:id="rId6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6" r:id="rId67"/>
    <p:sldId id="272" r:id="rId18"/>
    <p:sldId id="273" r:id="rId19"/>
    <p:sldId id="274" r:id="rId20"/>
    <p:sldId id="275" r:id="rId21"/>
    <p:sldId id="276" r:id="rId22"/>
    <p:sldId id="317" r:id="rId68"/>
    <p:sldId id="314" r:id="rId65"/>
    <p:sldId id="277" r:id="rId23"/>
    <p:sldId id="278" r:id="rId24"/>
    <p:sldId id="279" r:id="rId25"/>
    <p:sldId id="280" r:id="rId26"/>
    <p:sldId id="281" r:id="rId27"/>
    <p:sldId id="318" r:id="rId69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15" r:id="rId66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4.xml"/><Relationship Id="rId29" Type="http://schemas.openxmlformats.org/officeDocument/2006/relationships/slide" Target="slides/slide35.xml"/><Relationship Id="rId30" Type="http://schemas.openxmlformats.org/officeDocument/2006/relationships/slide" Target="slides/slide36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39.xml"/><Relationship Id="rId34" Type="http://schemas.openxmlformats.org/officeDocument/2006/relationships/slide" Target="slides/slide40.xml"/><Relationship Id="rId35" Type="http://schemas.openxmlformats.org/officeDocument/2006/relationships/slide" Target="slides/slide41.xml"/><Relationship Id="rId36" Type="http://schemas.openxmlformats.org/officeDocument/2006/relationships/slide" Target="slides/slide42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5.xml"/><Relationship Id="rId40" Type="http://schemas.openxmlformats.org/officeDocument/2006/relationships/slide" Target="slides/slide46.xml"/><Relationship Id="rId41" Type="http://schemas.openxmlformats.org/officeDocument/2006/relationships/slide" Target="slides/slide47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50.xml"/><Relationship Id="rId45" Type="http://schemas.openxmlformats.org/officeDocument/2006/relationships/slide" Target="slides/slide51.xml"/><Relationship Id="rId46" Type="http://schemas.openxmlformats.org/officeDocument/2006/relationships/slide" Target="slides/slide52.xml"/><Relationship Id="rId47" Type="http://schemas.openxmlformats.org/officeDocument/2006/relationships/slide" Target="slides/slide53.xml"/><Relationship Id="rId48" Type="http://schemas.openxmlformats.org/officeDocument/2006/relationships/slide" Target="slides/slide54.xml"/><Relationship Id="rId49" Type="http://schemas.openxmlformats.org/officeDocument/2006/relationships/slide" Target="slides/slide56.xml"/><Relationship Id="rId50" Type="http://schemas.openxmlformats.org/officeDocument/2006/relationships/slide" Target="slides/slide57.xml"/><Relationship Id="rId51" Type="http://schemas.openxmlformats.org/officeDocument/2006/relationships/slide" Target="slides/slide58.xml"/><Relationship Id="rId52" Type="http://schemas.openxmlformats.org/officeDocument/2006/relationships/slide" Target="slides/slide59.xml"/><Relationship Id="rId53" Type="http://schemas.openxmlformats.org/officeDocument/2006/relationships/slide" Target="slides/slide60.xml"/><Relationship Id="rId54" Type="http://schemas.openxmlformats.org/officeDocument/2006/relationships/slide" Target="slides/slide61.xml"/><Relationship Id="rId55" Type="http://schemas.openxmlformats.org/officeDocument/2006/relationships/slide" Target="slides/slide62.xml"/><Relationship Id="rId56" Type="http://schemas.openxmlformats.org/officeDocument/2006/relationships/slide" Target="slides/slide63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10.xml"/><Relationship Id="rId63" Type="http://schemas.openxmlformats.org/officeDocument/2006/relationships/slide" Target="slides/slide11.xml"/><Relationship Id="rId64" Type="http://schemas.openxmlformats.org/officeDocument/2006/relationships/slide" Target="slides/slide12.xml"/><Relationship Id="rId65" Type="http://schemas.openxmlformats.org/officeDocument/2006/relationships/slide" Target="slides/slide27.xml"/><Relationship Id="rId66" Type="http://schemas.openxmlformats.org/officeDocument/2006/relationships/slide" Target="slides/slide55.xml"/><Relationship Id="rId67" Type="http://schemas.openxmlformats.org/officeDocument/2006/relationships/slide" Target="slides/slide20.xml"/><Relationship Id="rId68" Type="http://schemas.openxmlformats.org/officeDocument/2006/relationships/slide" Target="slides/slide26.xml"/><Relationship Id="rId6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01 — Introduction and Objectives. How this session runs, what you will learn and what is recorded. This chapter covers: Session format, Learning objectives, Validity,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chapters quickly. Point out that the operators' own rule set is issued separately and that the knowledge check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02 — EHS Leadership and Responsibilities. The Siemens EHS target and who is accountable for what on this site. This chapter covers: Zero Harm, EHS Target, Leadership, Everyone,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03 — The Project, the Site and Daily Rules. Where you are working, how the site is organised and the rules that always apply. This chapter covers: Project scope, Site layout, Base camp, EHS organisation, General rules, Stop Work Authority, Risk assessment,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the current site photograph of the camp and main office before presenting. Camp rules apply at all times; escape routes and extinguishers stay clear; only approved buses and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site rule list available as a handout. Working hours confirmed by site management: 06:00–15:00 (8 h/day), six days a week. Point out that hours and rest days are monitored.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 The LMRA method and SE form 000480 are explained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04 — Permit to Work and Electrical Safety. The control system for hazardous work and the rules that keep the plant safe. This chapter covers: Permit to Work, Lock-Out / Tag-Out, Electrical rules, Arc flash, Live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 validities: general cold work and excavation permits 7 days with daily endorsement; ALL other permits (electrical cold, electrical hot &amp; commissioning, LOTO, hot work, lifting, work at height, confined space) are daily / each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05 — High-Risk Activities and Occupational Health. The activities that cause the most serious injuries and how each one is controlled. This chapter covers: Work at height, Lifting, Excavation, Confined space, Hot work, Tools, Manual handling, PPE, Heat stress,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Wind limit confirmed by site management: lifting stops at 9.5 m/s. Emphasise exclusion zones, taglines and the banksman as the only signaller. Critical lifts over live plant need an engineered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Confirmed: fire watch stays 30 minutes after the work ends; minimum 3 extinguishers at the hot work site (more according to the activity). Gas test near flammables is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WBGT monitoring and the published work/rest cycles apply; monitoring starts above 40 °C ambient. Acclimatisation for new arrivals. Hydration approx. 1.0–1.2 L/hour in high heat. Buddy system on high-risk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Confirmed: one medic on site, morning (day) shift only. Outside medic hours the emergency line 911 and trained first aiders apply. Nearest hospital: Al-Zubair, about 45 minutes. Do not move casualties; do not touch electric-shock casualties before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06 — Environment, Emergency and Security. Protecting the environment, responding to emergencies, security and the consequences of breaking the rules. This chapter covers: Environment, Waste, Fire, Emergency, Incident reporting, Security, Driving,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Colour coding confirmed for the site: yellow spill kit, red hazardous, black general, blue paper/cardboard, green glass/recyclable, brown organic. Hazardous waste leaves site only with MOTAT records and a licensed transporter.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Alarm signals and head count: supervisors and EHS take the count at the assembly points; the camp assembly point is inside the camp. Fire wardens sweep their areas. No vehicles during evacuation.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Verbal immediately, written within 24 hours, investigation report within 7 days. A fatality or life-threatening injury is never a locally-managed Level 1/2 event — escalate immediately to the Project Director and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Numbers confirmed by site management (Sept 2026): site emergency line 911 (24/7); site medic 07707313604 (day shift only); nearest hospital: Al-Zubair, approx. 45 minutes. Iraqi national numbers: ambulance 122, civil defence 115, police 104. Read the numbers aloud and verify the posted cards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penalty matrix is aligned with OSHA and NEBOSH best practice and is applied consistently to employees and contractors. Security instruction governs searches and site bans.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corporate EHS Policy (Version 4, December 2024), Annex 1 of SE Standard 000050, signed by the full SE Executive Board — CEO Christian Bruch, CFO Maria Ferraro and the board members. It covers four commitment blocks: the four Zero-Harm principles; protecting people and the environment; embedding the principles through leadership, competent employees and role-modelling; and sustaining the culture through engagement, consultation, partnership with customers and continuous improvement. The full policy text must be displayed in the EHS office and training room. Stress 'Speak up - don't walk by': everyone on this site is empowered to stop unsafe work.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governance chain: SE Standard 000050 (V3) defines EHS roles and responsibilities and aligns with the Zero Harm Framework (Standard 000118). The site EHS system mirrors ISO 45001 / ISO 14001. Highlight what reaches the worker: risk assessment before every activity, elimination of life-threatening hazards, Enablon reporting (Standard 000051), competency, emergency preparedness and consultation.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responsibility ladder from the Executive Board down to every worker, per SE Standard 000050 section 2. Stress that accountability flows downward but duties exist at every level; temporary and contractor workers carry the same employee duties. Then map the ladder to the KAZ organisation chart on slide 20.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the SE LMRA form 000480 (V2). Stress the escalation rule: any question that cannot be answered YES or N/A means DO NOT START — state the measures and report to the direct supervisor and the EHS specialist. The form is signed by team leader, workers and client representative. It verifies controls at the workface; it never replaces the RA, SJA or the permit.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 follows the Siemens Energy site alarm card. All names and numbers must be the KAZ-specific ones from the Emergency Contacts slide — the reference alarm card in the SIEMENS EHS DOC folder belongs to another (Turkish) project and its data must NOT be used. Verify that a current card is posted at every work area.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is taken from 'camp Model (21).pdf'. Walk the participants through the facilities: parking area on the left connected by the access road; the muster point is marked 'Master point'; smoking area; offices (SE, MoE &amp; BGC, MIAL engineers); MIAL and laborer restaurants and meeting rooms; workshop shed, containers and steel area; DG beside the toilets; gates at left, right and bottom. Confirm the current layout at site; the site plot plan is posted at the entrance, offices and assembly points (slide 18).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five levels with a site example (e.g. working at height: eliminate by pre-assembling at ground level; substitute; engineering = guardrails and platforms; administrative = permit and TBT; PPE = harness). Stress: PPE is the last line of defence, never the first choice.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flow every time energy isolation is discussed. Emphasise 'test before touch': prove the tester, prove dead, prove the tester again. A permit expiring never releases an isolation.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_switchyard_960x54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3600" y="279400"/>
            <a:ext cx="3403600" cy="11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52x76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5600"/>
            <a:ext cx="3200400" cy="9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3581400"/>
            <a:ext cx="12192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10363200" cy="60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3260"/>
            <a:ext cx="10363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742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36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203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Subcontractor: Al-Mial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31800"/>
          </a:xfrm>
          <a:prstGeom prst="rect">
            <a:avLst/>
          </a:prstGeom>
          <a:solidFill>
            <a:srgbClr val="12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791200"/>
            <a:ext cx="50800" cy="43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200" y="5892800"/>
            <a:ext cx="1003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75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DBE"/>
                </a:solidFill>
                <a:latin typeface="Calibri"/>
              </a:rPr>
              <a:t>KAZ-EHS-IND-001 · Rev. 06 · For review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375400"/>
            <a:ext cx="492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9AADBE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Session format  ·  Learning objectives  ·  Validity  · 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06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 of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Emergency instructions for the training room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تعليمات الطوارئ لقاعة التدريب — عند سماع الإنذار المستمر اتبع علامات الخروج إلى نقطة التجمع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90 minutes, including the knowledge check and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4434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54 — know them before you leave this room.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668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Six chapters — about 90 minutes, including the knowledge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76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5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7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EHS Policy, the governing Standard and who is accountable for what on this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6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3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35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7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76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800" y="4881033"/>
            <a:ext cx="40767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1800" y="5338233"/>
            <a:ext cx="4076700" cy="60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03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5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700" y="4881033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7700" y="5211233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At the end of this induction you will be able to: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EHS Policy commitments, and explain what they mean for your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43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6780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This induction is part of your site authorisation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11 questions — pass mark 80% (9 correct). Below 80% you are retrained before site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SE EHS Policy, the governing Standard, the Zero Harm target and who is accountable on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Zero Harm  ·  EHS Policy  ·  Standard 000050  ·  Leadership  ·  Everyone  · 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06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7 of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Derived from the KAZ Project EHS Plan (Section 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49"/>
            <a:ext cx="67310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20" name="Picture 19" descr="02_zero_harm_team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Principles · Behaviours · Essentials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صفر حوادث هدف ممكن التحقيق · لا نساوم على السلامة · نعتني ببعضنا البعض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7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20974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3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3876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41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6777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434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96799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144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312794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93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029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995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389318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8973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" y="418338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7992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47357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7012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76377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Siemens Energy EHS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Signed by the Executive Board · Version 4 · December 2024 · Annex 1 to SE Standard 000050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تحدّث ولا تمرّ بجانب الخطأ — من حقك إيقاف أي عمل أو سلوك غير آمن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Siemens Energy EHS Policy (V4, December 2024) is signed by the SE Executive Board and binds every SE unit, project and affiliated company — guided by our values: Caring, Agility, Respect and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Four principles drive our Zero Harm culture: Zero Harm is achievable · we do not compromise · we take care of each other · we develop locally and share globally.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identify, assess and manage hazards and risks; we prevent injury and ill health; we report and investigate all incidents to prevent reoccurrence.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Speak up — don't walk by: every employee is empowered to stop any unsafe behaviour or situation.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77647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protect people, the environment, energy and natural resources — and promote health and well-being.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096511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comply with legislation, regulations and standards, working in partnership with our customers on EHS — on this site the stricter of Iraqi law and SE requirements always 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Managers own EHS decisions in their areas; employees are trained, qualified and competent, responsible for their own safety and that of others — and everyone acts as a role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engage and communicate with employees, subcontractors, suppliers and stakeholders on EHS, and the policy is reviewed and continuously improved with full Executive Board support.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EHS Governance — SE Standard 000050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Where the rules of this induction come from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مصدر قواعد هذا الاندكشن: معيار سيمينز 000050 وأنظمة ISO 45001 / ISO 14001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This induction implements SE Standard 000050 (V3) 'EHS Principles and Core Responsibilities' — valid worldwide for all Siemens Energy units and affiliated companies.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Standard defines EHS roles and responsibilities and the governance of EHS, aligned with the Zero Harm Framework (Standard 000118).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EHS management systems across SE follow ISO 45001 (occupational health and safety) and ISO 14001 (environment) — our site system uses the same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work activities are risk-assessed before they start; hazards that threaten life or the environment must be eliminated before work begins or continues.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incidents are reported in the SE EHS reporting tool (Enablon) — Standard 000051 'EHS Reporting'.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Everyone must be trained, qualified and competent; awareness of the Zero Harm Principles, Behaviours and Essentials is mandatory.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plans are established, exercised and evaluated — drills are part of site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Consultation and participation: your feedback on safety is required, two-way and protected — speak to your supervisor or EHS.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Core Responsibilities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From the Executive Board to every worker — SE Standard 000050, Section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Executive Board — owns the EHS policy, monitors implementation and reviews EHS performance; EHS is integrated into strategic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Senior management (n-1) — implements EHS management systems, provides resources, ensures legal compliance and delegates EHS roles to competent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(n-2) — accountable for EHS processes and procedures, incident investigation and root cause analysis, and performance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Entity and Global Functions — apply the EHS Policy on projects: hazard identification, risk assessment, training, consultation and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EQS / EHS function — governance, targets, performance monitoring, competency and investigation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Country EHS Lead / Regional Hub — legal compliance, KPI reporting and best-practice sharing.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Employees (including temporary workers) — care for yourself and others, report hazards and near misses, follow risk assessments, comply with law and SE requirements, protect the environment.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 this site the chain becomes: Project Director → EHSMIP → Contractor EHS → Supervisors → You (see slide 21).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For managers, engineers and supervisors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13 of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How we work together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Project scope  ·  Site layout  ·  Base camp  ·  EHS organisation  ·  General rules  ·  Stop Work Authority  ·  Risk assessment  ·  Daily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06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16 of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KAZ Power Plant Upgrade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location before you start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524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5889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00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2037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Base Camp and Site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main office, the camp and the facilities you will use — layout on the next slide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**Main office block** — project management, EHS office, document control, meeting rooms and the site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362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8727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**Base camp** — accommodation, canteen, prayer room, laundry and recreation areas. Camp rules apply at all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2829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2194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**Camp and office safety:** keep escape routes and extinguishers clear; no cooking, no smoking and no unauthorised electrical appliances inside rooms or offices.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584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7949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**Utilities** — potable water points, generators and UPS areas, waste collection points and the sewage / grey-water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20515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14165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**Housekeeping** — bins are provided in every block; report damage, leaks, pests or a faulty air conditioner to the camp supervisor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7807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7172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**Transport** — only approved site buses and drivers; report to the camp marshal before boarding and never leave site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562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2927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**Emergency at the camp** — the camp assembly point is marked, and the clinic, first aiders and security gate are manned at all times.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073400"/>
            <a:ext cx="1016000" cy="736600"/>
          </a:xfrm>
          <a:prstGeom prst="rect">
            <a:avLst/>
          </a:prstGeom>
          <a:noFill/>
          <a:ln w="17780">
            <a:solidFill>
              <a:srgbClr val="9FB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5600" y="3175000"/>
            <a:ext cx="812800" cy="533400"/>
          </a:xfrm>
          <a:prstGeom prst="rect">
            <a:avLst/>
          </a:prstGeom>
          <a:solidFill>
            <a:srgbClr val="E7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400" y="39878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2263A"/>
                </a:solidFill>
                <a:latin typeface="Calibri"/>
              </a:rPr>
              <a:t>INSERT SITE PHOTOGRAPH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216400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Right-click the frame in PowerPoint
then choose Change Picture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6400" y="5156200"/>
            <a:ext cx="3251200" cy="55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0" y="5219700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Base camp and main office — insert site photograph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Camp and Offices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camp model — parking, gates, offices, restaurants, workshop and muster 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63</a:t>
            </a:r>
          </a:p>
        </p:txBody>
      </p:sp>
      <p:pic>
        <p:nvPicPr>
          <p:cNvPr id="30" name="Picture 29" descr="camp_model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0360152" cy="33215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5349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A88"/>
                </a:solidFill>
                <a:latin typeface="Calibri"/>
              </a:rPr>
              <a:t>Parking area · muster point (marked 'Master point' on the drawing) · smoking area · SE, MoE &amp; BGC and MIAL offices · MIAL and laborer restaurants · meeting rooms · workshop shed · containers · steel area · toilets · DG · gates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Several organisations share this site (MoE, BGC, Siemens Energy, contractors) — coordinate and look out for each other (SE 'Zebra site' principle).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from the moment you enter the gate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لا عمل بدون تصريح · لا عمل بدون إشراف · قيّم المخاطر (LMRA) قبل كل مهمة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45).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Working hours, competency and behaviour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06:00–15:00 (8 hours per day), six days per week; subcontractor hours must be approved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514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450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23 of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You are empowered — and expected — to use it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من حقك ومن واجبك إيقاف أي عمل خطر — ولن تُعاقب على ذلك أبداً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5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8588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54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41490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563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3928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Risk Assessment · SJA · LMRA · Management of Change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 The method and the form are on the next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Hierarchy of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26 of 63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1874519"/>
            <a:ext cx="10360152" cy="658368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ELIMINATE — إزالة الخطر كلياً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05356" y="2624327"/>
            <a:ext cx="8778240" cy="658368"/>
          </a:xfrm>
          <a:prstGeom prst="roundRect">
            <a:avLst/>
          </a:prstGeom>
          <a:solidFill>
            <a:srgbClr val="4C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SUBSTITUTE — الاستبدال بطريقة أو مادة أقل خطورة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82596" y="3374135"/>
            <a:ext cx="7223760" cy="658368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ENGINEERING CONTROLS — ضوابط هندسية (حواجز، عزل، تهوية)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59836" y="4123944"/>
            <a:ext cx="5669280" cy="658368"/>
          </a:xfrm>
          <a:prstGeom prst="round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· ADMINISTRATIVE CONTROLS — ضوابط إدارية (تصاريح، إجراءات، لافتات، تدريب)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37076" y="4873752"/>
            <a:ext cx="4114800" cy="658368"/>
          </a:xfrm>
          <a:prstGeom prst="roundRect">
            <a:avLst/>
          </a:prstGeom>
          <a:solidFill>
            <a:srgbClr val="B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· PPE — معدات الوقاية الشخصية (خط الدفاع الأخير)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20040" y="1874519"/>
            <a:ext cx="411480" cy="3657600"/>
          </a:xfrm>
          <a:prstGeom prst="downArrow">
            <a:avLst/>
          </a:prstGeom>
          <a:solidFill>
            <a:srgbClr val="6B7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8"/>
                </a:solidFill>
                <a:latin typeface="Calibri"/>
              </a:rPr>
              <a:t>Most effective ↑   —   الأقل فاعلية في الأسفل: لا تعتمد على معدات الوقاية وحدها ما أمكن ضبط الخطر من مصدره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LMRA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last check before touching the work — SE form 000480 (V2)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LMRA is the last check before touching the job — completed by the crew at the workface on SE form 000480 (V2), signed by team leader, workers and (where applicable) client representative.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rule: every question is answered YES or N/A. If you cannot answer YES or N/A — do not start: state the required measures and report to your direct supervisor and the EHS specialist.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Basics: client safety briefing received · an authorised, competent supervisor is assigned · minimum PPE plus task-specific PPE is appropriate and 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Height and electricity: fall controls and inspected ladders and scaffolding · safe approach distances respected · the five safety rules applied for de-energised work · operational earthing in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Equipment: certified lifting gear and operators · tools inspected · a suitable extinguisher at 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Area: the work zone is demarcated with signs and barriers · slip, trip, fall and open-gap hazards controlled · vehicle routes checked for pits, ducts and ground failure.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Look around: identify nearby activities that could interfere with your work, and record any other chemical, mechanical or physical hazards together with the measures taken.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LMRA verifies at the workface that every control is in place — it never replaces the RA, SJA or permit.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Start of shift · during work · end of shift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28 of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Permit to Work  ·  Lock-Out / Tag-Out  ·  Electrical rules  ·  Arc flash  ·  Live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06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29 of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System, roles and principles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78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7415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1558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30923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21" name="Picture 20" descr="03_ptw_loto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30 of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types and validity on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61711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584" y="2057400"/>
            <a:ext cx="368401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584" y="2451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755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584" y="3060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365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584" y="36703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3975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584" y="4279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584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584" y="4889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Control every energy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Energy Isolation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33 of 63</a:t>
            </a:r>
          </a:p>
        </p:txBody>
      </p:sp>
      <p:sp>
        <p:nvSpPr>
          <p:cNvPr id="30" name="Chevron 29"/>
          <p:cNvSpPr/>
          <p:nvPr/>
        </p:nvSpPr>
        <p:spPr>
          <a:xfrm>
            <a:off x="502920" y="2103120"/>
            <a:ext cx="2057400" cy="1371600"/>
          </a:xfrm>
          <a:prstGeom prst="chevron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NOTIFY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إخطار</a:t>
            </a:r>
          </a:p>
        </p:txBody>
      </p:sp>
      <p:sp>
        <p:nvSpPr>
          <p:cNvPr id="31" name="Chevron 30"/>
          <p:cNvSpPr/>
          <p:nvPr/>
        </p:nvSpPr>
        <p:spPr>
          <a:xfrm>
            <a:off x="2377439" y="2103120"/>
            <a:ext cx="2057400" cy="1371600"/>
          </a:xfrm>
          <a:prstGeom prst="chevron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ISOLATE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عزل</a:t>
            </a:r>
          </a:p>
        </p:txBody>
      </p:sp>
      <p:sp>
        <p:nvSpPr>
          <p:cNvPr id="32" name="Chevron 31"/>
          <p:cNvSpPr/>
          <p:nvPr/>
        </p:nvSpPr>
        <p:spPr>
          <a:xfrm>
            <a:off x="4251959" y="2103120"/>
            <a:ext cx="2057400" cy="1371600"/>
          </a:xfrm>
          <a:prstGeom prst="chevron">
            <a:avLst/>
          </a:prstGeom>
          <a:solidFill>
            <a:srgbClr val="00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LOCK &amp; TAG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قفل وتعليق</a:t>
            </a:r>
          </a:p>
        </p:txBody>
      </p:sp>
      <p:sp>
        <p:nvSpPr>
          <p:cNvPr id="33" name="Chevron 32"/>
          <p:cNvSpPr/>
          <p:nvPr/>
        </p:nvSpPr>
        <p:spPr>
          <a:xfrm>
            <a:off x="6126479" y="2103120"/>
            <a:ext cx="2057400" cy="1371600"/>
          </a:xfrm>
          <a:prstGeom prst="chevron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RELEASE STORED ENERGY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تفريغ الطاقة المختزنة</a:t>
            </a:r>
          </a:p>
        </p:txBody>
      </p:sp>
      <p:sp>
        <p:nvSpPr>
          <p:cNvPr id="34" name="Chevron 33"/>
          <p:cNvSpPr/>
          <p:nvPr/>
        </p:nvSpPr>
        <p:spPr>
          <a:xfrm>
            <a:off x="8001000" y="2103120"/>
            <a:ext cx="2057400" cy="1371600"/>
          </a:xfrm>
          <a:prstGeom prst="chevron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VERIFY ZERO ENERGY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التحقق من صفر الطاقة</a:t>
            </a:r>
          </a:p>
        </p:txBody>
      </p:sp>
      <p:sp>
        <p:nvSpPr>
          <p:cNvPr id="35" name="Chevron 34"/>
          <p:cNvSpPr/>
          <p:nvPr/>
        </p:nvSpPr>
        <p:spPr>
          <a:xfrm>
            <a:off x="9875520" y="2103120"/>
            <a:ext cx="2057400" cy="1371600"/>
          </a:xfrm>
          <a:prstGeom prst="chevron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 BEFORE TOUCH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اختبر قبل اللمس ثم اعمل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206240"/>
            <a:ext cx="10360152" cy="868680"/>
          </a:xfrm>
          <a:prstGeom prst="roundRect">
            <a:avLst/>
          </a:prstGeom>
          <a:solidFill>
            <a:srgbClr val="FDEFF1"/>
          </a:solidFill>
          <a:ln>
            <a:solidFill>
              <a:srgbClr val="B0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0303A"/>
                </a:solidFill>
                <a:latin typeface="Calibri"/>
              </a:rPr>
              <a:t>Only the AEP de-isolates · every worker applies his own personal lock · never remove another person's lock — dismissible offence</a:t>
            </a:r>
          </a:p>
          <a:p>
            <a:pPr algn="ctr"/>
            <a:r>
              <a:rPr sz="1200" b="1">
                <a:solidFill>
                  <a:srgbClr val="B0303A"/>
                </a:solidFill>
                <a:latin typeface="Calibri"/>
              </a:rPr>
              <a:t>فك العزل من صلاحية AEP فقط · كل عامل يضع قفله الشخصي · لا تُزل قفل غيرك أبداً — مخالفة تستوجب الفصل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golden rule of this project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القاعدة الذهبية: اعزل — أقفل — علّق — اختَبِر قبل اللمس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7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8089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155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091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32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9768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09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5445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86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1122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62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6799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7639"/>
            <a:ext cx="673100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24" name="Picture 23" descr="04_arc_flash_pp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approach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Boundaries must be approved for this site — do not use generic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304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057400"/>
            <a:ext cx="161137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8376" y="2057400"/>
            <a:ext cx="306222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304" y="24511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511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8376" y="24511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882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946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304" y="2946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946400"/>
            <a:ext cx="161137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376" y="2946400"/>
            <a:ext cx="306222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304" y="32512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32512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8376" y="32512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83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6830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7465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304" y="37465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37465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8376" y="37465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178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19558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35 of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Coordination with MoE Operations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730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0095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4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Work at height  ·  Lifting  ·  Excavation  ·  Confined space  ·  Hot work  ·  Tools  ·  Manual handling  ·  PPE  ·  Heat stress  ·  First 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06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37 of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Fall protection from 1.8 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حماية من السقوط من ارتفاع 1.8 متر · ربط دائم بحبل مزدوج بنقطة تثبيت معتمدة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91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627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367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304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21" name="Picture 20" descr="05_work_at_heigh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certified anchor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lift is planned and permitted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9.5 m/s (≈34 km/h) or in poor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23" name="Picture 22" descr="06_lifting_oper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Exclusion zone · taglines · banksman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required beyond 30 cm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23" name="Picture 22" descr="07_excav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barriers · access ladder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· gas test · attendant · rescue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2262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1627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031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8396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21" name="Picture 20" descr="08_confined_spac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tripod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41 of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Sparks and flames are controlled, permitted activities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3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8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2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7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1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6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three extinguishers (more where the activity requires) and a fire blanket at the work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23" name="Picture 22" descr="09_hot_work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right tool, inspected, used correctly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Plan the lift, not just the 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44 of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Mandatory minimum on site — additional PPE per task risk assessment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الحد الأدنى إلزامي دائماً: خوذة · نظارات · قفازات · حذاء سلامة · ملابس مقاومة للهب عالية الرؤية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326948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888" y="2057400"/>
            <a:ext cx="65857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888" y="2451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755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888" y="3060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365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888" y="3670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3975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888" y="4279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584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4888" y="4889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5130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1400" y="5194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4888" y="5194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5435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14400" y="19558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Our most predictable environmental hazard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اشرب الماء باستمرار · استرح في الظل · انتبه لأعراض الإجهاد الحراري وأبلغ فوراً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23" name="Picture 22" descr="10_heat_stress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46 of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nearest help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point; the site medic 07707313604 (day shift only); emergency line 911; and the route to Al-Zubair hospital (approx. 45 min).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2139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 Mental health matters — stress, fatigue and personal problems affect safety; support is available from your supervisor and the site medic.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Environment  ·  Waste  ·  Fire  ·  Emergency  ·  Incident reporting  ·  Security  ·  Driving  · 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06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48 of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Prevent pollution — it is part of every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54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891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030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93395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49 of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Segregate at source — every 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Segregate at source into the colour-coded containers: 🟨 yellow = spill kit · 🟥 red = hazardous waste · ⬛ black = general waste · 🟦 blue = paper &amp; cardboard · 🟩 green = glass / recyclable · 🟫 brown = organic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pic>
        <p:nvPicPr>
          <p:cNvPr id="21" name="Picture 20" descr="12_waste_managemen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Segregated bins · bunded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50 of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Classes, extinguishers and the PASS method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013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0378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01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238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1350"/>
            <a:ext cx="203200" cy="693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75000"/>
            <a:ext cx="652780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6367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5732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371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7736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489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2854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860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53797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pic>
        <p:nvPicPr>
          <p:cNvPr id="25" name="Picture 24" descr="13_fire_extinguisher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Aim at the base · keep an escape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51 of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Alarm · assembly · head count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الإنذار المستمر = إيقاف العمل والتوجه إلى نقطة التجمع وتسجيل الحضور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to your supervisor or the EHS Department at the assembly point for the head count; report any missing person immediately. The camp assembly point is inside the camp.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0448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39813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pic>
        <p:nvPicPr>
          <p:cNvPr id="23" name="Picture 22" descr="11_emergency_assembl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Assembly point · roll call · clear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52 of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the level — and who to tell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14041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057400"/>
            <a:ext cx="46167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057400"/>
            <a:ext cx="35803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45110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9512" y="245110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0215" y="245110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28829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1400" y="294640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512" y="294640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0215" y="294640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750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63855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512" y="363855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0215" y="363855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703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0703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400" y="413385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9512" y="413385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0215" y="413385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6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19558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53 of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Posted at every assembly point, office and camp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احفظ الأرقام: إسعاف 122 · دفاع مدني / إطفاء 115 · شرطة 104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544576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1159" y="2057400"/>
            <a:ext cx="440944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159" y="2451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911 (24/7)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755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1159" y="3060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07707313604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365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1159" y="36703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3975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1159" y="4279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584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1159" y="4889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Al-Zubair Hospital — approx. 45 min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54 of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Site Alarm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notification card you must know before you need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alarm card is your personal emergency notification card — posted in every work area, office, camp and vehicle; know it before you need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Inform in all cases: every accident and every severe injury is reported immediately through the site central emergency line (numbers on slide 54).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your message with where you are — location, area and nearest landmark — then what happened, how many are hurt and what dangers remain.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notification chain: site emergency line → your supervisor → control room → EHS; where needed, the Site Manager, Project Manager and client contacts are informed.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 your nearest first-aid station, AED and the site medic before your first day of work — not after the first casualty.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External emergencies: ambulance 122 · fire 115 · police 104 — always inform the site control room as well.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Serious injuries: the hospital route and any special treatment are organised by the EHS Department — never transport a casualty alone.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Names and numbers on the card must stay current — report any change to the EHS Department immediately.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55 of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1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3441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0517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29882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537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58902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55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8792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57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41694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59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596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66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50603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56 of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event makes the site safer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5196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57 of 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4845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Investigations classify errors, mistakes, violations and consequences — the purpose is learning and prevention, not blame.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Everyone is searched — everyone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850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50215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619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06984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4388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3753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pic>
        <p:nvPicPr>
          <p:cNvPr id="23" name="Picture 22" descr="14_security_journe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Access control · vehicle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58 of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road is our highest-risk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speed limit: 5 km/h. Obey traffic signs, signals and marshals.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59 of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Consequences are applied consistently — matrix aligned with OSHA &amp; NEBOSH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096" y="2057400"/>
            <a:ext cx="244043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528" y="2057400"/>
            <a:ext cx="223316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696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96" y="24511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7528" y="24511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696" y="24511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6924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7559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96" y="2755900"/>
            <a:ext cx="244043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528" y="2755900"/>
            <a:ext cx="2233168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696" y="27559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096" y="32512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528" y="32512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696" y="32512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9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4925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5560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3096" y="35560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528" y="35560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4696" y="35560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797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1400" y="38608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096" y="38608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528" y="38608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4696" y="38608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14400" y="41021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1400" y="41656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3096" y="41656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528" y="41656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4696" y="41656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406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400" y="4470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3096" y="44704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528" y="44704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4696" y="4470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4711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4400" y="19558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60 of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11 questions — pass mark 80% (9 correct)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173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5110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6219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485584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61 of 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966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203316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11. According to the Siemens Energy EHS Policy, what are the four principles that drive our Zero Harm culture?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Before you leave this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767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  <a:p>
            <a:pPr algn="r" rtl="1"/>
            <a:r>
              <a:rPr sz="1100">
                <a:solidFill>
                  <a:srgbClr val="333F4C"/>
                </a:solidFill>
                <a:latin typeface="Calibri"/>
              </a:rPr>
              <a:t>الإقرار: أشهد أنني حضرت اندكشن البيئة والصحة والسلامة للإدارة والموظفين في موقع KAZ وفهمت محتواه، وألتزم بالالتزام بقواعد السلامة وتصاريح العمل وصلاحية إيقاف العمل كشرط لدخولي هذا الموقع.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06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62 of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59000"/>
            <a:ext cx="10414000" cy="1115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2959"/>
            <a:ext cx="1041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255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1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308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5257800"/>
            <a:ext cx="1005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No task is so urgent that it cannot be done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516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93A8"/>
                </a:solidFill>
                <a:latin typeface="Calibri"/>
              </a:rPr>
              <a:t>KAZ-EHS-IND-001 · Rev. 06 · Restricted   ·   Subcontractor: Al-Mial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9840</Words>
  <Application>Microsoft Office PowerPoint</Application>
  <PresentationFormat>Widescreen</PresentationFormat>
  <Paragraphs>1115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Aljassem</dc:creator>
  <cp:keywords/>
  <dc:description>generated using python-pptx</dc:description>
  <cp:lastModifiedBy>Ahmed Aljassem</cp:lastModifiedBy>
  <cp:revision>1</cp:revision>
  <dcterms:created xsi:type="dcterms:W3CDTF">2013-01-27T09:14:16Z</dcterms:created>
  <dcterms:modified xsi:type="dcterms:W3CDTF">2026-09-16T19:40:54Z</dcterms:modified>
  <cp:category/>
</cp:coreProperties>
</file>