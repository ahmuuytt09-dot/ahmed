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2F3E"/>
                </a:solidFill>
                <a:latin typeface="Calibri"/>
              </a:defRPr>
            </a:pPr>
            <a:r>
              <a:t>SIEMENS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KAZ Power Plant Upgrade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CONFIDENTIAL</a:t>
            </a:r>
            <a:br/>
            <a:r>
              <a:t>سري - للإدارة فقط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Calibri"/>
              </a:defRPr>
            </a:pPr>
            <a:r>
              <a:t>تقرير مخالفات السلامة للعمليات الميدانية للمقاول الفرعي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2F3E"/>
                </a:solidFill>
                <a:latin typeface="Calibri"/>
              </a:defRPr>
            </a:pPr>
            <a:r>
              <a:t>Subcontractor EHS Non-Compliance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تقييم الالتزام والمخاطر التشغيلية بالموقع | Operational Compliance &amp; Risk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5029200" cy="201168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2F3E"/>
                </a:solidFill>
                <a:latin typeface="Calibri"/>
              </a:defRPr>
            </a:pPr>
            <a:r>
              <a:t>معلومات التقرير / Report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المرجع: SE-EHS-NC-2026-EXEC-AR</a:t>
            </a:r>
            <a:br/>
            <a:r>
              <a:t>Reference: SE-EHS-NC-2026-EXEC-AR</a:t>
            </a:r>
            <a:br/>
            <a:br/>
            <a:r>
              <a:t>التاريخ: سبتمبر 2026 | Date: September 2026</a:t>
            </a:r>
            <a:br/>
            <a:r>
              <a:t>إعداد: مدير السلامة - Siemens Energy</a:t>
            </a:r>
            <a:br/>
            <a:r>
              <a:t>Prepared by: EHS Manager - Siemens Energy</a:t>
            </a:r>
            <a:br/>
            <a:br/>
            <a:r>
              <a:t>المعايير: ISO 45001:2018, ISO 14001:2015, OSHA 29 CFR 1926</a:t>
            </a:r>
            <a:br/>
            <a:r>
              <a:t>Standards: Siemens Energy EHS Principles &amp; Life Saving Rules</a:t>
            </a:r>
            <a:br/>
            <a:br/>
            <a:r>
              <a:t>التصنيف: سري - للمراجعة الإدارية واتخاذ القرار</a:t>
            </a:r>
            <a:br/>
            <a:r>
              <a:t>Classification: Confidential - Management Review &amp; 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200400"/>
            <a:ext cx="57607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200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2F3E"/>
                </a:solidFill>
                <a:latin typeface="Calibri"/>
              </a:defRPr>
            </a:pPr>
            <a:r>
              <a:t>تعليمات التصميم / Design 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7472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التصميم: تنفيذي وعصري - خلفية بيضاء نقية #FFFFFF مع إبراز حرج أحمر/أصفر</a:t>
            </a:r>
            <a:br/>
            <a:r>
              <a:t>Design: Executive &amp; Modern - Pure White #FFFFFF with Red/Yellow warning</a:t>
            </a:r>
            <a:br/>
            <a:br/>
            <a:r>
              <a:t>هيكلة كل شريحة / Each Slide:</a:t>
            </a:r>
            <a:br/>
            <a:r>
              <a:t>1. عنوان المخالفة (عربي + إنجليزي)</a:t>
            </a:r>
            <a:br/>
            <a:r>
              <a:t>2. الوصف الفني - Technical Description</a:t>
            </a:r>
            <a:br/>
            <a:r>
              <a:t>3. تقييم المخاطر - Risk Assessment</a:t>
            </a:r>
            <a:br/>
            <a:r>
              <a:t>4. الإجراء التصحيحي - Corrective Action</a:t>
            </a:r>
            <a:br/>
            <a:r>
              <a:t>5. مساحة صور مخصصة - Photo Area [أدخل صورة المخالفة هنا]</a:t>
            </a:r>
            <a:br/>
            <a:br/>
            <a:r>
              <a:t>كيفية إضافة الصور / How to Add Photos:</a:t>
            </a:r>
            <a:br/>
            <a:r>
              <a:t>• اسحب الصورة وألصقها في الخانة اليمنى الكبيرة</a:t>
            </a:r>
            <a:br/>
            <a:r>
              <a:t>• Drag &amp; drop site photo into large right box</a:t>
            </a:r>
            <a:br/>
            <a:r>
              <a:t>• أضف صورتين: عامة + تفصيلية + بعد التصحيح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74552" cy="822960"/>
          </a:xfrm>
          <a:prstGeom prst="rect">
            <a:avLst/>
          </a:prstGeom>
          <a:solidFill>
            <a:srgbClr val="FFEBEB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ملاحظة تنفيذية / Executive Statement: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هذا التقرير يوثق مخالفات EHS حرجة وجوهرية. النتائج تشير إلى انهيار أساسي في نظام إدارة السلامة للمقاول الفرعي وتهديد مباشر لالتزام Zero Harm. مطلوب تدخل إداري فوري.</a:t>
            </a:r>
            <a:br/>
            <a:r>
              <a:t>This report documents critical, systemic EHS non-compliances. Findings indicate fundamental breakdown of subcontractor EHS management system and direct threat to Zero Harm commitment. Immediate intervention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مخالفات معدات الوقاية الشخصية - PPE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01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التزام كوادر المقاول بارتداء معدات الوقاية الأساسية: خوذة سلامة (Safety Helmet)، نظارات واقية (Safety Glasses)، أحذية سلامة (Safety Boots).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استخدام حزام الأمان (Full Body Harness) عند العمل على ارتفاعات تزيد عن 1.8 متر.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ارتداء جزئي أو غير صحيح لمعدات الوقاية - خوذة بدون حزام ذقن، سترة عاكسة غير مغلقة.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الإشراف متواجد في الموقع لكن لا يطبق إجراءات السلامة - فشل إشرافي واضح.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تقييم المخاطر / Risk Assessment -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إصابات الرأس، العين، السقوط من الارتفاع، والانزلاق. زيادة مؤشر LTIR. فشل في تطبيق القاعدة الذهبية لإنقاذ الحياة رقم 3 (PPE).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Risk of head injury, eye injury, fall from height, slip/trip. Direct violation of Life Saving Rule #3. Increases LTIFR/TRIR and indicates weak safety culture.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تصحيح فوري في الموقع + توعية (Toolbox Talk) موثقة بالصور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إصدار بطاقات ملاحظة سلامة (Observation Cards) وإشعار مخالفة رسمي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حملة التزام يومية بمعدات الوقاية - فحص بداية المناوبة + فحص عشوائي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ربط الالتزام بمؤشرات الأداء والدفعات المالية للمقاول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تطبيق سياسة 3 مخالفات = استبعاد العامل والمشرف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مخالفة عدم ارتداء الخوذة / النظارات / حزام الأمان</a:t>
            </a:r>
            <a:br/>
            <a:r>
              <a:t>Fig 01.1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01 | SE-EHS-NC-2026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العمل بدون تصريح عمل - Working Without PTW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02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EBEB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المباشرة بأنشطة عالية الخطورة (أعمال ساخنة Hot Work، أماكن مغلقة Confined Space، أعمال كهربائية) دون إصدار أو تفعيل تصريح العمل (Permit to Work).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مراجعة تقييم المخاطر للمهمة (Task Risk Assessment) وعدم التحقق من عزل الطاقة (Energy Isolation).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سجل تصاريح العمل غير محدث، والتصاريح غير معروضة في موقع العمل كما هو مطلوب.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مخالفة مباشرة لإجراءات Siemens Energy وتعليمات المشروع - فقدان كامل لحاجز التحكم الأساسي.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تقييم المخاطر / Risk Assessment - 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الوفاة، انفجار/حريق، إطلاق طاقة خطرة غير متحكم بها، وتعارض العمليات المتزامنة (SIMOPS). يعتبر مؤشر رئيسي لحادث جسيم.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Potential fatality, fire/explosion, uncontrolled release of hazardous energy, SIMOPS conflict. Total loss of primary control barrier - leading indicator of major accident. Breach of ISO 45001 Cl 8.1.2.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أمر إيقاف عمل فوري (STOP WORK) لجميع الأنشطة بدون PTW حتى التحقق من الالتزام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إعادة تدريب إلزامي لجميع المشرفين على نظام PTW خلال 24 ساعة مع اختبار كفاءة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إصدار تقرير عدم مطابقة رسمي (NCR) وخطاب تحذير تعاقدي مستوى 1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تدقيق يومي لنظام PTW لمدة 14 يوم من قبل قسم EHS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تطبيق مبدأ المساءلة - استبعاد المشرفين غير الملتزمين عند التكرار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نشاط بدون تصريح عمل معروض / سجل التصاريح فارغ</a:t>
            </a:r>
            <a:br/>
            <a:r>
              <a:t>Fig 02.1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02 | SE-EHS-NC-2026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عدم توفير الحواجز الصلبة لأعمال الحفر - Hard Barricades for Excavations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03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EBEB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ترك مناطق الحفر بعمق أكثر من 1.2 متر بدون حواجز صلبة (Hard Barricades) - استخدام شريط تحذيري فقط وهو ممنوع للحفر العميق.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توفير حماية الحافة، عدم وجود سلم آمن للدخول/الخروج، وتكديس ناتج الحفر على بعد أقل من 1 متر من الحافة.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وجود علامات عاكسة أو إضاءة ليلية - خطر السقوط في الظلام.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مخالفة لمعايير OSHA 1926 Subpart P ومعيار Siemens SE-GEN-EHS-007 الخاص بأعمال الحفر.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تقييم المخاطر / Risk Assessment - 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السقوط المميت داخل الحفرة، انهيار التربة والانطمار، سقوط الأشخاص والمركبات. نشاط عالي الخطورة مصنف كخطر حادث جسيم (MAH).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High potential for fatal fall into excavation, cave-in engulfment, personnel/vehicle fall. Excavation is High-Risk activity with fatality history. Regulatory prohibition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توفير حواجز صلبة فورية - أنابيب سقالات / حواجز خرسانية حول جميع الحفر المفتوحة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توفير سلالم آمنة كل 7.5 متر وإبعاد ناتج الحفر 1.5 متر على الأقل مع ألواح حماية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إعادة التحقق من تصريح الحفر مع فحص جيوتقني وفحص الشخص المختص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تركيب علامات عاكسة وإضاءة شمسية وامضة للساعات الليلية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تقديم قائمة فحص يومية من الشخص المختص قبل بدء العمل - موقعة ومحققة من EHS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حفرة بدون حاجز صلب - شريط فقط / تكديس ناتج حفر قريب من الحافة</a:t>
            </a:r>
            <a:br/>
            <a:r>
              <a:t>Fig 03.1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03 | SE-EHS-NC-2026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مخالفات العلامات والسرعة داخل المحطة - Parking &amp; Speed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04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الالتزام باللوحات الإرشادية - لوحات تحديد السرعة مفقودة أو تالفة، عدم وجود علامات أماكن الركن المخصصة.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تجاوز السرعة المحددة داخل المحطة (15 كم/ساعة) - تم رصد سرعة 30 كم/ساعة بجهاز قياس السرعة.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الركن في غير الأماكن المخصصة - إعاقة مسارات الطوارئ والمشاة.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وجود رجل توجيه (Flagman) في التقاطعات الخطرة والنقاط العمياء - واجهة مركبات-مشاة غير مُدارة.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تقييم المخاطر / Risk Assessment -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تصادم مركبة-مشاة، تلف معدات، ووفاة محتملة. حوادث المركبات من أهم 3 أسباب وفيات في الإنشاءات. إعاقة وصول مركبات الطوارئ.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High risk of vehicle-pedestrian collision, equipment damage, fatality. Vehicle incidents are top 3 fatality causes in construction. Emergency vehicle access may be impeded. Liability increases.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إعادة تركيب جميع علامات المرور حسب خطة إدارة المرور المعتمدة - بمواصفات عاكسة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إنشاء مسارات مشاة مخصصة بفصل صلب - حواجز Jersey + طلاء أخضر للممرات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نشر رجال توجيه مدربين وتطبيق مراقبة السرعة - فحص بالرادار مرتين يومياً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حملة توعية مرورية وإعادة تعريف سلامة لجميع السائقين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فحص يومي مشترك بين EHS والخدمات اللوجستية لضوابط المرور - قائمة فحص موقعة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لوحة سرعة مفقودة / ركن عشوائي / عدم وجود فصل مسار مشاة</a:t>
            </a:r>
            <a:br/>
            <a:r>
              <a:t>Fig 04.1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04 | SE-EHS-NC-2026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سوء إدارة النفايات وفصلها - Waste Management &amp;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05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A5A0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تراكم النفايات الموقعية وعدم فرز الحاويات حسب النوع - نفايات خطرة، خشب، بلاستيك، أنقاض مختلطة في حاوية واحدة.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وجود ملصقات واضحة أو ترميز لوني أو مرجع MSDS لحاويات النفايات الخطرة.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رمي خرق ملوثة بالزيوت وفلاتر في النفايات العامة - مخالفة بيئية وخطر حريق.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مخالفة لمعيار ISO 14001:2015 البند 8.1 وخطة إدارة النفايات بالمشروع ولوائح حماية البيئة المحلية.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5A00"/>
                </a:solidFill>
                <a:latin typeface="Calibri"/>
              </a:defRPr>
            </a:pPr>
            <a:r>
              <a:t>2. تقييم المخاطر / Risk Assessment -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تلوث التربة والمياه الجوفية، خطر حريق من خلط نفايات غير متوافقة، غرامة تنظيمية، ضرر لسمعة Siemens Energy، وفشل مؤشر الاستدامة.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Soil/groundwater pollution, fire hazard from incompatible waste mixing, regulatory fine, reputational damage, sustainability KPI failure. Cross-contamination prevents recycling.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توفير حاويات نفايات مرمزة لونياً وملصقة حسب معيار SE: أسود-عامة، أخضر-قابلة للتدوير، أحمر-خطرة مع ملصقات HAZCHEM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تنظيف وفرز صحيح للنفايات المختلطة الحالية بواسطة فريق مختص تحت إشراف EHS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تدريب على إدارة النفايات - التركيز على التعامل مع النفايات الخطرة ونظام البيان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تعيين مسؤول نفايات من المقاول - مسؤول عن النظافة اليومية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تدقيق نفايات أسبوعي - تتبع الكميات وبيانات التخلص - تقرير شهري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حاوية نفايات مختلطة - خطرة + عامة / خرق زيتية في النفايات العامة</a:t>
            </a:r>
            <a:br/>
            <a:r>
              <a:t>Fig 05.1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05 | SE-EHS-NC-2026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استخدام معدات وأدوات غير آمنة - Unsafe Workshop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06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EBEB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استخدام معدات ورشة تالفة أو غير مفحوصة - كوابل كهربائية مكشوفة، أجهزة بدون أغطية حماية (Guard) مثل جلخ/صاروخية.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وجود سجل فحص وصيانة وقائية - قوائم الفحص اليومي مزورة أو غير معبأة - نفس التوقيع لمدة 7 أيام.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عدم توفير صواني منع التسريب (Drip Trays) - تلوث تربة تحت منطقة وقوف المعدات.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مخالفة لمعايير سلامة المعدات PUWER ومعيار معدات Siemens Energy ومتطلبات حماية البيئة.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تقييم المخاطر / Risk Assessment - 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خطر صعقة كهربائية، حريق/انفجار، انزلاق، تلوث تربة، فشل معدات يؤدي لفقدان السيطرة. انهيار نظام إدارة الصيانة.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Electric shock, fire/explosion, slip hazard, soil pollution, equipment failure loss of control. Breakdown of maintenance management system. Breach of ISO 14001 and PUWER - major incident potential.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إيقاف فوري للمعدات المتسربة/التالفة - وضع بطاقة 'ممنوع الاستخدام - حجز EHS' وسحب المفاتيح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حفر التربة الملوثة والتخلص منها كنفايات خطرة - تنظيف المنطقة بمواد ماصة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تقديم سجل صيانة كامل وشهادات فحص طرف ثالث خلال 48 ساعة - بدون شهادة، ممنوع التشغيل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تطبيق قائمة فحص يومية إلزامية - محققة من EHS/الميكانيكا مع صورة تثبت عدم وجود تسريب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توفير صواني منع تسريب ومجموعات مكافحة انسكاب في جميع مناطق وقوف المعدات - تغطية 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كابل مكشوف / جهاز بدون غطاء حماية Guard / تسريب زيت فعال</a:t>
            </a:r>
            <a:br/>
            <a:r>
              <a:t>Fig 06.1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06 | SE-EHS-NC-2026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عدم التنسيق والعمل بدون توجيه قسم EHS - Uncoordinated Work &amp; Lack of Induction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Observation # 07 | تقييم الالتزام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solidFill>
            <a:srgbClr val="FFEBEB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0613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6583680" cy="27432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الوصف الفني / Technical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6583680" cy="173736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25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إدخال عمالة للموقع دون اجتياز تعريف السلامة (EHS Induction) - تم العثور على 8-12 شخص يعملون بدون كارت تعريف.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بدء الأعمال دون التنسيق المسبق مع قسم EHS - عدم وجود سجل دخول، سجل التعريف غير مكتمل وغير مطابق لعدد الأفراد في البوابة.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محاضرات صندوق الأدوات (Toolbox Talks) غير منفذة أو بدون توثيق / كشف حضور / صلة بالمهمة.</a:t>
            </a:r>
          </a:p>
          <a:p>
            <a:pPr>
              <a:spcAft>
                <a:spcPts val="250"/>
              </a:spcAft>
              <a:defRPr sz="900">
                <a:solidFill>
                  <a:srgbClr val="212121"/>
                </a:solidFill>
                <a:latin typeface="Calibri"/>
              </a:defRPr>
            </a:pPr>
            <a:r>
              <a:t>• إغلاق تقارير عدم مطابقة سابقة بدون دليل أو تحقق - تزوير إغلاق - تجاهل متعمد لنظام إدارة EHS بالمشروع.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6583680" cy="274320"/>
          </a:xfrm>
          <a:prstGeom prst="rect">
            <a:avLst/>
          </a:prstGeom>
          <a:solidFill>
            <a:srgbClr val="FFEBEB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2. تقييم المخاطر / Risk Assessment - 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عمال غير مدركين لمخاطر الموقع، نقاط التجمع للطوارئ، إجراءات النداء، وقواعد إنقاذ الحياة. احتمال عالي لأفعال غير آمنة وتأخر استجابة طوارئ وتوقف مشروع من السلطات.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Workers unaware of site-specific hazards, emergency assembly points, muster procedures, life-saving rules. High probability of unsafe acts, delayed emergency response, regulatory non-compliance leading to project stoppage. Breach of ISO 45001 Cl 7.2/7.3.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65836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2F3E"/>
                </a:solidFill>
                <a:latin typeface="Calibri"/>
              </a:defRPr>
            </a:pPr>
            <a:r>
              <a:t>3. الإجراء التصحيحي / Corrective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6583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1. إخراج فوري لجميع الأفراد غير الحاصلين على تعريف السلامة من الموقع - بمرافقة الأمن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2. تطبيق فحص 100% في البوابة - تحقق مشترك أمن + EHS - بدون كارت، ممنوع الدخول - من المناوبة القادمة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3. تقديم قائمة كاملة بالقوى العاملة مقابل سجلات التعريف خلال 12 ساعة مع خطة سد الفجوة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4. إدخال نظام تتبع تعريف ببصمة/QR مرتبط بالتحكم في الدخول + سجل توجيهات EHS يومي موقع من مدير المقاول</a:t>
            </a:r>
          </a:p>
          <a:p>
            <a:pPr>
              <a:spcAft>
                <a:spcPts val="20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t>5. تحذير رسمي وتحميل تكلفة إعادة جلسات التعريف + عقد اجتماع قيادة EHS طارئ مع جميع المراقبين - التزام موثق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05840"/>
            <a:ext cx="475488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📷 مساحة الصور / Photo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754880" cy="3657600"/>
          </a:xfrm>
          <a:prstGeom prst="rect">
            <a:avLst/>
          </a:prstGeom>
          <a:solidFill>
            <a:srgbClr val="F5F5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Calibri"/>
              </a:defRPr>
            </a:pPr>
            <a:r>
              <a:t>[أدخل صورة المخالفة هنا]</a:t>
            </a:r>
            <a:br/>
            <a:r>
              <a:t>[Insert Violation Photo Here]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16161"/>
                </a:solidFill>
                <a:latin typeface="Calibri"/>
              </a:defRPr>
            </a:pPr>
            <a:r>
              <a:t>عمال بدون كارت تعريف / سجل بوابة غير مطابق / سجل TBT فارغ</a:t>
            </a:r>
            <a:br/>
            <a:r>
              <a:t>Fig 07.1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⬆️ اسحب الصورة وألصقها هنا</a:t>
            </a:r>
            <a:br/>
            <a:r>
              <a:t>Drag &amp; Drop Your Site Photo Here</a:t>
            </a:r>
            <a:br/>
            <a:br/>
            <a:r>
              <a:t>Add: Date, Time, Location,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16161"/>
                </a:solidFill>
                <a:latin typeface="Calibri"/>
              </a:defRPr>
            </a:pPr>
            <a:r>
              <a:t>Photo Details: Date: ___/___/___  Time: ___:___  Location: ___________</a:t>
            </a:r>
            <a:br/>
            <a:r>
              <a:t>تفاصيل الصورة: التاريخ، الوقت، الموقع، المصور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669280"/>
            <a:ext cx="2286000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16161"/>
                </a:solidFill>
                <a:latin typeface="Calibri"/>
              </a:defRPr>
            </a:pPr>
            <a:r>
              <a:t>[صورة إضافية 2]</a:t>
            </a:r>
            <a:br/>
            <a:r>
              <a:t>[Additional Photo 2]</a:t>
            </a:r>
            <a:br/>
            <a:r>
              <a:t>Fig X.2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669280"/>
            <a:ext cx="22860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669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2F3E"/>
                </a:solidFill>
                <a:latin typeface="Calibri"/>
              </a:defRPr>
            </a:pPr>
            <a:r>
              <a:t>[صورة بعد التصحيح]</a:t>
            </a:r>
            <a:br/>
            <a:r>
              <a:t>[After Correction]</a:t>
            </a:r>
            <a:br/>
            <a:r>
              <a:t>Fig X.3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16161"/>
                </a:solidFill>
                <a:latin typeface="Calibri"/>
              </a:defRPr>
            </a:pPr>
            <a:r>
              <a:t>Siemens Energy | KAZ Project | EHS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16161"/>
                </a:solidFill>
                <a:latin typeface="Calibri"/>
              </a:defRPr>
            </a:pPr>
            <a:r>
              <a:t>Slide 07 | SE-EHS-NC-2026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Calibri"/>
              </a:defRPr>
            </a:pPr>
            <a:r>
              <a:t>التوصيات الخصامية وخطة التصحيح / Final Recommendations &amp; Corrective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49039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🔴 فوري (0-24h) / IMMEDIATE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• STOP WORK all critical violations</a:t>
            </a:r>
            <a:br/>
            <a:r>
              <a:t>• Secure areas - hard barricade + fire watch</a:t>
            </a:r>
            <a:br/>
            <a:r>
              <a:t>• Remove non-inducted personnel - 100% gate</a:t>
            </a:r>
            <a:br/>
            <a:r>
              <a:t>• Ground leaking equipment - Tag Out</a:t>
            </a:r>
            <a:br/>
            <a:r>
              <a:t>• Issue NCR Level 1 &amp; 2 + warning letter</a:t>
            </a:r>
            <a:br/>
            <a:r>
              <a:t>• Emergency meeting - MD within 24h</a:t>
            </a:r>
            <a:br/>
            <a:br/>
            <a:r>
              <a:t>[Photo: Secured area after stop work]</a:t>
            </a:r>
            <a:br/>
            <a:r>
              <a:t>[مكان صورة: منطقة مؤمنة]</a:t>
            </a:r>
            <a:br/>
            <a:br/>
            <a:r>
              <a:t>DECISION: Approve Stop-Work Authority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14400"/>
            <a:ext cx="3749039" cy="3657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🟡 قصير (1-7 أيام) / SHORT-TERM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• PTW Audit + Re-Training - 80% pass</a:t>
            </a:r>
            <a:br/>
            <a:r>
              <a:t>• Diesel storage - 110% bund + extinguishers</a:t>
            </a:r>
            <a:br/>
            <a:r>
              <a:t>• Traffic signs - retro-reflective + flagmen</a:t>
            </a:r>
            <a:br/>
            <a:r>
              <a:t>• Waste - color-coded skips + focal point</a:t>
            </a:r>
            <a:br/>
            <a:r>
              <a:t>• Excavation - hard barricades + ladders</a:t>
            </a:r>
            <a:br/>
            <a:r>
              <a:t>• PPE Campaign + BBS Launch</a:t>
            </a:r>
            <a:br/>
            <a:r>
              <a:t>• EHS Directives Log - daily sign-off</a:t>
            </a:r>
            <a:br/>
            <a:br/>
            <a:r>
              <a:t>[Photo: Compliant state after correction]</a:t>
            </a:r>
            <a:br/>
            <a:r>
              <a:t>[مكان صورة: حالة مطابقة]</a:t>
            </a:r>
            <a:br/>
            <a:br/>
            <a:r>
              <a:t>DECISION: Approve $15k cost - back-charge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914400"/>
            <a:ext cx="3749039" cy="365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914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🟢 استراتيجي (7-30 يوم) / STRATEGIC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• Penalty matrix linked to KPIs (TRIR, NCR)</a:t>
            </a:r>
            <a:br/>
            <a:r>
              <a:t>• Replace non-performing supervisors</a:t>
            </a:r>
            <a:br/>
            <a:r>
              <a:t>• QR/Biometric induction + digital PTW app</a:t>
            </a:r>
            <a:br/>
            <a:r>
              <a:t>• Weekly dashboard Red/Amber/Green</a:t>
            </a:r>
            <a:br/>
            <a:r>
              <a:t>• 3rd party EHS audit ISO 45001/14001</a:t>
            </a:r>
            <a:br/>
            <a:r>
              <a:t>• Re-sign Life Saving Rules - Townhall</a:t>
            </a:r>
            <a:br/>
            <a:r>
              <a:t>• Demobilization / replacement contingency</a:t>
            </a:r>
            <a:br/>
            <a:br/>
            <a:r>
              <a:t>[Photo: Dashboard / Training]</a:t>
            </a:r>
            <a:br/>
            <a:r>
              <a:t>[مكان صورة: لوحة مؤشرات / تدريب]</a:t>
            </a:r>
            <a:br/>
            <a:br/>
            <a:r>
              <a:t>DECISION: Authorize partial termination if recur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F9F9FA"/>
          </a:solidFill>
          <a:ln w="25400">
            <a:solidFill>
              <a:srgbClr val="0E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2F3E"/>
                </a:solidFill>
                <a:latin typeface="Calibri"/>
              </a:defRPr>
            </a:pPr>
            <a:r>
              <a:t>✅ مصفوفة القرارات / Management Decision Matrix - Required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49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1. Approve Stop-Work Authority [ ] Yes [ ] No | الموافقة على إيقاف العمل الفوري [ ] نعم [ ] لا</a:t>
            </a:r>
            <a:br/>
            <a:r>
              <a:t>2. Authorize Warning &amp; Penalty [ ] Yes [ ] No | تفويض التحذير والغرامات [ ] نعم [ ] لا</a:t>
            </a:r>
            <a:br/>
            <a:r>
              <a:t>3. Mandate Top Mgmt Presence in 48h [ ] Yes [ ] No | إلزام حضور الإدارة العليا خلال 48س [ ] نعم [ ] لا</a:t>
            </a:r>
            <a:br/>
            <a:r>
              <a:t>4. Approve Budget - Back-charge [ ] Yes [ ] No | الموافقة على الميزانية - تحميل على المقاول [ ] نعم [ ] لا</a:t>
            </a:r>
            <a:br/>
            <a:r>
              <a:t>5. Endorse Zero Tolerance 3 Strikes [ ] Yes [ ] No | اعتماد عدم التسامح 3 مخالفات = استبعاد [ ] نعم [ ] لا</a:t>
            </a:r>
            <a:br/>
            <a:br/>
            <a:r>
              <a:t>Signature: _________________ Project Director Date: _______ | Signature: _________________ Construction Manager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